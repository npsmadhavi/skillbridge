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5"/>
    <p:sldMasterId id="2147483780" r:id="rId6"/>
    <p:sldMasterId id="2147483792" r:id="rId7"/>
    <p:sldMasterId id="2147483804" r:id="rId8"/>
    <p:sldMasterId id="2147483818" r:id="rId9"/>
    <p:sldMasterId id="2147483831" r:id="rId10"/>
    <p:sldMasterId id="2147483844" r:id="rId11"/>
  </p:sldMasterIdLst>
  <p:notesMasterIdLst>
    <p:notesMasterId r:id="rId38"/>
  </p:notesMasterIdLst>
  <p:handoutMasterIdLst>
    <p:handoutMasterId r:id="rId39"/>
  </p:handoutMasterIdLst>
  <p:sldIdLst>
    <p:sldId id="288" r:id="rId12"/>
    <p:sldId id="337" r:id="rId13"/>
    <p:sldId id="390" r:id="rId14"/>
    <p:sldId id="389" r:id="rId15"/>
    <p:sldId id="403" r:id="rId16"/>
    <p:sldId id="391" r:id="rId17"/>
    <p:sldId id="392" r:id="rId18"/>
    <p:sldId id="363" r:id="rId19"/>
    <p:sldId id="364" r:id="rId20"/>
    <p:sldId id="385" r:id="rId21"/>
    <p:sldId id="380" r:id="rId22"/>
    <p:sldId id="393" r:id="rId23"/>
    <p:sldId id="402" r:id="rId24"/>
    <p:sldId id="404" r:id="rId25"/>
    <p:sldId id="384" r:id="rId26"/>
    <p:sldId id="397" r:id="rId27"/>
    <p:sldId id="395" r:id="rId28"/>
    <p:sldId id="383" r:id="rId29"/>
    <p:sldId id="381" r:id="rId30"/>
    <p:sldId id="358" r:id="rId31"/>
    <p:sldId id="394" r:id="rId32"/>
    <p:sldId id="379" r:id="rId33"/>
    <p:sldId id="398" r:id="rId34"/>
    <p:sldId id="387" r:id="rId35"/>
    <p:sldId id="378" r:id="rId36"/>
    <p:sldId id="342" r:id="rId3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965"/>
    <a:srgbClr val="13A0C1"/>
    <a:srgbClr val="0083A9"/>
    <a:srgbClr val="A0B6DF"/>
    <a:srgbClr val="FFDCAA"/>
    <a:srgbClr val="FDB134"/>
    <a:srgbClr val="FF9900"/>
    <a:srgbClr val="7596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81" autoAdjust="0"/>
    <p:restoredTop sz="94624" autoAdjust="0"/>
  </p:normalViewPr>
  <p:slideViewPr>
    <p:cSldViewPr snapToGrid="0">
      <p:cViewPr varScale="1">
        <p:scale>
          <a:sx n="65" d="100"/>
          <a:sy n="65" d="100"/>
        </p:scale>
        <p:origin x="-1363" y="-77"/>
      </p:cViewPr>
      <p:guideLst>
        <p:guide orient="horz" pos="3900"/>
        <p:guide orient="horz" pos="4163"/>
        <p:guide orient="horz" pos="358"/>
        <p:guide orient="horz" pos="567"/>
        <p:guide orient="horz" pos="824"/>
        <p:guide orient="horz" pos="1281"/>
        <p:guide pos="264"/>
        <p:guide pos="5501"/>
        <p:guide pos="448"/>
        <p:guide pos="2879"/>
        <p:guide pos="38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5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Master" Target="slideMasters/slideMaster7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5D7A80CF-AC61-42D4-972D-D464D03E7D2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1701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DBC650FC-E833-4816-BD9A-E25D0866ADD7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61475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9F7F804-940B-4D26-8D5E-09AE15BEA680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650FC-E833-4816-BD9A-E25D0866ADD7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0068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C:\Users\zjl\Desktop\Horizon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763" cy="220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5" descr="C:\Users\zjl\Documents\NatSteel logo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5063" y="158750"/>
            <a:ext cx="2762250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08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15925" y="2871788"/>
            <a:ext cx="8332788" cy="530225"/>
          </a:xfrm>
        </p:spPr>
        <p:txBody>
          <a:bodyPr/>
          <a:lstStyle>
            <a:lvl1pPr>
              <a:defRPr sz="3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08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23863" y="2535238"/>
            <a:ext cx="8332787" cy="315912"/>
          </a:xfrm>
        </p:spPr>
        <p:txBody>
          <a:bodyPr anchor="b"/>
          <a:lstStyle>
            <a:lvl1pPr marL="0" indent="0">
              <a:buFontTx/>
              <a:buNone/>
              <a:defRPr sz="1900" baseline="0">
                <a:solidFill>
                  <a:srgbClr val="003965"/>
                </a:solidFill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197725" y="6475413"/>
            <a:ext cx="487363" cy="122237"/>
          </a:xfrm>
        </p:spPr>
        <p:txBody>
          <a:bodyPr wrap="none"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5934075" y="6475413"/>
            <a:ext cx="328613" cy="122237"/>
          </a:xfrm>
        </p:spPr>
        <p:txBody>
          <a:bodyPr wrap="none"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20125" y="6475413"/>
            <a:ext cx="123825" cy="1222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B50EA4-2FB6-4C2E-97EE-80C2962AC34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AE2DAD-A299-4E1D-82A2-5F0B3E0C04D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2AD49D-9A2D-4DF2-A1C8-F942B502659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9100" y="1308100"/>
            <a:ext cx="4079875" cy="4883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308100"/>
            <a:ext cx="4081463" cy="4883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4ED8AD-0444-4506-AB78-9CFE6558C79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2ECD00-2814-45B1-938C-F8665FCEF8A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4AA08C-A0E3-4532-8574-E8ECCDC01CE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019446-2C53-4081-A58B-859C6E2AC6B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BCDA12-49C1-4263-B03D-5F3059A2EDF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D038B1-E8FC-46D9-92EC-4110FD739D2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E63307-0103-472C-B1CD-B534083A100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0038" y="298450"/>
            <a:ext cx="2082800" cy="5892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1638" y="298450"/>
            <a:ext cx="6096000" cy="5892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1ECEA-B8FD-41AD-A633-2E039670EF8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638" y="298450"/>
            <a:ext cx="7618412" cy="3508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19100" y="1308100"/>
            <a:ext cx="8313738" cy="4883150"/>
          </a:xfrm>
        </p:spPr>
        <p:txBody>
          <a:bodyPr/>
          <a:lstStyle/>
          <a:p>
            <a:pPr lvl="0"/>
            <a:endParaRPr lang="en-SG" noProof="0" dirty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8A0A76-3812-4A94-8D8B-3B4B6C8F404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8ADD-C618-4DB0-B2FF-11DD7E53FD7F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904E-7D1E-47F5-BAA1-2C2A0EC22209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8ADD-C618-4DB0-B2FF-11DD7E53FD7F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904E-7D1E-47F5-BAA1-2C2A0EC22209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77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8ADD-C618-4DB0-B2FF-11DD7E53FD7F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904E-7D1E-47F5-BAA1-2C2A0EC22209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9098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8ADD-C618-4DB0-B2FF-11DD7E53FD7F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904E-7D1E-47F5-BAA1-2C2A0EC22209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8077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8ADD-C618-4DB0-B2FF-11DD7E53FD7F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904E-7D1E-47F5-BAA1-2C2A0EC22209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435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8ADD-C618-4DB0-B2FF-11DD7E53FD7F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904E-7D1E-47F5-BAA1-2C2A0EC22209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6823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8ADD-C618-4DB0-B2FF-11DD7E53FD7F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904E-7D1E-47F5-BAA1-2C2A0EC22209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3216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8ADD-C618-4DB0-B2FF-11DD7E53FD7F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904E-7D1E-47F5-BAA1-2C2A0EC22209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97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8ADD-C618-4DB0-B2FF-11DD7E53FD7F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904E-7D1E-47F5-BAA1-2C2A0EC22209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946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8ADD-C618-4DB0-B2FF-11DD7E53FD7F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904E-7D1E-47F5-BAA1-2C2A0EC22209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0109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8ADD-C618-4DB0-B2FF-11DD7E53FD7F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904E-7D1E-47F5-BAA1-2C2A0EC22209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9818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B289-E98A-46C6-8F34-58FFEC66B512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FFD99-437E-406D-A7C5-0FB53CD97BB2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7836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B289-E98A-46C6-8F34-58FFEC66B512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FFD99-437E-406D-A7C5-0FB53CD97BB2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6963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B289-E98A-46C6-8F34-58FFEC66B512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FFD99-437E-406D-A7C5-0FB53CD97BB2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1122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B289-E98A-46C6-8F34-58FFEC66B512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FFD99-437E-406D-A7C5-0FB53CD97BB2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640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B289-E98A-46C6-8F34-58FFEC66B512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FFD99-437E-406D-A7C5-0FB53CD97BB2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2773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B289-E98A-46C6-8F34-58FFEC66B512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FFD99-437E-406D-A7C5-0FB53CD97BB2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7602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B289-E98A-46C6-8F34-58FFEC66B512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FFD99-437E-406D-A7C5-0FB53CD97BB2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3367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B289-E98A-46C6-8F34-58FFEC66B512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FFD99-437E-406D-A7C5-0FB53CD97BB2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7316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B289-E98A-46C6-8F34-58FFEC66B512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FFD99-437E-406D-A7C5-0FB53CD97BB2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9742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B289-E98A-46C6-8F34-58FFEC66B512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FFD99-437E-406D-A7C5-0FB53CD97BB2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696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B289-E98A-46C6-8F34-58FFEC66B512}" type="datetimeFigureOut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20/5/2016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FFD99-437E-406D-A7C5-0FB53CD97BB2}" type="slidenum">
              <a:rPr lang="en-SG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SG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28090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C:\Users\zjl\Desktop\Horizon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763" cy="220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5" descr="C:\Users\zjl\Documents\NatSteel logo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5063" y="158750"/>
            <a:ext cx="2762250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08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15925" y="2871788"/>
            <a:ext cx="8332788" cy="530225"/>
          </a:xfrm>
        </p:spPr>
        <p:txBody>
          <a:bodyPr/>
          <a:lstStyle>
            <a:lvl1pPr>
              <a:defRPr sz="3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08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23863" y="2535238"/>
            <a:ext cx="8332787" cy="315912"/>
          </a:xfrm>
        </p:spPr>
        <p:txBody>
          <a:bodyPr anchor="b"/>
          <a:lstStyle>
            <a:lvl1pPr marL="0" indent="0">
              <a:buFontTx/>
              <a:buNone/>
              <a:defRPr sz="1900" baseline="0">
                <a:solidFill>
                  <a:srgbClr val="003965"/>
                </a:solidFill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197725" y="6475413"/>
            <a:ext cx="487363" cy="122237"/>
          </a:xfrm>
        </p:spPr>
        <p:txBody>
          <a:bodyPr wrap="none"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5934075" y="6475413"/>
            <a:ext cx="328613" cy="122237"/>
          </a:xfrm>
        </p:spPr>
        <p:txBody>
          <a:bodyPr wrap="none"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20125" y="6475413"/>
            <a:ext cx="123825" cy="1222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2A178-158C-4BC3-B275-94AF0F7111D2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9605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F4387B-6D41-44AA-9142-1A3F04F7BF76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3677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759999-722F-46EB-A0A2-59F47DBA24D9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0497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9100" y="1308100"/>
            <a:ext cx="4079875" cy="4883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308100"/>
            <a:ext cx="4081463" cy="4883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85DA65-91F9-421D-B90F-4978AD45F56B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0164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24DCE-72FE-4761-AD81-6B477E7C9FFC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3642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3CDB14-ECE8-46E0-B83A-ECB863D93717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0046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4C669E-ECBF-4598-B118-4DFF3DC8FCAD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324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9386F-7AFB-4B28-BE9A-15FADD55BB68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2563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06819A-84F5-47D6-BF1C-46DC99D6133D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4606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753CB2-E865-4D2F-AF6A-53A1A2C019E1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4755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0038" y="298450"/>
            <a:ext cx="2082800" cy="5892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1638" y="298450"/>
            <a:ext cx="6096000" cy="5892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1D440-DF42-4DF4-A4B2-E1B96917DC53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0655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638" y="298450"/>
            <a:ext cx="7618412" cy="3508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19100" y="1308100"/>
            <a:ext cx="8313738" cy="4883150"/>
          </a:xfrm>
        </p:spPr>
        <p:txBody>
          <a:bodyPr/>
          <a:lstStyle/>
          <a:p>
            <a:pPr lvl="0"/>
            <a:endParaRPr lang="en-SG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CAFD43-A69D-4BEC-92CB-A0B2E4E3CF05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2607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675" y="134938"/>
            <a:ext cx="7059613" cy="9667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9863" y="1162050"/>
            <a:ext cx="4310062" cy="21415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169863" y="3455988"/>
            <a:ext cx="4310062" cy="2143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3"/>
          </p:nvPr>
        </p:nvSpPr>
        <p:spPr>
          <a:xfrm>
            <a:off x="4632325" y="1162050"/>
            <a:ext cx="4311650" cy="44370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6471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C:\Users\zjl\Desktop\Horizon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763" cy="220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5" descr="C:\Users\zjl\Documents\NatSteel logo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5063" y="158750"/>
            <a:ext cx="2762250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08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15925" y="2871788"/>
            <a:ext cx="8332788" cy="530225"/>
          </a:xfrm>
        </p:spPr>
        <p:txBody>
          <a:bodyPr/>
          <a:lstStyle>
            <a:lvl1pPr>
              <a:defRPr sz="3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08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23863" y="2535238"/>
            <a:ext cx="8332787" cy="315912"/>
          </a:xfrm>
        </p:spPr>
        <p:txBody>
          <a:bodyPr anchor="b"/>
          <a:lstStyle>
            <a:lvl1pPr marL="0" indent="0">
              <a:buFontTx/>
              <a:buNone/>
              <a:defRPr sz="1900" baseline="0">
                <a:solidFill>
                  <a:srgbClr val="003965"/>
                </a:solidFill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197725" y="6475413"/>
            <a:ext cx="487363" cy="122237"/>
          </a:xfrm>
        </p:spPr>
        <p:txBody>
          <a:bodyPr wrap="none"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5934075" y="6475413"/>
            <a:ext cx="328613" cy="122237"/>
          </a:xfrm>
        </p:spPr>
        <p:txBody>
          <a:bodyPr wrap="none"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20125" y="6475413"/>
            <a:ext cx="123825" cy="122237"/>
          </a:xfrm>
        </p:spPr>
        <p:txBody>
          <a:bodyPr/>
          <a:lstStyle>
            <a:lvl1pPr>
              <a:defRPr/>
            </a:lvl1pPr>
          </a:lstStyle>
          <a:p>
            <a:fld id="{9EAE4559-836D-469F-A449-B1DB6D330FE7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7962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EDFD2-437D-4109-BCEB-2ECDF5ACEAE3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4648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CE008A-2BC8-4C76-8074-7FB1B1EC9869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0949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9100" y="1308100"/>
            <a:ext cx="4079875" cy="4883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308100"/>
            <a:ext cx="4081463" cy="4883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815B37-9520-4BC4-8DB2-E003FA3D8DD1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04959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4D61A4-A4AE-4380-ABE5-880E5137C3C4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52008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D0BEAA-8623-4EED-B7A5-25FF1BCE37CC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29466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21E917-A401-4473-AA28-40E6F3799EC7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2091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3BB5CE-88AB-4A08-836F-9DF5F0BB24FF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0428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6D9A36-D57A-4A79-8B1B-62C2273213F7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93172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EA86D0-F31C-40A7-9510-7ECF423FE2F9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7053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0038" y="298450"/>
            <a:ext cx="2082800" cy="5892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1638" y="298450"/>
            <a:ext cx="6096000" cy="5892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79E40D-CE9B-4827-A1F2-37D092F9E520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08610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638" y="298450"/>
            <a:ext cx="7618412" cy="3508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19100" y="1308100"/>
            <a:ext cx="8313738" cy="4883150"/>
          </a:xfrm>
        </p:spPr>
        <p:txBody>
          <a:bodyPr/>
          <a:lstStyle/>
          <a:p>
            <a:pPr lvl="0"/>
            <a:endParaRPr lang="en-SG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7C0510-B5DB-4654-9509-03F30A13BA21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84685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C:\Users\zjl\Desktop\Horizon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763" cy="220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5" descr="C:\Users\zjl\Documents\NatSteel logo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5063" y="158750"/>
            <a:ext cx="2762250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08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15925" y="2871788"/>
            <a:ext cx="8332788" cy="530225"/>
          </a:xfrm>
        </p:spPr>
        <p:txBody>
          <a:bodyPr/>
          <a:lstStyle>
            <a:lvl1pPr>
              <a:defRPr sz="3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08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23863" y="2535238"/>
            <a:ext cx="8332787" cy="315912"/>
          </a:xfrm>
        </p:spPr>
        <p:txBody>
          <a:bodyPr anchor="b"/>
          <a:lstStyle>
            <a:lvl1pPr marL="0" indent="0">
              <a:buFontTx/>
              <a:buNone/>
              <a:defRPr sz="1900" baseline="0">
                <a:solidFill>
                  <a:srgbClr val="003965"/>
                </a:solidFill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197725" y="6475413"/>
            <a:ext cx="487363" cy="122237"/>
          </a:xfrm>
        </p:spPr>
        <p:txBody>
          <a:bodyPr wrap="none"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5934075" y="6475413"/>
            <a:ext cx="328613" cy="122237"/>
          </a:xfrm>
        </p:spPr>
        <p:txBody>
          <a:bodyPr wrap="none"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20125" y="6475413"/>
            <a:ext cx="123825" cy="122237"/>
          </a:xfrm>
        </p:spPr>
        <p:txBody>
          <a:bodyPr/>
          <a:lstStyle>
            <a:lvl1pPr>
              <a:defRPr/>
            </a:lvl1pPr>
          </a:lstStyle>
          <a:p>
            <a:fld id="{9EAE4559-836D-469F-A449-B1DB6D330FE7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1474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EDFD2-437D-4109-BCEB-2ECDF5ACEAE3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2309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CE008A-2BC8-4C76-8074-7FB1B1EC9869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978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9100" y="1308100"/>
            <a:ext cx="4079875" cy="4883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308100"/>
            <a:ext cx="4081463" cy="4883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815B37-9520-4BC4-8DB2-E003FA3D8DD1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80348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4D61A4-A4AE-4380-ABE5-880E5137C3C4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94590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D0BEAA-8623-4EED-B7A5-25FF1BCE37CC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08272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21E917-A401-4473-AA28-40E6F3799EC7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44473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3BB5CE-88AB-4A08-836F-9DF5F0BB24FF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28770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6D9A36-D57A-4A79-8B1B-62C2273213F7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79007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EA86D0-F31C-40A7-9510-7ECF423FE2F9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64018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0038" y="298450"/>
            <a:ext cx="2082800" cy="5892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1638" y="298450"/>
            <a:ext cx="6096000" cy="5892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79E40D-CE9B-4827-A1F2-37D092F9E520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3738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638" y="298450"/>
            <a:ext cx="7618412" cy="3508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19100" y="1308100"/>
            <a:ext cx="8313738" cy="4883150"/>
          </a:xfrm>
        </p:spPr>
        <p:txBody>
          <a:bodyPr/>
          <a:lstStyle/>
          <a:p>
            <a:pPr lvl="0"/>
            <a:endParaRPr lang="en-SG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7C0510-B5DB-4654-9509-03F30A13BA21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6786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C:\Users\zjl\Desktop\Horizon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763" cy="220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5" descr="C:\Users\zjl\Documents\NatSteel logo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5063" y="158750"/>
            <a:ext cx="2762250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08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15925" y="2871788"/>
            <a:ext cx="8332788" cy="530225"/>
          </a:xfrm>
        </p:spPr>
        <p:txBody>
          <a:bodyPr/>
          <a:lstStyle>
            <a:lvl1pPr>
              <a:defRPr sz="3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08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23863" y="2535238"/>
            <a:ext cx="8332787" cy="315912"/>
          </a:xfrm>
        </p:spPr>
        <p:txBody>
          <a:bodyPr anchor="b"/>
          <a:lstStyle>
            <a:lvl1pPr marL="0" indent="0">
              <a:buFontTx/>
              <a:buNone/>
              <a:defRPr sz="1900" baseline="0">
                <a:solidFill>
                  <a:srgbClr val="003965"/>
                </a:solidFill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197725" y="6475413"/>
            <a:ext cx="487363" cy="122237"/>
          </a:xfrm>
        </p:spPr>
        <p:txBody>
          <a:bodyPr wrap="none"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5934075" y="6475413"/>
            <a:ext cx="328613" cy="122237"/>
          </a:xfrm>
        </p:spPr>
        <p:txBody>
          <a:bodyPr wrap="none"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20125" y="6475413"/>
            <a:ext cx="123825" cy="1222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B50EA4-2FB6-4C2E-97EE-80C2962AC345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25510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AE2DAD-A299-4E1D-82A2-5F0B3E0C04D6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80444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2AD49D-9A2D-4DF2-A1C8-F942B5026592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01108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9100" y="1308100"/>
            <a:ext cx="4079875" cy="4883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308100"/>
            <a:ext cx="4081463" cy="4883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4ED8AD-0444-4506-AB78-9CFE6558C791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38886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2ECD00-2814-45B1-938C-F8665FCEF8AD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0385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4AA08C-A0E3-4532-8574-E8ECCDC01CEF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25771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019446-2C53-4081-A58B-859C6E2AC6B5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32070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BCDA12-49C1-4263-B03D-5F3059A2EDF6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46090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D038B1-E8FC-46D9-92EC-4110FD739D2D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52623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E63307-0103-472C-B1CD-B534083A100C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31290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0038" y="298450"/>
            <a:ext cx="2082800" cy="5892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1638" y="298450"/>
            <a:ext cx="6096000" cy="5892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1ECEA-B8FD-41AD-A633-2E039670EF88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1678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638" y="298450"/>
            <a:ext cx="7618412" cy="3508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19100" y="1308100"/>
            <a:ext cx="8313738" cy="4883150"/>
          </a:xfrm>
        </p:spPr>
        <p:txBody>
          <a:bodyPr/>
          <a:lstStyle/>
          <a:p>
            <a:pPr lvl="0"/>
            <a:endParaRPr lang="en-SG" noProof="0" dirty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8A0A76-3812-4A94-8D8B-3B4B6C8F404D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835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image" Target="../media/image1.jpe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image" Target="../media/image1.jpe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1638" y="298450"/>
            <a:ext cx="7618412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9100" y="1308100"/>
            <a:ext cx="8313738" cy="488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</p:txBody>
      </p:sp>
      <p:sp>
        <p:nvSpPr>
          <p:cNvPr id="1198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69175" y="6475413"/>
            <a:ext cx="1058863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>
              <a:defRPr sz="800" b="0"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1198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013325" y="6475413"/>
            <a:ext cx="2176463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>
              <a:defRPr sz="800" b="0"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1198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013" y="6475413"/>
            <a:ext cx="123825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800" b="0"/>
            </a:lvl1pPr>
          </a:lstStyle>
          <a:p>
            <a:pPr>
              <a:defRPr/>
            </a:pPr>
            <a:fld id="{F15C2FD1-7EB9-4A90-910B-0FFDE7D73DF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1031" name="Picture 15" descr="C:\Users\zjl\Documents\NatSteel logo.jp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47663" y="6303963"/>
            <a:ext cx="1430337" cy="51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288925" indent="-288925" algn="l" rtl="0" eaLnBrk="0" fontAlgn="base" hangingPunct="0">
        <a:spcBef>
          <a:spcPct val="0"/>
        </a:spcBef>
        <a:spcAft>
          <a:spcPct val="6000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80988" algn="l" rtl="0" eaLnBrk="0" fontAlgn="base" hangingPunct="0">
        <a:spcBef>
          <a:spcPct val="0"/>
        </a:spcBef>
        <a:spcAft>
          <a:spcPct val="30000"/>
        </a:spcAft>
        <a:buFont typeface="Arial" charset="0"/>
        <a:buChar char="•"/>
        <a:defRPr>
          <a:solidFill>
            <a:schemeClr val="tx1"/>
          </a:solidFill>
          <a:latin typeface="+mn-lt"/>
          <a:cs typeface="+mn-cs"/>
        </a:defRPr>
      </a:lvl2pPr>
      <a:lvl3pPr marL="838200" indent="-265113" algn="l" rtl="0" eaLnBrk="0" fontAlgn="base" hangingPunct="0">
        <a:spcBef>
          <a:spcPct val="0"/>
        </a:spcBef>
        <a:spcAft>
          <a:spcPct val="30000"/>
        </a:spcAft>
        <a:buSzPct val="90000"/>
        <a:buFont typeface="Arial" charset="0"/>
        <a:buChar char="─"/>
        <a:defRPr sz="1600">
          <a:solidFill>
            <a:schemeClr val="tx1"/>
          </a:solidFill>
          <a:latin typeface="+mn-lt"/>
          <a:cs typeface="+mn-cs"/>
        </a:defRPr>
      </a:lvl3pPr>
      <a:lvl4pPr marL="1020763" indent="-180975" algn="l" rtl="0" eaLnBrk="0" fontAlgn="base" hangingPunct="0">
        <a:spcBef>
          <a:spcPct val="0"/>
        </a:spcBef>
        <a:spcAft>
          <a:spcPct val="30000"/>
        </a:spcAft>
        <a:buSzPct val="90000"/>
        <a:buFont typeface="Arial" charset="0"/>
        <a:buChar char="•"/>
        <a:defRPr sz="1400">
          <a:solidFill>
            <a:schemeClr val="tx1"/>
          </a:solidFill>
          <a:latin typeface="+mn-lt"/>
          <a:cs typeface="+mn-cs"/>
        </a:defRPr>
      </a:lvl4pPr>
      <a:lvl5pPr marL="1327150" indent="-249238" algn="l" rtl="0" eaLnBrk="0" fontAlgn="base" hangingPunct="0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5pPr>
      <a:lvl6pPr marL="17843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6pPr>
      <a:lvl7pPr marL="22415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7pPr>
      <a:lvl8pPr marL="26987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8pPr>
      <a:lvl9pPr marL="31559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D6D18ADD-C618-4DB0-B2FF-11DD7E53FD7F}" type="datetimeFigureOut">
              <a:rPr lang="en-SG" b="0" smtClean="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20/5/2016</a:t>
            </a:fld>
            <a:endParaRPr lang="en-SG" b="0">
              <a:solidFill>
                <a:prstClr val="black">
                  <a:tint val="75000"/>
                </a:prstClr>
              </a:solidFill>
              <a:latin typeface="Calibri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SG" b="0">
              <a:solidFill>
                <a:prstClr val="black">
                  <a:tint val="75000"/>
                </a:prstClr>
              </a:solidFill>
              <a:latin typeface="Calibri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5C9904E-7D1E-47F5-BAA1-2C2A0EC22209}" type="slidenum">
              <a:rPr lang="en-SG" b="0" smtClean="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SG" b="0">
              <a:solidFill>
                <a:prstClr val="black">
                  <a:tint val="75000"/>
                </a:prstClr>
              </a:solidFill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48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8CB0B289-E98A-46C6-8F34-58FFEC66B512}" type="datetimeFigureOut">
              <a:rPr lang="en-SG" b="0" smtClean="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20/5/2016</a:t>
            </a:fld>
            <a:endParaRPr lang="en-SG" b="0">
              <a:solidFill>
                <a:prstClr val="black">
                  <a:tint val="75000"/>
                </a:prstClr>
              </a:solidFill>
              <a:latin typeface="Calibri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SG" b="0">
              <a:solidFill>
                <a:prstClr val="black">
                  <a:tint val="75000"/>
                </a:prstClr>
              </a:solidFill>
              <a:latin typeface="Calibri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ABFFD99-437E-406D-A7C5-0FB53CD97BB2}" type="slidenum">
              <a:rPr lang="en-SG" b="0" smtClean="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SG" b="0">
              <a:solidFill>
                <a:prstClr val="black">
                  <a:tint val="75000"/>
                </a:prstClr>
              </a:solidFill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38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1638" y="298450"/>
            <a:ext cx="7618412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9100" y="1308100"/>
            <a:ext cx="8313738" cy="488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</p:txBody>
      </p:sp>
      <p:sp>
        <p:nvSpPr>
          <p:cNvPr id="1198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69175" y="6475413"/>
            <a:ext cx="1058863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>
              <a:defRPr sz="800" b="0"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  <a:latin typeface="Arial"/>
                <a:cs typeface="Arial"/>
              </a:rPr>
              <a:t>00 Month 2010</a:t>
            </a:r>
          </a:p>
        </p:txBody>
      </p:sp>
      <p:sp>
        <p:nvSpPr>
          <p:cNvPr id="1198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013325" y="6475413"/>
            <a:ext cx="2176463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>
              <a:defRPr sz="800" b="0"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  <a:latin typeface="Arial"/>
                <a:cs typeface="Arial"/>
              </a:rPr>
              <a:t>Change footer via View menu/Header &amp; Footer</a:t>
            </a:r>
          </a:p>
        </p:txBody>
      </p:sp>
      <p:sp>
        <p:nvSpPr>
          <p:cNvPr id="1198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013" y="6475413"/>
            <a:ext cx="123825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800" b="0"/>
            </a:lvl1pPr>
          </a:lstStyle>
          <a:p>
            <a:pPr>
              <a:defRPr/>
            </a:pPr>
            <a:fld id="{77D68982-8362-4D84-80A7-421DFC62C14F}" type="slidenum">
              <a:rPr lang="en-GB">
                <a:solidFill>
                  <a:srgbClr val="000000"/>
                </a:solidFill>
                <a:latin typeface="Arial"/>
                <a:cs typeface="Arial"/>
              </a:rPr>
              <a:pPr>
                <a:defRPr/>
              </a:pPr>
              <a:t>‹#›</a:t>
            </a:fld>
            <a:endParaRPr lang="en-GB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2055" name="Picture 15" descr="C:\Users\zjl\Documents\NatSteel logo.jpg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47663" y="6303963"/>
            <a:ext cx="1430337" cy="51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4518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288925" indent="-288925" algn="l" rtl="0" eaLnBrk="0" fontAlgn="base" hangingPunct="0">
        <a:spcBef>
          <a:spcPct val="0"/>
        </a:spcBef>
        <a:spcAft>
          <a:spcPct val="6000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80988" algn="l" rtl="0" eaLnBrk="0" fontAlgn="base" hangingPunct="0">
        <a:spcBef>
          <a:spcPct val="0"/>
        </a:spcBef>
        <a:spcAft>
          <a:spcPct val="30000"/>
        </a:spcAft>
        <a:buFont typeface="Arial" charset="0"/>
        <a:buChar char="•"/>
        <a:defRPr>
          <a:solidFill>
            <a:schemeClr val="tx1"/>
          </a:solidFill>
          <a:latin typeface="+mn-lt"/>
          <a:cs typeface="+mn-cs"/>
        </a:defRPr>
      </a:lvl2pPr>
      <a:lvl3pPr marL="838200" indent="-265113" algn="l" rtl="0" eaLnBrk="0" fontAlgn="base" hangingPunct="0">
        <a:spcBef>
          <a:spcPct val="0"/>
        </a:spcBef>
        <a:spcAft>
          <a:spcPct val="30000"/>
        </a:spcAft>
        <a:buSzPct val="90000"/>
        <a:buFont typeface="Arial" charset="0"/>
        <a:buChar char="─"/>
        <a:defRPr sz="1600">
          <a:solidFill>
            <a:schemeClr val="tx1"/>
          </a:solidFill>
          <a:latin typeface="+mn-lt"/>
          <a:cs typeface="+mn-cs"/>
        </a:defRPr>
      </a:lvl3pPr>
      <a:lvl4pPr marL="1020763" indent="-180975" algn="l" rtl="0" eaLnBrk="0" fontAlgn="base" hangingPunct="0">
        <a:spcBef>
          <a:spcPct val="0"/>
        </a:spcBef>
        <a:spcAft>
          <a:spcPct val="30000"/>
        </a:spcAft>
        <a:buSzPct val="90000"/>
        <a:buFont typeface="Arial" charset="0"/>
        <a:buChar char="•"/>
        <a:defRPr sz="1400">
          <a:solidFill>
            <a:schemeClr val="tx1"/>
          </a:solidFill>
          <a:latin typeface="+mn-lt"/>
          <a:cs typeface="+mn-cs"/>
        </a:defRPr>
      </a:lvl4pPr>
      <a:lvl5pPr marL="1327150" indent="-249238" algn="l" rtl="0" eaLnBrk="0" fontAlgn="base" hangingPunct="0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5pPr>
      <a:lvl6pPr marL="17843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6pPr>
      <a:lvl7pPr marL="22415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7pPr>
      <a:lvl8pPr marL="26987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8pPr>
      <a:lvl9pPr marL="31559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1638" y="298450"/>
            <a:ext cx="7618412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9100" y="1308100"/>
            <a:ext cx="8313738" cy="488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</p:txBody>
      </p:sp>
      <p:sp>
        <p:nvSpPr>
          <p:cNvPr id="1198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69175" y="6475413"/>
            <a:ext cx="1058863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>
              <a:defRPr sz="800" b="0"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1198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013325" y="6475413"/>
            <a:ext cx="2176463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>
              <a:defRPr sz="800" b="0"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1198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013" y="6475413"/>
            <a:ext cx="123825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800" b="0"/>
            </a:lvl1pPr>
          </a:lstStyle>
          <a:p>
            <a:fld id="{DA996EE3-4860-44B4-A1E6-E709E807F66B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pic>
        <p:nvPicPr>
          <p:cNvPr id="2055" name="Picture 15" descr="C:\Users\zjl\Documents\NatSteel logo.jp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47663" y="6303963"/>
            <a:ext cx="1430337" cy="51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0984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288925" indent="-288925" algn="l" rtl="0" eaLnBrk="0" fontAlgn="base" hangingPunct="0">
        <a:spcBef>
          <a:spcPct val="0"/>
        </a:spcBef>
        <a:spcAft>
          <a:spcPct val="6000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80988" algn="l" rtl="0" eaLnBrk="0" fontAlgn="base" hangingPunct="0">
        <a:spcBef>
          <a:spcPct val="0"/>
        </a:spcBef>
        <a:spcAft>
          <a:spcPct val="30000"/>
        </a:spcAft>
        <a:buFont typeface="Arial" charset="0"/>
        <a:buChar char="•"/>
        <a:defRPr>
          <a:solidFill>
            <a:schemeClr val="tx1"/>
          </a:solidFill>
          <a:latin typeface="+mn-lt"/>
          <a:cs typeface="+mn-cs"/>
        </a:defRPr>
      </a:lvl2pPr>
      <a:lvl3pPr marL="838200" indent="-265113" algn="l" rtl="0" eaLnBrk="0" fontAlgn="base" hangingPunct="0">
        <a:spcBef>
          <a:spcPct val="0"/>
        </a:spcBef>
        <a:spcAft>
          <a:spcPct val="30000"/>
        </a:spcAft>
        <a:buSzPct val="90000"/>
        <a:buFont typeface="Arial" charset="0"/>
        <a:buChar char="─"/>
        <a:defRPr sz="1600">
          <a:solidFill>
            <a:schemeClr val="tx1"/>
          </a:solidFill>
          <a:latin typeface="+mn-lt"/>
          <a:cs typeface="+mn-cs"/>
        </a:defRPr>
      </a:lvl3pPr>
      <a:lvl4pPr marL="1020763" indent="-180975" algn="l" rtl="0" eaLnBrk="0" fontAlgn="base" hangingPunct="0">
        <a:spcBef>
          <a:spcPct val="0"/>
        </a:spcBef>
        <a:spcAft>
          <a:spcPct val="30000"/>
        </a:spcAft>
        <a:buSzPct val="90000"/>
        <a:buFont typeface="Arial" charset="0"/>
        <a:buChar char="•"/>
        <a:defRPr sz="1400">
          <a:solidFill>
            <a:schemeClr val="tx1"/>
          </a:solidFill>
          <a:latin typeface="+mn-lt"/>
          <a:cs typeface="+mn-cs"/>
        </a:defRPr>
      </a:lvl4pPr>
      <a:lvl5pPr marL="1327150" indent="-249238" algn="l" rtl="0" eaLnBrk="0" fontAlgn="base" hangingPunct="0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5pPr>
      <a:lvl6pPr marL="17843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6pPr>
      <a:lvl7pPr marL="22415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7pPr>
      <a:lvl8pPr marL="26987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8pPr>
      <a:lvl9pPr marL="31559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1638" y="298450"/>
            <a:ext cx="7618412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9100" y="1308100"/>
            <a:ext cx="8313738" cy="488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</p:txBody>
      </p:sp>
      <p:sp>
        <p:nvSpPr>
          <p:cNvPr id="1198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69175" y="6475413"/>
            <a:ext cx="1058863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>
              <a:defRPr sz="800" b="0"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1198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013325" y="6475413"/>
            <a:ext cx="2176463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>
              <a:defRPr sz="800" b="0"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1198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013" y="6475413"/>
            <a:ext cx="123825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800" b="0"/>
            </a:lvl1pPr>
          </a:lstStyle>
          <a:p>
            <a:fld id="{DA996EE3-4860-44B4-A1E6-E709E807F66B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pic>
        <p:nvPicPr>
          <p:cNvPr id="2055" name="Picture 15" descr="C:\Users\zjl\Documents\NatSteel logo.jp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47663" y="6303963"/>
            <a:ext cx="1430337" cy="51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1868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288925" indent="-288925" algn="l" rtl="0" eaLnBrk="0" fontAlgn="base" hangingPunct="0">
        <a:spcBef>
          <a:spcPct val="0"/>
        </a:spcBef>
        <a:spcAft>
          <a:spcPct val="6000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80988" algn="l" rtl="0" eaLnBrk="0" fontAlgn="base" hangingPunct="0">
        <a:spcBef>
          <a:spcPct val="0"/>
        </a:spcBef>
        <a:spcAft>
          <a:spcPct val="30000"/>
        </a:spcAft>
        <a:buFont typeface="Arial" charset="0"/>
        <a:buChar char="•"/>
        <a:defRPr>
          <a:solidFill>
            <a:schemeClr val="tx1"/>
          </a:solidFill>
          <a:latin typeface="+mn-lt"/>
          <a:cs typeface="+mn-cs"/>
        </a:defRPr>
      </a:lvl2pPr>
      <a:lvl3pPr marL="838200" indent="-265113" algn="l" rtl="0" eaLnBrk="0" fontAlgn="base" hangingPunct="0">
        <a:spcBef>
          <a:spcPct val="0"/>
        </a:spcBef>
        <a:spcAft>
          <a:spcPct val="30000"/>
        </a:spcAft>
        <a:buSzPct val="90000"/>
        <a:buFont typeface="Arial" charset="0"/>
        <a:buChar char="─"/>
        <a:defRPr sz="1600">
          <a:solidFill>
            <a:schemeClr val="tx1"/>
          </a:solidFill>
          <a:latin typeface="+mn-lt"/>
          <a:cs typeface="+mn-cs"/>
        </a:defRPr>
      </a:lvl3pPr>
      <a:lvl4pPr marL="1020763" indent="-180975" algn="l" rtl="0" eaLnBrk="0" fontAlgn="base" hangingPunct="0">
        <a:spcBef>
          <a:spcPct val="0"/>
        </a:spcBef>
        <a:spcAft>
          <a:spcPct val="30000"/>
        </a:spcAft>
        <a:buSzPct val="90000"/>
        <a:buFont typeface="Arial" charset="0"/>
        <a:buChar char="•"/>
        <a:defRPr sz="1400">
          <a:solidFill>
            <a:schemeClr val="tx1"/>
          </a:solidFill>
          <a:latin typeface="+mn-lt"/>
          <a:cs typeface="+mn-cs"/>
        </a:defRPr>
      </a:lvl4pPr>
      <a:lvl5pPr marL="1327150" indent="-249238" algn="l" rtl="0" eaLnBrk="0" fontAlgn="base" hangingPunct="0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5pPr>
      <a:lvl6pPr marL="17843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6pPr>
      <a:lvl7pPr marL="22415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7pPr>
      <a:lvl8pPr marL="26987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8pPr>
      <a:lvl9pPr marL="31559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1638" y="298450"/>
            <a:ext cx="7618412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9100" y="1308100"/>
            <a:ext cx="8313738" cy="488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</p:txBody>
      </p:sp>
      <p:sp>
        <p:nvSpPr>
          <p:cNvPr id="1198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69175" y="6475413"/>
            <a:ext cx="1058863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>
              <a:defRPr sz="800" b="0"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00 Month 2010</a:t>
            </a:r>
          </a:p>
        </p:txBody>
      </p:sp>
      <p:sp>
        <p:nvSpPr>
          <p:cNvPr id="1198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013325" y="6475413"/>
            <a:ext cx="2176463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>
              <a:defRPr sz="800" b="0"/>
            </a:lvl1pPr>
          </a:lstStyle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Change footer via View menu/Header &amp; Footer</a:t>
            </a:r>
          </a:p>
        </p:txBody>
      </p:sp>
      <p:sp>
        <p:nvSpPr>
          <p:cNvPr id="1198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013" y="6475413"/>
            <a:ext cx="123825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800" b="0"/>
            </a:lvl1pPr>
          </a:lstStyle>
          <a:p>
            <a:pPr>
              <a:defRPr/>
            </a:pPr>
            <a:fld id="{F15C2FD1-7EB9-4A90-910B-0FFDE7D73DFE}" type="slidenum">
              <a:rPr lang="en-GB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1031" name="Picture 15" descr="C:\Users\zjl\Documents\NatSteel logo.jp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47663" y="6303963"/>
            <a:ext cx="1430337" cy="51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9570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288925" indent="-288925" algn="l" rtl="0" eaLnBrk="0" fontAlgn="base" hangingPunct="0">
        <a:spcBef>
          <a:spcPct val="0"/>
        </a:spcBef>
        <a:spcAft>
          <a:spcPct val="6000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80988" algn="l" rtl="0" eaLnBrk="0" fontAlgn="base" hangingPunct="0">
        <a:spcBef>
          <a:spcPct val="0"/>
        </a:spcBef>
        <a:spcAft>
          <a:spcPct val="30000"/>
        </a:spcAft>
        <a:buFont typeface="Arial" charset="0"/>
        <a:buChar char="•"/>
        <a:defRPr>
          <a:solidFill>
            <a:schemeClr val="tx1"/>
          </a:solidFill>
          <a:latin typeface="+mn-lt"/>
          <a:cs typeface="+mn-cs"/>
        </a:defRPr>
      </a:lvl2pPr>
      <a:lvl3pPr marL="838200" indent="-265113" algn="l" rtl="0" eaLnBrk="0" fontAlgn="base" hangingPunct="0">
        <a:spcBef>
          <a:spcPct val="0"/>
        </a:spcBef>
        <a:spcAft>
          <a:spcPct val="30000"/>
        </a:spcAft>
        <a:buSzPct val="90000"/>
        <a:buFont typeface="Arial" charset="0"/>
        <a:buChar char="─"/>
        <a:defRPr sz="1600">
          <a:solidFill>
            <a:schemeClr val="tx1"/>
          </a:solidFill>
          <a:latin typeface="+mn-lt"/>
          <a:cs typeface="+mn-cs"/>
        </a:defRPr>
      </a:lvl3pPr>
      <a:lvl4pPr marL="1020763" indent="-180975" algn="l" rtl="0" eaLnBrk="0" fontAlgn="base" hangingPunct="0">
        <a:spcBef>
          <a:spcPct val="0"/>
        </a:spcBef>
        <a:spcAft>
          <a:spcPct val="30000"/>
        </a:spcAft>
        <a:buSzPct val="90000"/>
        <a:buFont typeface="Arial" charset="0"/>
        <a:buChar char="•"/>
        <a:defRPr sz="1400">
          <a:solidFill>
            <a:schemeClr val="tx1"/>
          </a:solidFill>
          <a:latin typeface="+mn-lt"/>
          <a:cs typeface="+mn-cs"/>
        </a:defRPr>
      </a:lvl4pPr>
      <a:lvl5pPr marL="1327150" indent="-249238" algn="l" rtl="0" eaLnBrk="0" fontAlgn="base" hangingPunct="0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5pPr>
      <a:lvl6pPr marL="17843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6pPr>
      <a:lvl7pPr marL="22415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7pPr>
      <a:lvl8pPr marL="26987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8pPr>
      <a:lvl9pPr marL="31559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43.png"/><Relationship Id="rId4" Type="http://schemas.openxmlformats.org/officeDocument/2006/relationships/image" Target="../media/image4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jpe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1.JPG"/><Relationship Id="rId4" Type="http://schemas.openxmlformats.org/officeDocument/2006/relationships/image" Target="../media/image60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3.jpeg"/><Relationship Id="rId5" Type="http://schemas.openxmlformats.org/officeDocument/2006/relationships/image" Target="../media/image72.jpeg"/><Relationship Id="rId4" Type="http://schemas.openxmlformats.org/officeDocument/2006/relationships/image" Target="../media/image71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949569" y="1993900"/>
            <a:ext cx="7819293" cy="530225"/>
          </a:xfrm>
          <a:noFill/>
        </p:spPr>
        <p:txBody>
          <a:bodyPr/>
          <a:lstStyle/>
          <a:p>
            <a:pPr algn="ctr" eaLnBrk="1" hangingPunct="1"/>
            <a:r>
              <a:rPr lang="en-GB" dirty="0" smtClean="0">
                <a:solidFill>
                  <a:schemeClr val="bg2"/>
                </a:solidFill>
              </a:rPr>
              <a:t>NatSteel Driver Training Program</a:t>
            </a:r>
          </a:p>
        </p:txBody>
      </p:sp>
      <p:pic>
        <p:nvPicPr>
          <p:cNvPr id="8" name="Picture 4" descr="roadsafetyeveryonesresponsibility.gi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06613" y="2880337"/>
            <a:ext cx="5151457" cy="3297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AE2DAD-A299-4E1D-82A2-5F0B3E0C04D6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2227385" y="1828800"/>
            <a:ext cx="4642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Safety and Health Contact</a:t>
            </a:r>
            <a:endParaRPr lang="en-SG" sz="2800" dirty="0"/>
          </a:p>
        </p:txBody>
      </p:sp>
      <p:sp>
        <p:nvSpPr>
          <p:cNvPr id="6" name="Isosceles Triangle 5"/>
          <p:cNvSpPr/>
          <p:nvPr/>
        </p:nvSpPr>
        <p:spPr bwMode="auto">
          <a:xfrm rot="5400000">
            <a:off x="4173553" y="2965941"/>
            <a:ext cx="750280" cy="726831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471488" y="390525"/>
            <a:ext cx="8229600" cy="39846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</a:rPr>
              <a:t>NSH Driver PPE Requirement</a:t>
            </a:r>
            <a:endParaRPr lang="en-US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</a:endParaRPr>
          </a:p>
        </p:txBody>
      </p:sp>
      <p:pic>
        <p:nvPicPr>
          <p:cNvPr id="5" name="Picture 2" descr="MSA V-Guard Helmet"/>
          <p:cNvPicPr>
            <a:picLocks noChangeArrowheads="1"/>
          </p:cNvPicPr>
          <p:nvPr/>
        </p:nvPicPr>
        <p:blipFill>
          <a:blip r:embed="rId3" cstate="print"/>
          <a:srcRect l="51172" t="69775" r="26643" b="7961"/>
          <a:stretch>
            <a:fillRect/>
          </a:stretch>
        </p:blipFill>
        <p:spPr bwMode="auto">
          <a:xfrm>
            <a:off x="541337" y="1125415"/>
            <a:ext cx="1371600" cy="1295400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1337" y="4173415"/>
            <a:ext cx="1378306" cy="1295400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5" descr="Reusable%20Ear%20Plug%201270"/>
          <p:cNvPicPr>
            <a:picLocks noChangeArrowheads="1"/>
          </p:cNvPicPr>
          <p:nvPr/>
        </p:nvPicPr>
        <p:blipFill>
          <a:blip r:embed="rId5" cstate="print"/>
          <a:srcRect t="13499" b="9000"/>
          <a:stretch>
            <a:fillRect/>
          </a:stretch>
        </p:blipFill>
        <p:spPr bwMode="auto">
          <a:xfrm>
            <a:off x="541337" y="2649415"/>
            <a:ext cx="1371600" cy="1295400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2065337" y="4173415"/>
            <a:ext cx="2057400" cy="101600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 smtClean="0">
                <a:ln w="18415" cmpd="sng">
                  <a:solidFill>
                    <a:srgbClr val="007699">
                      <a:lumMod val="60000"/>
                      <a:lumOff val="40000"/>
                    </a:srgbClr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SAFETY GLASSES</a:t>
            </a:r>
          </a:p>
          <a:p>
            <a:r>
              <a:rPr lang="zh-CN" altLang="en-US" sz="2000" dirty="0" smtClean="0">
                <a:ln w="18415" cmpd="sng">
                  <a:solidFill>
                    <a:srgbClr val="007699">
                      <a:lumMod val="60000"/>
                      <a:lumOff val="40000"/>
                    </a:srgbClr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安全眼镜</a:t>
            </a:r>
            <a:endParaRPr lang="en-US" sz="2000" dirty="0">
              <a:ln w="18415" cmpd="sng">
                <a:solidFill>
                  <a:srgbClr val="007699">
                    <a:lumMod val="60000"/>
                    <a:lumOff val="40000"/>
                  </a:srgbClr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65337" y="2649415"/>
            <a:ext cx="2057400" cy="707886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 smtClean="0">
                <a:ln w="18415" cmpd="sng">
                  <a:solidFill>
                    <a:srgbClr val="007699">
                      <a:lumMod val="60000"/>
                      <a:lumOff val="40000"/>
                    </a:srgbClr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EAR PLUG</a:t>
            </a:r>
          </a:p>
          <a:p>
            <a:r>
              <a:rPr lang="zh-CN" altLang="en-US" sz="2000" dirty="0" smtClean="0">
                <a:ln w="18415" cmpd="sng">
                  <a:solidFill>
                    <a:srgbClr val="007699">
                      <a:lumMod val="60000"/>
                      <a:lumOff val="40000"/>
                    </a:srgbClr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耳塞</a:t>
            </a:r>
            <a:endParaRPr lang="en-US" sz="2000" dirty="0">
              <a:ln w="18415" cmpd="sng">
                <a:solidFill>
                  <a:srgbClr val="007699">
                    <a:lumMod val="60000"/>
                    <a:lumOff val="40000"/>
                  </a:srgbClr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51537" y="1125415"/>
            <a:ext cx="2057400" cy="105410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 smtClean="0">
                <a:ln w="18415" cmpd="sng">
                  <a:solidFill>
                    <a:srgbClr val="007699">
                      <a:lumMod val="60000"/>
                      <a:lumOff val="40000"/>
                    </a:srgbClr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SAFETY SHOES</a:t>
            </a:r>
          </a:p>
          <a:p>
            <a:r>
              <a:rPr lang="zh-CN" altLang="en-US" sz="2000" dirty="0" smtClean="0">
                <a:ln w="18415" cmpd="sng">
                  <a:solidFill>
                    <a:srgbClr val="007699">
                      <a:lumMod val="60000"/>
                      <a:lumOff val="40000"/>
                    </a:srgbClr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安全鞋</a:t>
            </a:r>
            <a:endParaRPr lang="en-US" sz="2000" dirty="0">
              <a:ln w="18415" cmpd="sng">
                <a:solidFill>
                  <a:srgbClr val="007699">
                    <a:lumMod val="60000"/>
                    <a:lumOff val="40000"/>
                  </a:srgbClr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6" cstate="print">
            <a:lum bright="20000" contrast="20000"/>
          </a:blip>
          <a:srcRect/>
          <a:stretch>
            <a:fillRect/>
          </a:stretch>
        </p:blipFill>
        <p:spPr bwMode="auto">
          <a:xfrm>
            <a:off x="4427537" y="2725615"/>
            <a:ext cx="1371600" cy="1295400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5951537" y="2725615"/>
            <a:ext cx="2057400" cy="707886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 smtClean="0">
                <a:ln w="18415" cmpd="sng">
                  <a:solidFill>
                    <a:srgbClr val="007699">
                      <a:lumMod val="60000"/>
                      <a:lumOff val="40000"/>
                    </a:srgbClr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SAFETY VEST</a:t>
            </a:r>
          </a:p>
          <a:p>
            <a:r>
              <a:rPr lang="zh-CN" altLang="en-US" sz="2000" dirty="0" smtClean="0">
                <a:ln w="18415" cmpd="sng">
                  <a:solidFill>
                    <a:srgbClr val="007699">
                      <a:lumMod val="60000"/>
                      <a:lumOff val="40000"/>
                    </a:srgbClr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安全衣</a:t>
            </a:r>
            <a:endParaRPr lang="en-US" sz="2000" dirty="0">
              <a:ln w="18415" cmpd="sng">
                <a:solidFill>
                  <a:srgbClr val="007699">
                    <a:lumMod val="60000"/>
                    <a:lumOff val="40000"/>
                  </a:srgbClr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65337" y="1125416"/>
            <a:ext cx="2057400" cy="1015663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 smtClean="0">
                <a:ln w="18415" cmpd="sng">
                  <a:solidFill>
                    <a:srgbClr val="007699">
                      <a:lumMod val="60000"/>
                      <a:lumOff val="40000"/>
                    </a:srgbClr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SAFETY HELMET</a:t>
            </a:r>
          </a:p>
          <a:p>
            <a:r>
              <a:rPr lang="zh-CN" altLang="en-US" sz="2000" dirty="0" smtClean="0">
                <a:ln w="18415" cmpd="sng">
                  <a:solidFill>
                    <a:srgbClr val="007699">
                      <a:lumMod val="60000"/>
                      <a:lumOff val="40000"/>
                    </a:srgbClr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安全帽                </a:t>
            </a:r>
            <a:endParaRPr lang="en-US" sz="2000" dirty="0">
              <a:ln w="18415" cmpd="sng">
                <a:solidFill>
                  <a:srgbClr val="007699">
                    <a:lumMod val="60000"/>
                    <a:lumOff val="40000"/>
                  </a:srgbClr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15" name="Picture 13" descr="MCj0150471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046537" y="1049215"/>
            <a:ext cx="1824037" cy="124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4488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Personal Protective Equipment (PP</a:t>
            </a:r>
            <a:r>
              <a:rPr lang="en-US" altLang="zh-CN" dirty="0" smtClean="0">
                <a:solidFill>
                  <a:schemeClr val="bg1"/>
                </a:solidFill>
              </a:rPr>
              <a:t>E</a:t>
            </a:r>
            <a:r>
              <a:rPr lang="zh-CN" altLang="en-US" dirty="0" smtClean="0">
                <a:solidFill>
                  <a:schemeClr val="bg1"/>
                </a:solidFill>
              </a:rPr>
              <a:t>）</a:t>
            </a:r>
            <a:r>
              <a:rPr lang="en-US" altLang="zh-CN" dirty="0" smtClean="0">
                <a:solidFill>
                  <a:schemeClr val="bg1"/>
                </a:solidFill>
              </a:rPr>
              <a:t/>
            </a:r>
            <a:br>
              <a:rPr lang="en-US" altLang="zh-CN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endParaRPr lang="en-US" dirty="0" smtClean="0">
              <a:solidFill>
                <a:schemeClr val="bg1"/>
              </a:solidFill>
            </a:endParaRPr>
          </a:p>
        </p:txBody>
      </p:sp>
      <p:pic>
        <p:nvPicPr>
          <p:cNvPr id="26626" name="Picture 6" descr="SafetyBriefing1 001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34289" y="298929"/>
            <a:ext cx="9052559" cy="5353050"/>
          </a:xfrm>
          <a:prstGeom prst="rect">
            <a:avLst/>
          </a:prstGeom>
          <a:noFill/>
          <a:ln w="25400">
            <a:solidFill>
              <a:srgbClr val="FFCC00"/>
            </a:solidFill>
            <a:miter lim="800000"/>
            <a:headEnd/>
            <a:tailEnd/>
          </a:ln>
        </p:spPr>
      </p:pic>
      <p:sp>
        <p:nvSpPr>
          <p:cNvPr id="26627" name="Rectangle 7"/>
          <p:cNvSpPr>
            <a:spLocks noChangeArrowheads="1"/>
          </p:cNvSpPr>
          <p:nvPr/>
        </p:nvSpPr>
        <p:spPr bwMode="auto">
          <a:xfrm>
            <a:off x="4572000" y="319655"/>
            <a:ext cx="441198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FFFFFF"/>
                </a:solidFill>
                <a:latin typeface="Arial"/>
                <a:ea typeface="MS PGothic" pitchFamily="34" charset="-128"/>
                <a:cs typeface="Arial"/>
              </a:rPr>
              <a:t>Please wear </a:t>
            </a:r>
            <a:r>
              <a:rPr lang="zh-CN" altLang="en-US" sz="2400" b="0" dirty="0">
                <a:solidFill>
                  <a:srgbClr val="FFFFFF"/>
                </a:solidFill>
                <a:latin typeface="Arial"/>
                <a:ea typeface="MS PGothic" pitchFamily="34" charset="-128"/>
                <a:cs typeface="Arial"/>
              </a:rPr>
              <a:t> </a:t>
            </a:r>
            <a:endParaRPr lang="en-US" altLang="zh-CN" sz="2400" b="0" dirty="0">
              <a:solidFill>
                <a:srgbClr val="FFFFFF"/>
              </a:solidFill>
              <a:latin typeface="Arial"/>
              <a:ea typeface="MS PGothic" pitchFamily="34" charset="-128"/>
              <a:cs typeface="Arial"/>
            </a:endParaRPr>
          </a:p>
          <a:p>
            <a:r>
              <a:rPr lang="en-US" sz="2400" b="0" dirty="0">
                <a:solidFill>
                  <a:srgbClr val="FFFFFF"/>
                </a:solidFill>
                <a:latin typeface="Arial"/>
                <a:ea typeface="MS PGothic" pitchFamily="34" charset="-128"/>
                <a:cs typeface="Arial"/>
              </a:rPr>
              <a:t>1) </a:t>
            </a:r>
            <a:r>
              <a:rPr lang="en-US" sz="2400" i="1" dirty="0">
                <a:solidFill>
                  <a:srgbClr val="FFFFFF"/>
                </a:solidFill>
                <a:latin typeface="Arial"/>
                <a:ea typeface="MS PGothic" pitchFamily="34" charset="-128"/>
                <a:cs typeface="Arial"/>
              </a:rPr>
              <a:t>Safety </a:t>
            </a:r>
            <a:r>
              <a:rPr lang="en-US" sz="2400" i="1" dirty="0" smtClean="0">
                <a:solidFill>
                  <a:srgbClr val="FFFFFF"/>
                </a:solidFill>
                <a:latin typeface="Arial"/>
                <a:ea typeface="MS PGothic" pitchFamily="34" charset="-128"/>
                <a:cs typeface="Arial"/>
              </a:rPr>
              <a:t>Helmet</a:t>
            </a:r>
            <a:r>
              <a:rPr lang="zh-CN" altLang="en-US" sz="2400" b="0" dirty="0" smtClean="0">
                <a:solidFill>
                  <a:srgbClr val="FFFFFF"/>
                </a:solidFill>
                <a:latin typeface="Arial"/>
                <a:ea typeface="MS PGothic" pitchFamily="34" charset="-128"/>
                <a:cs typeface="Arial"/>
              </a:rPr>
              <a:t> </a:t>
            </a:r>
            <a:endParaRPr lang="en-US" sz="2400" b="0" dirty="0">
              <a:solidFill>
                <a:srgbClr val="FFFFFF"/>
              </a:solidFill>
              <a:latin typeface="Arial"/>
              <a:ea typeface="MS PGothic" pitchFamily="34" charset="-128"/>
              <a:cs typeface="Arial"/>
            </a:endParaRPr>
          </a:p>
          <a:p>
            <a:r>
              <a:rPr lang="en-US" sz="2400" b="0" dirty="0">
                <a:solidFill>
                  <a:srgbClr val="FFFFFF"/>
                </a:solidFill>
                <a:latin typeface="Arial"/>
                <a:ea typeface="MS PGothic" pitchFamily="34" charset="-128"/>
                <a:cs typeface="Arial"/>
              </a:rPr>
              <a:t>2) </a:t>
            </a:r>
            <a:r>
              <a:rPr lang="en-US" sz="2400" i="1" dirty="0">
                <a:solidFill>
                  <a:srgbClr val="FFFFFF"/>
                </a:solidFill>
                <a:latin typeface="Arial"/>
                <a:ea typeface="MS PGothic" pitchFamily="34" charset="-128"/>
                <a:cs typeface="Arial"/>
              </a:rPr>
              <a:t>Safety </a:t>
            </a:r>
            <a:r>
              <a:rPr lang="en-US" sz="2400" i="1" dirty="0" smtClean="0">
                <a:solidFill>
                  <a:srgbClr val="FFFFFF"/>
                </a:solidFill>
                <a:latin typeface="Arial"/>
                <a:ea typeface="MS PGothic" pitchFamily="34" charset="-128"/>
                <a:cs typeface="Arial"/>
              </a:rPr>
              <a:t>Glasses</a:t>
            </a:r>
            <a:endParaRPr lang="en-US" sz="2400" b="0" dirty="0">
              <a:solidFill>
                <a:srgbClr val="FFFFFF"/>
              </a:solidFill>
              <a:latin typeface="Arial"/>
              <a:ea typeface="MS PGothic" pitchFamily="34" charset="-128"/>
              <a:cs typeface="Arial"/>
            </a:endParaRPr>
          </a:p>
          <a:p>
            <a:r>
              <a:rPr lang="en-US" sz="2400" b="0" dirty="0">
                <a:solidFill>
                  <a:srgbClr val="FFFFFF"/>
                </a:solidFill>
                <a:latin typeface="Arial"/>
                <a:ea typeface="MS PGothic" pitchFamily="34" charset="-128"/>
                <a:cs typeface="Arial"/>
              </a:rPr>
              <a:t>3) </a:t>
            </a:r>
            <a:r>
              <a:rPr lang="en-US" sz="2400" i="1" dirty="0">
                <a:solidFill>
                  <a:srgbClr val="FFFFFF"/>
                </a:solidFill>
                <a:latin typeface="Arial"/>
                <a:ea typeface="MS PGothic" pitchFamily="34" charset="-128"/>
                <a:cs typeface="Arial"/>
              </a:rPr>
              <a:t>Safety </a:t>
            </a:r>
            <a:r>
              <a:rPr lang="en-US" sz="2400" i="1" dirty="0" smtClean="0">
                <a:solidFill>
                  <a:srgbClr val="FFFFFF"/>
                </a:solidFill>
                <a:latin typeface="Arial"/>
                <a:ea typeface="MS PGothic" pitchFamily="34" charset="-128"/>
                <a:cs typeface="Arial"/>
              </a:rPr>
              <a:t>Shoes</a:t>
            </a:r>
            <a:endParaRPr lang="en-US" sz="2400" dirty="0">
              <a:solidFill>
                <a:srgbClr val="FFFFFF"/>
              </a:solidFill>
              <a:latin typeface="Arial"/>
              <a:ea typeface="MS PGothic" pitchFamily="34" charset="-128"/>
              <a:cs typeface="Arial"/>
            </a:endParaRPr>
          </a:p>
          <a:p>
            <a:r>
              <a:rPr lang="en-US" sz="2400" b="0" dirty="0">
                <a:solidFill>
                  <a:srgbClr val="FFFFFF"/>
                </a:solidFill>
                <a:latin typeface="Arial"/>
                <a:ea typeface="MS PGothic" pitchFamily="34" charset="-128"/>
                <a:cs typeface="Arial"/>
              </a:rPr>
              <a:t>4) </a:t>
            </a:r>
            <a:r>
              <a:rPr lang="en-US" sz="2400" i="1" dirty="0">
                <a:solidFill>
                  <a:srgbClr val="FFFFFF"/>
                </a:solidFill>
                <a:latin typeface="Arial"/>
                <a:ea typeface="MS PGothic" pitchFamily="34" charset="-128"/>
                <a:cs typeface="Arial"/>
              </a:rPr>
              <a:t>Ear plugs</a:t>
            </a:r>
            <a:endParaRPr lang="en-US" sz="2400" dirty="0">
              <a:solidFill>
                <a:srgbClr val="FFFFFF"/>
              </a:solidFill>
              <a:latin typeface="Arial"/>
              <a:ea typeface="MS PGothic" pitchFamily="34" charset="-128"/>
              <a:cs typeface="Arial"/>
            </a:endParaRPr>
          </a:p>
          <a:p>
            <a:r>
              <a:rPr lang="en-US" sz="2400" b="0" dirty="0">
                <a:solidFill>
                  <a:srgbClr val="FFFFFF"/>
                </a:solidFill>
                <a:latin typeface="Arial"/>
                <a:ea typeface="MS PGothic" pitchFamily="34" charset="-128"/>
                <a:cs typeface="Arial"/>
              </a:rPr>
              <a:t>Once you </a:t>
            </a:r>
            <a:r>
              <a:rPr lang="en-US" sz="2400" b="0" dirty="0" smtClean="0">
                <a:solidFill>
                  <a:srgbClr val="FFFFFF"/>
                </a:solidFill>
                <a:latin typeface="Arial"/>
                <a:ea typeface="MS PGothic" pitchFamily="34" charset="-128"/>
                <a:cs typeface="Arial"/>
              </a:rPr>
              <a:t>want to cross </a:t>
            </a:r>
            <a:r>
              <a:rPr lang="en-US" sz="2400" b="0" dirty="0">
                <a:solidFill>
                  <a:srgbClr val="FFFFFF"/>
                </a:solidFill>
                <a:latin typeface="Arial"/>
                <a:ea typeface="MS PGothic" pitchFamily="34" charset="-128"/>
                <a:cs typeface="Arial"/>
              </a:rPr>
              <a:t>the </a:t>
            </a:r>
            <a:r>
              <a:rPr lang="en-US" sz="2400" dirty="0">
                <a:solidFill>
                  <a:srgbClr val="0033CC"/>
                </a:solidFill>
                <a:latin typeface="Arial"/>
                <a:ea typeface="MS PGothic" pitchFamily="34" charset="-128"/>
                <a:cs typeface="Arial"/>
              </a:rPr>
              <a:t>blue</a:t>
            </a:r>
            <a:r>
              <a:rPr lang="en-US" sz="2400" b="0" dirty="0">
                <a:solidFill>
                  <a:srgbClr val="FFFFFF"/>
                </a:solidFill>
                <a:latin typeface="Arial"/>
                <a:ea typeface="MS PGothic" pitchFamily="34" charset="-128"/>
                <a:cs typeface="Arial"/>
              </a:rPr>
              <a:t> </a:t>
            </a:r>
            <a:r>
              <a:rPr lang="en-US" sz="2400" b="0" dirty="0" smtClean="0">
                <a:solidFill>
                  <a:srgbClr val="FFFFFF"/>
                </a:solidFill>
                <a:latin typeface="Arial"/>
                <a:ea typeface="MS PGothic" pitchFamily="34" charset="-128"/>
                <a:cs typeface="Arial"/>
              </a:rPr>
              <a:t>boundary line</a:t>
            </a:r>
            <a:endParaRPr lang="en-US" sz="2400" b="0" dirty="0">
              <a:solidFill>
                <a:srgbClr val="FFFFFF"/>
              </a:solidFill>
              <a:latin typeface="Arial"/>
              <a:ea typeface="MS PGothic" pitchFamily="34" charset="-128"/>
              <a:cs typeface="Arial"/>
            </a:endParaRPr>
          </a:p>
        </p:txBody>
      </p:sp>
      <p:sp>
        <p:nvSpPr>
          <p:cNvPr id="26628" name="Rectangle 8"/>
          <p:cNvSpPr>
            <a:spLocks noChangeArrowheads="1"/>
          </p:cNvSpPr>
          <p:nvPr/>
        </p:nvSpPr>
        <p:spPr bwMode="auto">
          <a:xfrm>
            <a:off x="1370482" y="4530566"/>
            <a:ext cx="3201517" cy="52322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 dirty="0">
                <a:solidFill>
                  <a:srgbClr val="FF0000"/>
                </a:solidFill>
                <a:latin typeface="Arial"/>
                <a:ea typeface="MS PGothic" pitchFamily="34" charset="-128"/>
                <a:cs typeface="Arial"/>
              </a:rPr>
              <a:t>Demarcation </a:t>
            </a:r>
            <a:r>
              <a:rPr lang="en-US" sz="2800" dirty="0" smtClean="0">
                <a:solidFill>
                  <a:srgbClr val="FF0000"/>
                </a:solidFill>
                <a:latin typeface="Arial"/>
                <a:ea typeface="MS PGothic" pitchFamily="34" charset="-128"/>
                <a:cs typeface="Arial"/>
              </a:rPr>
              <a:t>Line</a:t>
            </a:r>
            <a:endParaRPr lang="en-US" sz="2800" dirty="0">
              <a:solidFill>
                <a:srgbClr val="FF0000"/>
              </a:solidFill>
              <a:latin typeface="Arial"/>
              <a:ea typeface="MS PGothic" pitchFamily="34" charset="-128"/>
              <a:cs typeface="Arial"/>
            </a:endParaRPr>
          </a:p>
        </p:txBody>
      </p:sp>
      <p:sp>
        <p:nvSpPr>
          <p:cNvPr id="26629" name="Line 9"/>
          <p:cNvSpPr>
            <a:spLocks noChangeShapeType="1"/>
          </p:cNvSpPr>
          <p:nvPr/>
        </p:nvSpPr>
        <p:spPr bwMode="auto">
          <a:xfrm flipV="1">
            <a:off x="3063874" y="3234690"/>
            <a:ext cx="1508125" cy="1284923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6630" name="Line 10"/>
          <p:cNvSpPr>
            <a:spLocks noChangeShapeType="1"/>
          </p:cNvSpPr>
          <p:nvPr/>
        </p:nvSpPr>
        <p:spPr bwMode="auto">
          <a:xfrm flipV="1">
            <a:off x="4572001" y="4160520"/>
            <a:ext cx="2080260" cy="631656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" name="Curved Down Arrow 1"/>
          <p:cNvSpPr/>
          <p:nvPr/>
        </p:nvSpPr>
        <p:spPr bwMode="auto">
          <a:xfrm rot="18991353">
            <a:off x="2909283" y="2294763"/>
            <a:ext cx="1666856" cy="821996"/>
          </a:xfrm>
          <a:prstGeom prst="curved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SG" smtClean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359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Driver Wellness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AE2DAD-A299-4E1D-82A2-5F0B3E0C04D6}" type="slidenum">
              <a:rPr lang="en-GB" smtClean="0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822" y="1488924"/>
            <a:ext cx="2893132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399" y="1488924"/>
            <a:ext cx="2877137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832367" y="1119592"/>
            <a:ext cx="3554144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SG" dirty="0" smtClean="0">
                <a:solidFill>
                  <a:srgbClr val="000000"/>
                </a:solidFill>
              </a:rPr>
              <a:t>Over </a:t>
            </a:r>
            <a:r>
              <a:rPr lang="en-SG" dirty="0">
                <a:solidFill>
                  <a:srgbClr val="000000"/>
                </a:solidFill>
              </a:rPr>
              <a:t>worked/Exhausted/Tired 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822" y="4142004"/>
            <a:ext cx="3254118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399" y="4142004"/>
            <a:ext cx="2877137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38153" y="3771750"/>
            <a:ext cx="1840936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SG" dirty="0" smtClean="0">
                <a:solidFill>
                  <a:srgbClr val="000000"/>
                </a:solidFill>
              </a:rPr>
              <a:t>Medication </a:t>
            </a:r>
            <a:endParaRPr lang="en-SG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80822" y="3772672"/>
            <a:ext cx="1030076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SG" dirty="0" smtClean="0">
                <a:solidFill>
                  <a:srgbClr val="000000"/>
                </a:solidFill>
              </a:rPr>
              <a:t>Sick </a:t>
            </a:r>
            <a:endParaRPr lang="en-SG" dirty="0">
              <a:solidFill>
                <a:srgbClr val="0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2031" y="750260"/>
            <a:ext cx="8335107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SG" dirty="0" smtClean="0">
                <a:solidFill>
                  <a:srgbClr val="000000"/>
                </a:solidFill>
              </a:rPr>
              <a:t>Please Do Not Driver and Take Sufficient Rest</a:t>
            </a:r>
            <a:endParaRPr lang="en-SG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47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BCDA12-49C1-4263-B03D-5F3059A2EDF6}" type="slidenum">
              <a:rPr lang="en-GB" smtClean="0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6847" y="1708198"/>
            <a:ext cx="2625382" cy="1969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02654" y="4153819"/>
            <a:ext cx="2589575" cy="1942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0644" y="1241922"/>
            <a:ext cx="4770623" cy="5115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80644" y="843459"/>
            <a:ext cx="8229600" cy="398463"/>
          </a:xfrm>
          <a:solidFill>
            <a:srgbClr val="FFFF00"/>
          </a:solidFill>
        </p:spPr>
        <p:txBody>
          <a:bodyPr/>
          <a:lstStyle/>
          <a:p>
            <a:pPr algn="ctr" eaLnBrk="1" hangingPunct="1">
              <a:defRPr/>
            </a:pPr>
            <a:r>
              <a:rPr lang="en-US" sz="180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/>
                </a:solidFill>
              </a:rPr>
              <a:t>To comply with Prime mover Daily Pre operation Checklist</a:t>
            </a:r>
            <a:endParaRPr lang="en-US" sz="180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9" name="Title 2"/>
          <p:cNvSpPr txBox="1">
            <a:spLocks/>
          </p:cNvSpPr>
          <p:nvPr/>
        </p:nvSpPr>
        <p:spPr bwMode="auto">
          <a:xfrm>
            <a:off x="401638" y="298450"/>
            <a:ext cx="7618412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3965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965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965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965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965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200" dirty="0" smtClean="0"/>
              <a:t>Safe Work Procedures </a:t>
            </a:r>
            <a:endParaRPr lang="en-SG" sz="2200" dirty="0"/>
          </a:p>
        </p:txBody>
      </p:sp>
    </p:spTree>
    <p:extLst>
      <p:ext uri="{BB962C8B-B14F-4D97-AF65-F5344CB8AC3E}">
        <p14:creationId xmlns:p14="http://schemas.microsoft.com/office/powerpoint/2010/main" val="1234394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424" y="1570892"/>
            <a:ext cx="4527051" cy="4751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16092" y="1570892"/>
            <a:ext cx="3743540" cy="2203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16092" y="3805981"/>
            <a:ext cx="3743540" cy="2479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51424" y="1172429"/>
            <a:ext cx="8508208" cy="398463"/>
          </a:xfrm>
          <a:solidFill>
            <a:srgbClr val="FFFF00"/>
          </a:solidFill>
        </p:spPr>
        <p:txBody>
          <a:bodyPr/>
          <a:lstStyle/>
          <a:p>
            <a:pPr algn="ctr" eaLnBrk="1" hangingPunct="1">
              <a:defRPr/>
            </a:pPr>
            <a:r>
              <a:rPr lang="en-US" sz="180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/>
                </a:solidFill>
              </a:rPr>
              <a:t>To comply with Trailer Daily Checklist</a:t>
            </a:r>
            <a:endParaRPr lang="en-US" sz="180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9" name="Title 2"/>
          <p:cNvSpPr txBox="1">
            <a:spLocks/>
          </p:cNvSpPr>
          <p:nvPr/>
        </p:nvSpPr>
        <p:spPr bwMode="auto">
          <a:xfrm>
            <a:off x="401638" y="298450"/>
            <a:ext cx="7618412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3965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965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965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965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965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200" dirty="0" smtClean="0"/>
              <a:t>Safe Work Procedures </a:t>
            </a:r>
            <a:endParaRPr lang="en-SG" sz="2200" dirty="0"/>
          </a:p>
        </p:txBody>
      </p:sp>
    </p:spTree>
    <p:extLst>
      <p:ext uri="{BB962C8B-B14F-4D97-AF65-F5344CB8AC3E}">
        <p14:creationId xmlns:p14="http://schemas.microsoft.com/office/powerpoint/2010/main" val="961847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30597" y="6475413"/>
            <a:ext cx="123825" cy="122237"/>
          </a:xfrm>
        </p:spPr>
        <p:txBody>
          <a:bodyPr/>
          <a:lstStyle/>
          <a:p>
            <a:pPr>
              <a:defRPr/>
            </a:pPr>
            <a:fld id="{E0AE2DAD-A299-4E1D-82A2-5F0B3E0C04D6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  <p:pic>
        <p:nvPicPr>
          <p:cNvPr id="21" name="Picture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590" y="1198757"/>
            <a:ext cx="4291241" cy="302397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5" name="TextBox 24"/>
          <p:cNvSpPr txBox="1"/>
          <p:nvPr/>
        </p:nvSpPr>
        <p:spPr>
          <a:xfrm>
            <a:off x="245591" y="813311"/>
            <a:ext cx="4291240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Use Safe Walkways</a:t>
            </a: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 cstate="print"/>
          <a:srcRect b="-304"/>
          <a:stretch>
            <a:fillRect/>
          </a:stretch>
        </p:blipFill>
        <p:spPr bwMode="auto">
          <a:xfrm>
            <a:off x="4630615" y="3282510"/>
            <a:ext cx="4213599" cy="296484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630615" y="2923294"/>
            <a:ext cx="4213599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Use Pedestrian </a:t>
            </a:r>
            <a:r>
              <a:rPr lang="en-US" sz="1600" dirty="0"/>
              <a:t>C</a:t>
            </a:r>
            <a:r>
              <a:rPr lang="en-US" sz="1600" dirty="0" smtClean="0"/>
              <a:t>rossings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Safe Work Procedures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9566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SC_005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30615" y="3458541"/>
            <a:ext cx="4220308" cy="3063380"/>
          </a:xfrm>
          <a:prstGeom prst="rect">
            <a:avLst/>
          </a:prstGeom>
          <a:ln w="3175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4630615" y="2834895"/>
            <a:ext cx="4220308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Parking only at Designated </a:t>
            </a:r>
            <a:r>
              <a:rPr lang="en-US" sz="1600" dirty="0" smtClean="0"/>
              <a:t>Trailer </a:t>
            </a:r>
            <a:r>
              <a:rPr lang="en-US" sz="1600" dirty="0"/>
              <a:t>P</a:t>
            </a:r>
            <a:r>
              <a:rPr lang="en-US" sz="1600" dirty="0" smtClean="0"/>
              <a:t>arking </a:t>
            </a:r>
            <a:r>
              <a:rPr lang="en-US" sz="1600" dirty="0"/>
              <a:t>L</a:t>
            </a:r>
            <a:r>
              <a:rPr lang="en-US" sz="1600" dirty="0" smtClean="0"/>
              <a:t>ots</a:t>
            </a:r>
            <a:endParaRPr lang="en-US" sz="1600" dirty="0" smtClean="0"/>
          </a:p>
        </p:txBody>
      </p:sp>
      <p:pic>
        <p:nvPicPr>
          <p:cNvPr id="16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7654" y="1236650"/>
            <a:ext cx="4179744" cy="3112611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5930" y="851205"/>
            <a:ext cx="4191467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Waiting </a:t>
            </a:r>
            <a:r>
              <a:rPr lang="en-US" sz="1600" dirty="0" smtClean="0"/>
              <a:t>Only </a:t>
            </a:r>
            <a:r>
              <a:rPr lang="en-US" sz="1600" dirty="0" smtClean="0"/>
              <a:t>at </a:t>
            </a:r>
            <a:r>
              <a:rPr lang="en-US" sz="1600" dirty="0" smtClean="0"/>
              <a:t>Designated </a:t>
            </a:r>
            <a:r>
              <a:rPr lang="en-US" sz="1600" dirty="0" smtClean="0"/>
              <a:t>area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 Work Procedures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77577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31" y="1211352"/>
            <a:ext cx="3867384" cy="3497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589" y="2616269"/>
            <a:ext cx="3867384" cy="338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401638" y="298450"/>
            <a:ext cx="7618412" cy="350838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b="1" dirty="0">
                <a:solidFill>
                  <a:srgbClr val="003965"/>
                </a:solidFill>
                <a:latin typeface="Ariel heading"/>
              </a:rPr>
              <a:t>Safe Work Procedures</a:t>
            </a:r>
            <a:r>
              <a:rPr lang="en-US" dirty="0">
                <a:latin typeface="Ariel heading"/>
              </a:rPr>
              <a:t> </a:t>
            </a:r>
            <a:endParaRPr lang="en-SG" dirty="0">
              <a:latin typeface="Ariel heading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5931" y="851205"/>
            <a:ext cx="3867384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Drive within Speed Limits -&gt; 20Km/</a:t>
            </a:r>
            <a:r>
              <a:rPr lang="en-US" sz="1600" dirty="0" err="1" smtClean="0"/>
              <a:t>Hr</a:t>
            </a:r>
            <a:endParaRPr lang="en-US" sz="16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4536831" y="2242508"/>
            <a:ext cx="4360984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Do Not Use Mobile Devices While Driving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236461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4337538" y="2970499"/>
            <a:ext cx="4287421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OFF </a:t>
            </a:r>
            <a:r>
              <a:rPr lang="en-US" sz="1600" dirty="0" smtClean="0"/>
              <a:t>Engine at Weighing Bridge</a:t>
            </a:r>
          </a:p>
        </p:txBody>
      </p:sp>
      <p:pic>
        <p:nvPicPr>
          <p:cNvPr id="18" name="Picture 55" descr="IMG_02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621" y="1481878"/>
            <a:ext cx="3900964" cy="292314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1496002" y="3052560"/>
            <a:ext cx="897437" cy="864536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sysDash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20" name="TextBox 19"/>
          <p:cNvSpPr txBox="1"/>
          <p:nvPr/>
        </p:nvSpPr>
        <p:spPr>
          <a:xfrm>
            <a:off x="304799" y="873657"/>
            <a:ext cx="3903786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OFF Engine and Apply Wheel choke at </a:t>
            </a:r>
            <a:r>
              <a:rPr lang="en-US" sz="1600" dirty="0" smtClean="0"/>
              <a:t>Loading/unloading </a:t>
            </a:r>
            <a:r>
              <a:rPr lang="en-US" sz="1600" dirty="0" smtClean="0"/>
              <a:t>bay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Safe Work Procedures</a:t>
            </a:r>
            <a:endParaRPr lang="en-SG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91" t="13384" r="11039" b="9282"/>
          <a:stretch/>
        </p:blipFill>
        <p:spPr bwMode="auto">
          <a:xfrm>
            <a:off x="4337538" y="3322071"/>
            <a:ext cx="4293075" cy="3266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0348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634453" y="5299756"/>
            <a:ext cx="217371" cy="130321"/>
          </a:xfrm>
        </p:spPr>
        <p:txBody>
          <a:bodyPr/>
          <a:lstStyle/>
          <a:p>
            <a:pPr>
              <a:defRPr/>
            </a:pPr>
            <a:fld id="{E0AE2DAD-A299-4E1D-82A2-5F0B3E0C04D6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9852" y="3312140"/>
            <a:ext cx="4266263" cy="3018322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  <p:sp>
        <p:nvSpPr>
          <p:cNvPr id="33" name="TextBox 32"/>
          <p:cNvSpPr txBox="1"/>
          <p:nvPr/>
        </p:nvSpPr>
        <p:spPr>
          <a:xfrm>
            <a:off x="4658129" y="2948598"/>
            <a:ext cx="4277986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Do not park at Exclusion zones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4799" y="873657"/>
            <a:ext cx="4133696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Do </a:t>
            </a:r>
            <a:r>
              <a:rPr lang="en-US" sz="1600" dirty="0"/>
              <a:t>Not Use Damaged </a:t>
            </a:r>
            <a:r>
              <a:rPr lang="en-US" sz="1600" dirty="0" smtClean="0"/>
              <a:t>Trailer</a:t>
            </a:r>
            <a:r>
              <a:rPr lang="en-US" sz="1600" dirty="0"/>
              <a:t>s</a:t>
            </a:r>
            <a:endParaRPr lang="en-US" sz="16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 Work Procedures</a:t>
            </a:r>
            <a:endParaRPr lang="en-SG" dirty="0"/>
          </a:p>
        </p:txBody>
      </p:sp>
      <p:pic>
        <p:nvPicPr>
          <p:cNvPr id="9" name="Picture 8" descr="20150908_094236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011" y="1212212"/>
            <a:ext cx="4127484" cy="3359788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 bwMode="auto">
          <a:xfrm>
            <a:off x="1969476" y="2829952"/>
            <a:ext cx="914400" cy="9144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166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96" t="57506"/>
          <a:stretch/>
        </p:blipFill>
        <p:spPr bwMode="auto">
          <a:xfrm>
            <a:off x="315595" y="1459261"/>
            <a:ext cx="4572002" cy="28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401638" y="298450"/>
            <a:ext cx="7618412" cy="350838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b="1" dirty="0">
                <a:solidFill>
                  <a:srgbClr val="003965"/>
                </a:solidFill>
                <a:latin typeface="Ariel heading"/>
              </a:rPr>
              <a:t>Safe Work Procedures</a:t>
            </a:r>
            <a:r>
              <a:rPr lang="en-US" dirty="0">
                <a:latin typeface="Ariel heading"/>
              </a:rPr>
              <a:t> </a:t>
            </a:r>
            <a:endParaRPr lang="en-SG" dirty="0">
              <a:latin typeface="Ariel heading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799" y="873657"/>
            <a:ext cx="4582798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Comply with Reverse Parking and Horn Before Reversing</a:t>
            </a:r>
            <a:endParaRPr lang="en-US" sz="1600" dirty="0" smtClean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2062" y="4431246"/>
            <a:ext cx="5118598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887597" y="4062213"/>
            <a:ext cx="4123063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Beware of Blind Spot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290255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401638" y="298450"/>
            <a:ext cx="7618412" cy="350838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b="1" dirty="0">
                <a:solidFill>
                  <a:srgbClr val="003965"/>
                </a:solidFill>
                <a:latin typeface="Ariel heading"/>
              </a:rPr>
              <a:t>Safe Work Procedures</a:t>
            </a:r>
            <a:r>
              <a:rPr lang="en-US" dirty="0">
                <a:latin typeface="Ariel heading"/>
              </a:rPr>
              <a:t> </a:t>
            </a:r>
            <a:endParaRPr lang="en-SG" dirty="0">
              <a:latin typeface="Ariel heading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799" y="873657"/>
            <a:ext cx="4582798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Do Not Exceed Load Height Limit</a:t>
            </a:r>
            <a:endParaRPr lang="en-US" sz="16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4957935" y="2667059"/>
            <a:ext cx="4123063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Be Vigilant During Trailer Coupling/Decoupling</a:t>
            </a:r>
            <a:endParaRPr lang="en-US" sz="1600" dirty="0" smtClean="0"/>
          </a:p>
        </p:txBody>
      </p:sp>
      <p:pic>
        <p:nvPicPr>
          <p:cNvPr id="3074" name="Picture 2" descr="C:\Users\ikg\Desktop\Camera Photos\126___01\IMG_993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8" y="1223972"/>
            <a:ext cx="4589085" cy="3176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/>
          <p:cNvCxnSpPr/>
          <p:nvPr/>
        </p:nvCxnSpPr>
        <p:spPr>
          <a:xfrm>
            <a:off x="2596198" y="1652954"/>
            <a:ext cx="17765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4044463" y="1652954"/>
            <a:ext cx="46892" cy="2578536"/>
          </a:xfrm>
          <a:prstGeom prst="straightConnector1">
            <a:avLst/>
          </a:prstGeom>
          <a:ln w="28575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26524" y="2614248"/>
            <a:ext cx="74935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3.2m</a:t>
            </a:r>
            <a:endParaRPr lang="en-SG" dirty="0">
              <a:solidFill>
                <a:srgbClr val="FF0000"/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3" cstate="print"/>
          <a:srcRect l="9602" t="7161" r="9602" b="12200"/>
          <a:stretch>
            <a:fillRect/>
          </a:stretch>
        </p:blipFill>
        <p:spPr bwMode="auto">
          <a:xfrm>
            <a:off x="4957935" y="3251795"/>
            <a:ext cx="4123063" cy="298488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</p:pic>
      <p:sp>
        <p:nvSpPr>
          <p:cNvPr id="15" name="Right Arrow 14"/>
          <p:cNvSpPr/>
          <p:nvPr/>
        </p:nvSpPr>
        <p:spPr>
          <a:xfrm>
            <a:off x="6576646" y="4400767"/>
            <a:ext cx="597877" cy="34346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Right Arrow 17"/>
          <p:cNvSpPr/>
          <p:nvPr/>
        </p:nvSpPr>
        <p:spPr>
          <a:xfrm rot="10800000">
            <a:off x="7649307" y="4400767"/>
            <a:ext cx="597877" cy="34346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107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 Work Procedures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AE2DAD-A299-4E1D-82A2-5F0B3E0C04D6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  <p:pic>
        <p:nvPicPr>
          <p:cNvPr id="3074" name="Picture 2" descr="F:\DCIM\128___03\IMG_04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1458394"/>
            <a:ext cx="4196860" cy="3147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155" y="3286382"/>
            <a:ext cx="4059832" cy="3044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04799" y="873657"/>
            <a:ext cx="4196860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Apply Wooden Choke for Each Coil &amp; Lashing on Front and Rear Coils</a:t>
            </a:r>
            <a:endParaRPr lang="en-US" sz="16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4671155" y="2935685"/>
            <a:ext cx="4059832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Install Rear Support for Coils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4109743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31" t="12974" r="21193" b="8872"/>
          <a:stretch/>
        </p:blipFill>
        <p:spPr bwMode="auto">
          <a:xfrm>
            <a:off x="4829908" y="3178890"/>
            <a:ext cx="4020170" cy="3175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07" t="13179" r="21385" b="9077"/>
          <a:stretch/>
        </p:blipFill>
        <p:spPr bwMode="auto">
          <a:xfrm>
            <a:off x="463094" y="1441939"/>
            <a:ext cx="4199616" cy="317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01638" y="298450"/>
            <a:ext cx="7618412" cy="350838"/>
          </a:xfrm>
        </p:spPr>
        <p:txBody>
          <a:bodyPr>
            <a:noAutofit/>
          </a:bodyPr>
          <a:lstStyle/>
          <a:p>
            <a:pPr algn="l"/>
            <a:r>
              <a:rPr lang="en-US" sz="2200" b="1" dirty="0">
                <a:solidFill>
                  <a:srgbClr val="003965"/>
                </a:solidFill>
                <a:latin typeface="Ariel heading"/>
              </a:rPr>
              <a:t>Safe Work Procedures</a:t>
            </a:r>
            <a:endParaRPr lang="en-SG" sz="2200" b="1" dirty="0">
              <a:solidFill>
                <a:srgbClr val="003965"/>
              </a:solidFill>
              <a:latin typeface="Ariel heading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3094" y="1091660"/>
            <a:ext cx="4199616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Install Rear Stanchion and Lashing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15110" y="2835181"/>
            <a:ext cx="4034968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Secure Lashing Device</a:t>
            </a:r>
            <a:endParaRPr lang="en-US" sz="1600" dirty="0" smtClean="0"/>
          </a:p>
        </p:txBody>
      </p:sp>
      <p:sp>
        <p:nvSpPr>
          <p:cNvPr id="2" name="Rectangular Callout 1"/>
          <p:cNvSpPr/>
          <p:nvPr/>
        </p:nvSpPr>
        <p:spPr>
          <a:xfrm>
            <a:off x="136225" y="4790997"/>
            <a:ext cx="2426677" cy="937846"/>
          </a:xfrm>
          <a:prstGeom prst="wedgeRectCallout">
            <a:avLst>
              <a:gd name="adj1" fmla="val 40037"/>
              <a:gd name="adj2" fmla="val -19875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Stanchions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40Ft Trailer – 4 Each Side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20Ft Trailer – 2 Each Side</a:t>
            </a:r>
            <a:endParaRPr lang="en-SG" sz="1400" dirty="0">
              <a:solidFill>
                <a:schemeClr val="tx1"/>
              </a:solidFill>
            </a:endParaRPr>
          </a:p>
        </p:txBody>
      </p:sp>
      <p:sp>
        <p:nvSpPr>
          <p:cNvPr id="8" name="Rectangular Callout 7"/>
          <p:cNvSpPr/>
          <p:nvPr/>
        </p:nvSpPr>
        <p:spPr>
          <a:xfrm>
            <a:off x="4721062" y="324782"/>
            <a:ext cx="2734815" cy="761998"/>
          </a:xfrm>
          <a:prstGeom prst="wedgeRectCallout">
            <a:avLst>
              <a:gd name="adj1" fmla="val -114409"/>
              <a:gd name="adj2" fmla="val 330193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Lashing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Normal Condition - Minimum 2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Big Diameter Cage – </a:t>
            </a:r>
            <a:r>
              <a:rPr lang="en-US" sz="1400" dirty="0">
                <a:solidFill>
                  <a:schemeClr val="tx1"/>
                </a:solidFill>
              </a:rPr>
              <a:t>Minimum </a:t>
            </a:r>
            <a:r>
              <a:rPr lang="en-US" sz="1400" dirty="0" smtClean="0">
                <a:solidFill>
                  <a:schemeClr val="tx1"/>
                </a:solidFill>
              </a:rPr>
              <a:t>3</a:t>
            </a:r>
            <a:endParaRPr lang="en-SG" sz="1400" dirty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85" t="15026" r="21308" b="8461"/>
          <a:stretch/>
        </p:blipFill>
        <p:spPr bwMode="auto">
          <a:xfrm>
            <a:off x="6405849" y="1168841"/>
            <a:ext cx="2444229" cy="1564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Elbow Connector 6"/>
          <p:cNvCxnSpPr>
            <a:stCxn id="4098" idx="1"/>
            <a:endCxn id="8" idx="2"/>
          </p:cNvCxnSpPr>
          <p:nvPr/>
        </p:nvCxnSpPr>
        <p:spPr>
          <a:xfrm rot="10800000">
            <a:off x="6088471" y="1086781"/>
            <a:ext cx="317379" cy="864359"/>
          </a:xfrm>
          <a:prstGeom prst="bentConnector2">
            <a:avLst/>
          </a:prstGeom>
          <a:ln w="28575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57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138" y="1146922"/>
            <a:ext cx="3595500" cy="27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F:\DCIM\129___04\IMG_068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5167" y="1158645"/>
            <a:ext cx="3600000" cy="27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ikg\Desktop\Camera Photos\113___12\IMG_2020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75" y="3899309"/>
            <a:ext cx="3600163" cy="27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1638" y="298450"/>
            <a:ext cx="7618412" cy="350838"/>
          </a:xfrm>
        </p:spPr>
        <p:txBody>
          <a:bodyPr>
            <a:noAutofit/>
          </a:bodyPr>
          <a:lstStyle/>
          <a:p>
            <a:pPr algn="l"/>
            <a:r>
              <a:rPr lang="en-US" sz="2200" b="1" dirty="0">
                <a:solidFill>
                  <a:srgbClr val="003965"/>
                </a:solidFill>
                <a:latin typeface="Ariel heading"/>
              </a:rPr>
              <a:t>Safe Work Procedures</a:t>
            </a:r>
            <a:endParaRPr lang="en-SG" sz="2200" b="1" dirty="0">
              <a:solidFill>
                <a:srgbClr val="003965"/>
              </a:solidFill>
              <a:latin typeface="Ariel heading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5139" y="796645"/>
            <a:ext cx="8340028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Use Ladder/Movable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8467" y="1135199"/>
            <a:ext cx="3600163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Do Not Climb Like This!!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5" cstate="print"/>
          <a:srcRect l="20942" t="13460" r="20942" b="9681"/>
          <a:stretch>
            <a:fillRect/>
          </a:stretch>
        </p:blipFill>
        <p:spPr bwMode="auto">
          <a:xfrm>
            <a:off x="5115167" y="3909536"/>
            <a:ext cx="3600000" cy="267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9940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03883" y="721131"/>
            <a:ext cx="4196176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Outriggers Should be Fully Extended</a:t>
            </a:r>
          </a:p>
        </p:txBody>
      </p:sp>
      <p:pic>
        <p:nvPicPr>
          <p:cNvPr id="6" name="Picture 5" descr="C:\Users\ikg\Desktop\Camera Photos\122___09\IMG_9337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83" y="1059685"/>
            <a:ext cx="4198724" cy="314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01638" y="298450"/>
            <a:ext cx="7618412" cy="350838"/>
          </a:xfrm>
        </p:spPr>
        <p:txBody>
          <a:bodyPr>
            <a:noAutofit/>
          </a:bodyPr>
          <a:lstStyle/>
          <a:p>
            <a:pPr algn="l"/>
            <a:r>
              <a:rPr lang="en-US" sz="2200" b="1" dirty="0">
                <a:solidFill>
                  <a:srgbClr val="003965"/>
                </a:solidFill>
                <a:latin typeface="Ariel heading"/>
              </a:rPr>
              <a:t>Safe Work Procedures</a:t>
            </a:r>
            <a:endParaRPr lang="en-SG" sz="2200" b="1" dirty="0">
              <a:solidFill>
                <a:srgbClr val="003965"/>
              </a:solidFill>
              <a:latin typeface="Ariel heading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30116" t="24800" r="30194" b="21020"/>
          <a:stretch>
            <a:fillRect/>
          </a:stretch>
        </p:blipFill>
        <p:spPr bwMode="auto">
          <a:xfrm>
            <a:off x="4691486" y="3259313"/>
            <a:ext cx="4252548" cy="3106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4691486" y="2910749"/>
            <a:ext cx="4252548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Eliminate Dangerous Lifting Activities</a:t>
            </a:r>
          </a:p>
        </p:txBody>
      </p:sp>
    </p:spTree>
    <p:extLst>
      <p:ext uri="{BB962C8B-B14F-4D97-AF65-F5344CB8AC3E}">
        <p14:creationId xmlns:p14="http://schemas.microsoft.com/office/powerpoint/2010/main" val="87994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 l="20942" t="13460" r="21650" b="9681"/>
          <a:stretch>
            <a:fillRect/>
          </a:stretch>
        </p:blipFill>
        <p:spPr bwMode="auto">
          <a:xfrm>
            <a:off x="664193" y="1082696"/>
            <a:ext cx="3591284" cy="2704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64193" y="721131"/>
            <a:ext cx="7816180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Lifting Gears Must Have Valid MOM Certification</a:t>
            </a:r>
            <a:endParaRPr lang="en-US" sz="1600" dirty="0" smtClean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01638" y="298450"/>
            <a:ext cx="7618412" cy="350838"/>
          </a:xfrm>
        </p:spPr>
        <p:txBody>
          <a:bodyPr>
            <a:noAutofit/>
          </a:bodyPr>
          <a:lstStyle/>
          <a:p>
            <a:pPr algn="l"/>
            <a:r>
              <a:rPr lang="en-US" sz="2200" b="1" dirty="0">
                <a:solidFill>
                  <a:srgbClr val="003965"/>
                </a:solidFill>
                <a:latin typeface="Ariel heading"/>
              </a:rPr>
              <a:t>Safe Work Procedures</a:t>
            </a:r>
            <a:endParaRPr lang="en-SG" sz="2200" b="1" dirty="0">
              <a:solidFill>
                <a:srgbClr val="003965"/>
              </a:solidFill>
              <a:latin typeface="Ariel heading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15" t="13590" r="21308" b="9282"/>
          <a:stretch/>
        </p:blipFill>
        <p:spPr bwMode="auto">
          <a:xfrm>
            <a:off x="4736612" y="1059686"/>
            <a:ext cx="3619818" cy="2727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07" t="13590" r="20692" b="9282"/>
          <a:stretch/>
        </p:blipFill>
        <p:spPr bwMode="auto">
          <a:xfrm>
            <a:off x="2836174" y="3880636"/>
            <a:ext cx="3883404" cy="28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ular Callout 1"/>
          <p:cNvSpPr/>
          <p:nvPr/>
        </p:nvSpPr>
        <p:spPr>
          <a:xfrm>
            <a:off x="7254461" y="1082696"/>
            <a:ext cx="1748862" cy="770511"/>
          </a:xfrm>
          <a:prstGeom prst="wedgeRectCallout">
            <a:avLst>
              <a:gd name="adj1" fmla="val -79170"/>
              <a:gd name="adj2" fmla="val 138573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Do Not Bypass Safety Devices</a:t>
            </a:r>
            <a:endParaRPr lang="en-SG" sz="1400" dirty="0">
              <a:solidFill>
                <a:schemeClr val="tx1"/>
              </a:solidFill>
            </a:endParaRPr>
          </a:p>
        </p:txBody>
      </p:sp>
      <p:sp>
        <p:nvSpPr>
          <p:cNvPr id="11" name="Rectangular Callout 10"/>
          <p:cNvSpPr/>
          <p:nvPr/>
        </p:nvSpPr>
        <p:spPr>
          <a:xfrm>
            <a:off x="128954" y="3880636"/>
            <a:ext cx="2330881" cy="385255"/>
          </a:xfrm>
          <a:prstGeom prst="wedgeRectCallout">
            <a:avLst>
              <a:gd name="adj1" fmla="val 55219"/>
              <a:gd name="adj2" fmla="val -474579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Do Not Use Self made Hooks</a:t>
            </a:r>
            <a:endParaRPr lang="en-SG" sz="1400" dirty="0">
              <a:solidFill>
                <a:schemeClr val="tx1"/>
              </a:solidFill>
            </a:endParaRPr>
          </a:p>
        </p:txBody>
      </p:sp>
      <p:sp>
        <p:nvSpPr>
          <p:cNvPr id="12" name="Rectangular Callout 11"/>
          <p:cNvSpPr/>
          <p:nvPr/>
        </p:nvSpPr>
        <p:spPr>
          <a:xfrm>
            <a:off x="6881446" y="4423773"/>
            <a:ext cx="2028093" cy="770511"/>
          </a:xfrm>
          <a:prstGeom prst="wedgeRectCallout">
            <a:avLst>
              <a:gd name="adj1" fmla="val -112909"/>
              <a:gd name="adj2" fmla="val 20095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Do Not Use Damaged Lifting Gears</a:t>
            </a:r>
            <a:endParaRPr lang="en-SG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851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el heading"/>
              </a:rPr>
              <a:t>Safe Work Procedures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09013" y="6420328"/>
            <a:ext cx="123825" cy="122237"/>
          </a:xfrm>
        </p:spPr>
        <p:txBody>
          <a:bodyPr/>
          <a:lstStyle/>
          <a:p>
            <a:pPr>
              <a:defRPr/>
            </a:pPr>
            <a:fld id="{E0AE2DAD-A299-4E1D-82A2-5F0B3E0C04D6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236518" y="1142563"/>
            <a:ext cx="2855276" cy="33855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SG" sz="1600" dirty="0" smtClean="0"/>
              <a:t>Damaged Side </a:t>
            </a:r>
            <a:r>
              <a:rPr lang="en-SG" sz="1600" dirty="0"/>
              <a:t>G</a:t>
            </a:r>
            <a:r>
              <a:rPr lang="en-SG" sz="1600" dirty="0" smtClean="0"/>
              <a:t>uards </a:t>
            </a:r>
            <a:endParaRPr lang="en-SG" sz="1600" dirty="0"/>
          </a:p>
        </p:txBody>
      </p:sp>
      <p:sp>
        <p:nvSpPr>
          <p:cNvPr id="6" name="Rectangle 5"/>
          <p:cNvSpPr/>
          <p:nvPr/>
        </p:nvSpPr>
        <p:spPr>
          <a:xfrm>
            <a:off x="3293716" y="1151952"/>
            <a:ext cx="2881415" cy="33855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SG" sz="1600" dirty="0" smtClean="0"/>
              <a:t>Damaged Lights</a:t>
            </a:r>
            <a:endParaRPr lang="en-SG" sz="1600" dirty="0"/>
          </a:p>
        </p:txBody>
      </p:sp>
      <p:sp>
        <p:nvSpPr>
          <p:cNvPr id="7" name="Rectangle 6"/>
          <p:cNvSpPr/>
          <p:nvPr/>
        </p:nvSpPr>
        <p:spPr>
          <a:xfrm>
            <a:off x="6408992" y="1154502"/>
            <a:ext cx="2538884" cy="33855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SG" sz="1600" dirty="0"/>
              <a:t>Damaged </a:t>
            </a:r>
            <a:r>
              <a:rPr lang="en-SG" sz="1600" dirty="0" smtClean="0"/>
              <a:t>Doors</a:t>
            </a:r>
            <a:endParaRPr lang="en-SG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7" t="13594" r="20952" b="8603"/>
          <a:stretch/>
        </p:blipFill>
        <p:spPr bwMode="auto">
          <a:xfrm>
            <a:off x="236517" y="1503212"/>
            <a:ext cx="2855276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8" t="13226" r="20728" b="9180"/>
          <a:stretch/>
        </p:blipFill>
        <p:spPr bwMode="auto">
          <a:xfrm>
            <a:off x="3293716" y="1524324"/>
            <a:ext cx="2881416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0" t="13226" r="20728" b="9180"/>
          <a:stretch/>
        </p:blipFill>
        <p:spPr bwMode="auto">
          <a:xfrm>
            <a:off x="6408992" y="1523402"/>
            <a:ext cx="2538884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own Arrow 2"/>
          <p:cNvSpPr/>
          <p:nvPr/>
        </p:nvSpPr>
        <p:spPr bwMode="auto">
          <a:xfrm>
            <a:off x="867508" y="2026680"/>
            <a:ext cx="308472" cy="661012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040362" y="2169897"/>
            <a:ext cx="1255928" cy="124490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6816616" y="1547281"/>
            <a:ext cx="1468517" cy="1658384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28" name="Picture 8"/>
          <p:cNvPicPr>
            <a:picLocks noChangeAspect="1" noChangeArrowheads="1"/>
          </p:cNvPicPr>
          <p:nvPr/>
        </p:nvPicPr>
        <p:blipFill>
          <a:blip r:embed="rId5" cstate="print"/>
          <a:srcRect l="20942" t="13460" r="20942" b="9681"/>
          <a:stretch>
            <a:fillRect/>
          </a:stretch>
        </p:blipFill>
        <p:spPr bwMode="auto">
          <a:xfrm>
            <a:off x="3293716" y="4155321"/>
            <a:ext cx="2881416" cy="21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10"/>
          <p:cNvPicPr>
            <a:picLocks noChangeAspect="1" noChangeArrowheads="1"/>
          </p:cNvPicPr>
          <p:nvPr/>
        </p:nvPicPr>
        <p:blipFill>
          <a:blip r:embed="rId6" cstate="print"/>
          <a:srcRect l="20592" t="13460" r="20942" b="8421"/>
          <a:stretch>
            <a:fillRect/>
          </a:stretch>
        </p:blipFill>
        <p:spPr bwMode="auto">
          <a:xfrm>
            <a:off x="236515" y="4155321"/>
            <a:ext cx="2855277" cy="21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Down Arrow 29"/>
          <p:cNvSpPr/>
          <p:nvPr/>
        </p:nvSpPr>
        <p:spPr bwMode="auto">
          <a:xfrm rot="7318825">
            <a:off x="2307776" y="5357958"/>
            <a:ext cx="308472" cy="661012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1" name="Down Arrow 30"/>
          <p:cNvSpPr/>
          <p:nvPr/>
        </p:nvSpPr>
        <p:spPr bwMode="auto">
          <a:xfrm rot="19242883">
            <a:off x="4294470" y="4904816"/>
            <a:ext cx="308472" cy="661012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36518" y="3785608"/>
            <a:ext cx="2855276" cy="33855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SG" sz="1600" dirty="0" smtClean="0"/>
              <a:t>Damaged Landing Leg</a:t>
            </a:r>
            <a:endParaRPr lang="en-SG" sz="1600" dirty="0"/>
          </a:p>
        </p:txBody>
      </p:sp>
      <p:sp>
        <p:nvSpPr>
          <p:cNvPr id="34" name="Rectangle 33"/>
          <p:cNvSpPr/>
          <p:nvPr/>
        </p:nvSpPr>
        <p:spPr>
          <a:xfrm>
            <a:off x="3293716" y="3791430"/>
            <a:ext cx="2876109" cy="33855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SG" sz="1600" dirty="0" smtClean="0"/>
              <a:t>Damaged Trailer Board</a:t>
            </a:r>
            <a:endParaRPr lang="en-SG" sz="1600" dirty="0"/>
          </a:p>
        </p:txBody>
      </p:sp>
      <p:sp>
        <p:nvSpPr>
          <p:cNvPr id="35" name="Rectangle 34"/>
          <p:cNvSpPr/>
          <p:nvPr/>
        </p:nvSpPr>
        <p:spPr>
          <a:xfrm>
            <a:off x="6408992" y="3795638"/>
            <a:ext cx="2538884" cy="33855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SG" sz="1600" dirty="0" smtClean="0"/>
              <a:t>Damaged </a:t>
            </a:r>
            <a:r>
              <a:rPr lang="en-SG" sz="1600" dirty="0" smtClean="0"/>
              <a:t>Lashing</a:t>
            </a:r>
            <a:endParaRPr lang="en-SG" sz="1600" dirty="0"/>
          </a:p>
        </p:txBody>
      </p:sp>
      <p:pic>
        <p:nvPicPr>
          <p:cNvPr id="22" name="Picture 2" descr="F:\DCIM\128___03\IMG_0459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993" y="4163390"/>
            <a:ext cx="2538884" cy="2151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Oval 23"/>
          <p:cNvSpPr/>
          <p:nvPr/>
        </p:nvSpPr>
        <p:spPr bwMode="auto">
          <a:xfrm>
            <a:off x="7236892" y="5338424"/>
            <a:ext cx="627964" cy="500741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36514" y="744465"/>
            <a:ext cx="8711361" cy="33855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dirty="0" smtClean="0"/>
              <a:t>Do Not Use Damaged Vehicle/Trailer/Lashing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3871162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el heading"/>
              </a:rPr>
              <a:t>Safe Work Procedures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AE2DAD-A299-4E1D-82A2-5F0B3E0C04D6}" type="slidenum">
              <a:rPr lang="en-GB" smtClean="0"/>
              <a:pPr>
                <a:defRPr/>
              </a:pPr>
              <a:t>21</a:t>
            </a:fld>
            <a:endParaRPr lang="en-GB" dirty="0"/>
          </a:p>
        </p:txBody>
      </p:sp>
      <p:pic>
        <p:nvPicPr>
          <p:cNvPr id="4099" name="Picture 3" descr="F:\DCIM\129___04\20160415_11032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585" y="1084384"/>
            <a:ext cx="4103077" cy="2561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9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85" t="13384" r="20731" b="9077"/>
          <a:stretch/>
        </p:blipFill>
        <p:spPr bwMode="auto">
          <a:xfrm>
            <a:off x="4854485" y="1084384"/>
            <a:ext cx="3855238" cy="2561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98585" y="740130"/>
            <a:ext cx="4103077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Be Vigilant and Hold Handrail </a:t>
            </a:r>
            <a:endParaRPr lang="en-US" sz="1600" dirty="0" smtClean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3" name="Rectangular Callout 2"/>
          <p:cNvSpPr/>
          <p:nvPr/>
        </p:nvSpPr>
        <p:spPr bwMode="auto">
          <a:xfrm>
            <a:off x="398584" y="3033228"/>
            <a:ext cx="3962401" cy="306324"/>
          </a:xfrm>
          <a:prstGeom prst="wedgeRectCallout">
            <a:avLst>
              <a:gd name="adj1" fmla="val -18109"/>
              <a:gd name="adj2" fmla="val -260883"/>
            </a:avLst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Beware! Gap</a:t>
            </a:r>
            <a:r>
              <a:rPr lang="en-US" sz="1400" dirty="0" smtClean="0"/>
              <a:t> in Between Truck and Platform</a:t>
            </a:r>
            <a:endParaRPr kumimoji="0" lang="en-SG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54486" y="745830"/>
            <a:ext cx="3855238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Keep Clear of Scrap Piles</a:t>
            </a:r>
            <a:endParaRPr lang="en-US" sz="1600" dirty="0" smtClean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7" name="Right Arrow 6"/>
          <p:cNvSpPr/>
          <p:nvPr/>
        </p:nvSpPr>
        <p:spPr bwMode="auto">
          <a:xfrm rot="2583460">
            <a:off x="6275247" y="1845217"/>
            <a:ext cx="375138" cy="430822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SG"/>
          </a:p>
        </p:txBody>
      </p:sp>
      <p:pic>
        <p:nvPicPr>
          <p:cNvPr id="1025" name="Picture 1" descr="Picture 4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585" y="4079631"/>
            <a:ext cx="4074073" cy="266061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2672862" y="3741238"/>
            <a:ext cx="4103077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Use Tagline to Open Door</a:t>
            </a:r>
            <a:endParaRPr lang="en-US" sz="1600" dirty="0" smtClean="0">
              <a:solidFill>
                <a:prstClr val="black"/>
              </a:solidFill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546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131457"/>
            <a:ext cx="3251200" cy="2438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907" y="1142472"/>
            <a:ext cx="3251200" cy="2438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4077072"/>
            <a:ext cx="3251200" cy="2438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4077072"/>
            <a:ext cx="3251200" cy="2438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5535" y="773848"/>
            <a:ext cx="8152571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Do Not Overload Scrap Truck</a:t>
            </a:r>
            <a:endParaRPr lang="en-SG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0" name="Left Arrow 9"/>
          <p:cNvSpPr/>
          <p:nvPr/>
        </p:nvSpPr>
        <p:spPr>
          <a:xfrm rot="20012647">
            <a:off x="2123728" y="1356827"/>
            <a:ext cx="432048" cy="36004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SG" b="0">
              <a:solidFill>
                <a:prstClr val="white"/>
              </a:solidFill>
            </a:endParaRPr>
          </a:p>
        </p:txBody>
      </p:sp>
      <p:sp>
        <p:nvSpPr>
          <p:cNvPr id="11" name="Left Arrow 10"/>
          <p:cNvSpPr/>
          <p:nvPr/>
        </p:nvSpPr>
        <p:spPr>
          <a:xfrm rot="20012647">
            <a:off x="1524768" y="4586508"/>
            <a:ext cx="432048" cy="36004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SG" b="0">
              <a:solidFill>
                <a:prstClr val="white"/>
              </a:solidFill>
            </a:endParaRPr>
          </a:p>
        </p:txBody>
      </p:sp>
      <p:sp>
        <p:nvSpPr>
          <p:cNvPr id="12" name="Left Arrow 11"/>
          <p:cNvSpPr/>
          <p:nvPr/>
        </p:nvSpPr>
        <p:spPr>
          <a:xfrm rot="16921796">
            <a:off x="7428714" y="4979830"/>
            <a:ext cx="432048" cy="36004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SG" b="0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5536" y="3707740"/>
            <a:ext cx="8147744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Do Not Use Damaged Bin</a:t>
            </a:r>
            <a:endParaRPr lang="en-SG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4" name="Left Arrow 13"/>
          <p:cNvSpPr/>
          <p:nvPr/>
        </p:nvSpPr>
        <p:spPr>
          <a:xfrm rot="13989727">
            <a:off x="6613666" y="1380241"/>
            <a:ext cx="432048" cy="36004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SG" b="0">
              <a:solidFill>
                <a:prstClr val="white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401638" y="298450"/>
            <a:ext cx="7618412" cy="3508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dirty="0">
                <a:solidFill>
                  <a:srgbClr val="003965"/>
                </a:solidFill>
                <a:latin typeface="Ariel heading"/>
              </a:rPr>
              <a:t>Safe Work Procedures</a:t>
            </a:r>
            <a:endParaRPr lang="en-SG" sz="2200" dirty="0"/>
          </a:p>
        </p:txBody>
      </p:sp>
    </p:spTree>
    <p:extLst>
      <p:ext uri="{BB962C8B-B14F-4D97-AF65-F5344CB8AC3E}">
        <p14:creationId xmlns:p14="http://schemas.microsoft.com/office/powerpoint/2010/main" val="362375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ikg\Desktop\Camera Photos\127___02\IMG_015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37" y="1104897"/>
            <a:ext cx="3640707" cy="273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ikg\Desktop\Camera Photos\109___07\IMG_138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9667" y="1104331"/>
            <a:ext cx="3641625" cy="273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7" t="13179" r="20962" b="8256"/>
          <a:stretch/>
        </p:blipFill>
        <p:spPr bwMode="auto">
          <a:xfrm>
            <a:off x="2734474" y="3882319"/>
            <a:ext cx="3777338" cy="28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01638" y="298450"/>
            <a:ext cx="7618412" cy="3508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dirty="0">
                <a:solidFill>
                  <a:srgbClr val="003965"/>
                </a:solidFill>
                <a:latin typeface="Ariel heading"/>
              </a:rPr>
              <a:t>Safe Work Procedures</a:t>
            </a:r>
            <a:endParaRPr lang="en-SG" sz="2200" dirty="0"/>
          </a:p>
        </p:txBody>
      </p:sp>
      <p:sp>
        <p:nvSpPr>
          <p:cNvPr id="6" name="TextBox 5"/>
          <p:cNvSpPr txBox="1"/>
          <p:nvPr/>
        </p:nvSpPr>
        <p:spPr>
          <a:xfrm>
            <a:off x="617565" y="773848"/>
            <a:ext cx="8011155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Do Not Engage with </a:t>
            </a:r>
            <a:r>
              <a:rPr lang="en-US" sz="1600" dirty="0" smtClean="0">
                <a:solidFill>
                  <a:prstClr val="black"/>
                </a:solidFill>
                <a:latin typeface="Calibri"/>
              </a:rPr>
              <a:t>Unstable 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Loads</a:t>
            </a:r>
            <a:endParaRPr lang="en-SG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3876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20150119_13232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08" y="1184030"/>
            <a:ext cx="4009292" cy="2340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20150130_11504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6460" y="1184029"/>
            <a:ext cx="3994659" cy="2340739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 l="13429" t="7813" b="16410"/>
          <a:stretch>
            <a:fillRect/>
          </a:stretch>
        </p:blipFill>
        <p:spPr bwMode="auto">
          <a:xfrm>
            <a:off x="386170" y="3704492"/>
            <a:ext cx="4033430" cy="2579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/>
          <a:srcRect l="9706" t="16136" r="1924" b="15575"/>
          <a:stretch>
            <a:fillRect/>
          </a:stretch>
        </p:blipFill>
        <p:spPr bwMode="auto">
          <a:xfrm>
            <a:off x="4806461" y="3704492"/>
            <a:ext cx="3994659" cy="2538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401638" y="298450"/>
            <a:ext cx="7618412" cy="3508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dirty="0">
                <a:solidFill>
                  <a:srgbClr val="003965"/>
                </a:solidFill>
                <a:latin typeface="Ariel heading"/>
              </a:rPr>
              <a:t>Safe Work Procedures</a:t>
            </a:r>
            <a:endParaRPr lang="en-SG" sz="2200" dirty="0"/>
          </a:p>
        </p:txBody>
      </p:sp>
      <p:sp>
        <p:nvSpPr>
          <p:cNvPr id="9" name="TextBox 8"/>
          <p:cNvSpPr txBox="1"/>
          <p:nvPr/>
        </p:nvSpPr>
        <p:spPr>
          <a:xfrm>
            <a:off x="386170" y="773848"/>
            <a:ext cx="8414949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Strictly Comply Safe Work Procedures to Eliminate Incidents</a:t>
            </a:r>
            <a:endParaRPr lang="en-SG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703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NSH Consequence Management System </a:t>
            </a:r>
            <a:endParaRPr lang="en-SG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99627"/>
            <a:ext cx="4032738" cy="2248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48543"/>
            <a:ext cx="4032738" cy="1625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738" y="3737139"/>
            <a:ext cx="5029200" cy="2572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61133"/>
            <a:ext cx="4618892" cy="1784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893" y="661133"/>
            <a:ext cx="4525107" cy="1871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373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AE2DAD-A299-4E1D-82A2-5F0B3E0C04D6}" type="slidenum">
              <a:rPr lang="en-GB" smtClean="0"/>
              <a:pPr>
                <a:defRPr/>
              </a:pPr>
              <a:t>26</a:t>
            </a:fld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1201652" y="1983036"/>
            <a:ext cx="669125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tx2">
                    <a:lumMod val="50000"/>
                  </a:schemeClr>
                </a:solidFill>
              </a:rPr>
              <a:t>Thank </a:t>
            </a:r>
            <a:r>
              <a:rPr lang="en-US" sz="3200" dirty="0" smtClean="0">
                <a:solidFill>
                  <a:schemeClr val="tx2">
                    <a:lumMod val="50000"/>
                  </a:schemeClr>
                </a:solidFill>
              </a:rPr>
              <a:t>you for your kind </a:t>
            </a:r>
            <a:r>
              <a:rPr lang="en-US" sz="3200" dirty="0" smtClean="0">
                <a:solidFill>
                  <a:schemeClr val="tx2">
                    <a:lumMod val="50000"/>
                  </a:schemeClr>
                </a:solidFill>
              </a:rPr>
              <a:t>attention</a:t>
            </a:r>
            <a:endParaRPr lang="en-SG" sz="3200" dirty="0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endParaRPr lang="en-US" sz="3200" dirty="0" smtClean="0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r>
              <a:rPr lang="en-US" sz="3200" dirty="0" smtClean="0">
                <a:solidFill>
                  <a:schemeClr val="tx2">
                    <a:lumMod val="50000"/>
                  </a:schemeClr>
                </a:solidFill>
              </a:rPr>
              <a:t>Follow Safe Work Procedures </a:t>
            </a:r>
          </a:p>
          <a:p>
            <a:pPr algn="ctr"/>
            <a:r>
              <a:rPr lang="en-US" sz="3200" dirty="0" smtClean="0">
                <a:solidFill>
                  <a:schemeClr val="tx2">
                    <a:lumMod val="50000"/>
                  </a:schemeClr>
                </a:solidFill>
              </a:rPr>
              <a:t>&amp; </a:t>
            </a:r>
          </a:p>
          <a:p>
            <a:pPr algn="ctr"/>
            <a:r>
              <a:rPr lang="en-US" sz="3200" dirty="0" smtClean="0">
                <a:solidFill>
                  <a:schemeClr val="tx2">
                    <a:lumMod val="50000"/>
                  </a:schemeClr>
                </a:solidFill>
              </a:rPr>
              <a:t>Go Home Safely</a:t>
            </a:r>
            <a:endParaRPr lang="en-SG" sz="32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ata_Steel_template">
  <a:themeElements>
    <a:clrScheme name="Tata_Steel_template 2">
      <a:dk1>
        <a:srgbClr val="000000"/>
      </a:dk1>
      <a:lt1>
        <a:srgbClr val="FFFFFF"/>
      </a:lt1>
      <a:dk2>
        <a:srgbClr val="3D7EDB"/>
      </a:dk2>
      <a:lt2>
        <a:srgbClr val="999999"/>
      </a:lt2>
      <a:accent1>
        <a:srgbClr val="002B45"/>
      </a:accent1>
      <a:accent2>
        <a:srgbClr val="0083A9"/>
      </a:accent2>
      <a:accent3>
        <a:srgbClr val="FFFFFF"/>
      </a:accent3>
      <a:accent4>
        <a:srgbClr val="000000"/>
      </a:accent4>
      <a:accent5>
        <a:srgbClr val="AAACB0"/>
      </a:accent5>
      <a:accent6>
        <a:srgbClr val="007699"/>
      </a:accent6>
      <a:hlink>
        <a:srgbClr val="009900"/>
      </a:hlink>
      <a:folHlink>
        <a:srgbClr val="FF0000"/>
      </a:folHlink>
    </a:clrScheme>
    <a:fontScheme name="Tata_Steel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ata_Steel_template 1">
        <a:dk1>
          <a:srgbClr val="000000"/>
        </a:dk1>
        <a:lt1>
          <a:srgbClr val="FFFFFF"/>
        </a:lt1>
        <a:dk2>
          <a:srgbClr val="4C83C3"/>
        </a:dk2>
        <a:lt2>
          <a:srgbClr val="999999"/>
        </a:lt2>
        <a:accent1>
          <a:srgbClr val="002B45"/>
        </a:accent1>
        <a:accent2>
          <a:srgbClr val="0083A9"/>
        </a:accent2>
        <a:accent3>
          <a:srgbClr val="FFFFFF"/>
        </a:accent3>
        <a:accent4>
          <a:srgbClr val="000000"/>
        </a:accent4>
        <a:accent5>
          <a:srgbClr val="AAACB0"/>
        </a:accent5>
        <a:accent6>
          <a:srgbClr val="007699"/>
        </a:accent6>
        <a:hlink>
          <a:srgbClr val="0099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ta_Steel_template 2">
        <a:dk1>
          <a:srgbClr val="000000"/>
        </a:dk1>
        <a:lt1>
          <a:srgbClr val="FFFFFF"/>
        </a:lt1>
        <a:dk2>
          <a:srgbClr val="3D7EDB"/>
        </a:dk2>
        <a:lt2>
          <a:srgbClr val="999999"/>
        </a:lt2>
        <a:accent1>
          <a:srgbClr val="002B45"/>
        </a:accent1>
        <a:accent2>
          <a:srgbClr val="0083A9"/>
        </a:accent2>
        <a:accent3>
          <a:srgbClr val="FFFFFF"/>
        </a:accent3>
        <a:accent4>
          <a:srgbClr val="000000"/>
        </a:accent4>
        <a:accent5>
          <a:srgbClr val="AAACB0"/>
        </a:accent5>
        <a:accent6>
          <a:srgbClr val="007699"/>
        </a:accent6>
        <a:hlink>
          <a:srgbClr val="0099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Tata_Steel_template">
  <a:themeElements>
    <a:clrScheme name="Tata_Steel_template 2">
      <a:dk1>
        <a:srgbClr val="000000"/>
      </a:dk1>
      <a:lt1>
        <a:srgbClr val="FFFFFF"/>
      </a:lt1>
      <a:dk2>
        <a:srgbClr val="3D7EDB"/>
      </a:dk2>
      <a:lt2>
        <a:srgbClr val="999999"/>
      </a:lt2>
      <a:accent1>
        <a:srgbClr val="002B45"/>
      </a:accent1>
      <a:accent2>
        <a:srgbClr val="0083A9"/>
      </a:accent2>
      <a:accent3>
        <a:srgbClr val="FFFFFF"/>
      </a:accent3>
      <a:accent4>
        <a:srgbClr val="000000"/>
      </a:accent4>
      <a:accent5>
        <a:srgbClr val="AAACB0"/>
      </a:accent5>
      <a:accent6>
        <a:srgbClr val="007699"/>
      </a:accent6>
      <a:hlink>
        <a:srgbClr val="009900"/>
      </a:hlink>
      <a:folHlink>
        <a:srgbClr val="FF0000"/>
      </a:folHlink>
    </a:clrScheme>
    <a:fontScheme name="Tata_Steel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ata_Steel_template 1">
        <a:dk1>
          <a:srgbClr val="000000"/>
        </a:dk1>
        <a:lt1>
          <a:srgbClr val="FFFFFF"/>
        </a:lt1>
        <a:dk2>
          <a:srgbClr val="4C83C3"/>
        </a:dk2>
        <a:lt2>
          <a:srgbClr val="999999"/>
        </a:lt2>
        <a:accent1>
          <a:srgbClr val="002B45"/>
        </a:accent1>
        <a:accent2>
          <a:srgbClr val="0083A9"/>
        </a:accent2>
        <a:accent3>
          <a:srgbClr val="FFFFFF"/>
        </a:accent3>
        <a:accent4>
          <a:srgbClr val="000000"/>
        </a:accent4>
        <a:accent5>
          <a:srgbClr val="AAACB0"/>
        </a:accent5>
        <a:accent6>
          <a:srgbClr val="007699"/>
        </a:accent6>
        <a:hlink>
          <a:srgbClr val="0099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ta_Steel_template 2">
        <a:dk1>
          <a:srgbClr val="000000"/>
        </a:dk1>
        <a:lt1>
          <a:srgbClr val="FFFFFF"/>
        </a:lt1>
        <a:dk2>
          <a:srgbClr val="3D7EDB"/>
        </a:dk2>
        <a:lt2>
          <a:srgbClr val="999999"/>
        </a:lt2>
        <a:accent1>
          <a:srgbClr val="002B45"/>
        </a:accent1>
        <a:accent2>
          <a:srgbClr val="0083A9"/>
        </a:accent2>
        <a:accent3>
          <a:srgbClr val="FFFFFF"/>
        </a:accent3>
        <a:accent4>
          <a:srgbClr val="000000"/>
        </a:accent4>
        <a:accent5>
          <a:srgbClr val="AAACB0"/>
        </a:accent5>
        <a:accent6>
          <a:srgbClr val="007699"/>
        </a:accent6>
        <a:hlink>
          <a:srgbClr val="0099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Tata_Steel_template">
  <a:themeElements>
    <a:clrScheme name="Tata_Steel_template 2">
      <a:dk1>
        <a:srgbClr val="000000"/>
      </a:dk1>
      <a:lt1>
        <a:srgbClr val="FFFFFF"/>
      </a:lt1>
      <a:dk2>
        <a:srgbClr val="3D7EDB"/>
      </a:dk2>
      <a:lt2>
        <a:srgbClr val="999999"/>
      </a:lt2>
      <a:accent1>
        <a:srgbClr val="002B45"/>
      </a:accent1>
      <a:accent2>
        <a:srgbClr val="0083A9"/>
      </a:accent2>
      <a:accent3>
        <a:srgbClr val="FFFFFF"/>
      </a:accent3>
      <a:accent4>
        <a:srgbClr val="000000"/>
      </a:accent4>
      <a:accent5>
        <a:srgbClr val="AAACB0"/>
      </a:accent5>
      <a:accent6>
        <a:srgbClr val="007699"/>
      </a:accent6>
      <a:hlink>
        <a:srgbClr val="009900"/>
      </a:hlink>
      <a:folHlink>
        <a:srgbClr val="FF0000"/>
      </a:folHlink>
    </a:clrScheme>
    <a:fontScheme name="Tata_Steel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ata_Steel_template 1">
        <a:dk1>
          <a:srgbClr val="000000"/>
        </a:dk1>
        <a:lt1>
          <a:srgbClr val="FFFFFF"/>
        </a:lt1>
        <a:dk2>
          <a:srgbClr val="4C83C3"/>
        </a:dk2>
        <a:lt2>
          <a:srgbClr val="999999"/>
        </a:lt2>
        <a:accent1>
          <a:srgbClr val="002B45"/>
        </a:accent1>
        <a:accent2>
          <a:srgbClr val="0083A9"/>
        </a:accent2>
        <a:accent3>
          <a:srgbClr val="FFFFFF"/>
        </a:accent3>
        <a:accent4>
          <a:srgbClr val="000000"/>
        </a:accent4>
        <a:accent5>
          <a:srgbClr val="AAACB0"/>
        </a:accent5>
        <a:accent6>
          <a:srgbClr val="007699"/>
        </a:accent6>
        <a:hlink>
          <a:srgbClr val="0099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ta_Steel_template 2">
        <a:dk1>
          <a:srgbClr val="000000"/>
        </a:dk1>
        <a:lt1>
          <a:srgbClr val="FFFFFF"/>
        </a:lt1>
        <a:dk2>
          <a:srgbClr val="3D7EDB"/>
        </a:dk2>
        <a:lt2>
          <a:srgbClr val="999999"/>
        </a:lt2>
        <a:accent1>
          <a:srgbClr val="002B45"/>
        </a:accent1>
        <a:accent2>
          <a:srgbClr val="0083A9"/>
        </a:accent2>
        <a:accent3>
          <a:srgbClr val="FFFFFF"/>
        </a:accent3>
        <a:accent4>
          <a:srgbClr val="000000"/>
        </a:accent4>
        <a:accent5>
          <a:srgbClr val="AAACB0"/>
        </a:accent5>
        <a:accent6>
          <a:srgbClr val="007699"/>
        </a:accent6>
        <a:hlink>
          <a:srgbClr val="0099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Tata_Steel_template">
  <a:themeElements>
    <a:clrScheme name="Tata_Steel_template 2">
      <a:dk1>
        <a:srgbClr val="000000"/>
      </a:dk1>
      <a:lt1>
        <a:srgbClr val="FFFFFF"/>
      </a:lt1>
      <a:dk2>
        <a:srgbClr val="3D7EDB"/>
      </a:dk2>
      <a:lt2>
        <a:srgbClr val="999999"/>
      </a:lt2>
      <a:accent1>
        <a:srgbClr val="002B45"/>
      </a:accent1>
      <a:accent2>
        <a:srgbClr val="0083A9"/>
      </a:accent2>
      <a:accent3>
        <a:srgbClr val="FFFFFF"/>
      </a:accent3>
      <a:accent4>
        <a:srgbClr val="000000"/>
      </a:accent4>
      <a:accent5>
        <a:srgbClr val="AAACB0"/>
      </a:accent5>
      <a:accent6>
        <a:srgbClr val="007699"/>
      </a:accent6>
      <a:hlink>
        <a:srgbClr val="009900"/>
      </a:hlink>
      <a:folHlink>
        <a:srgbClr val="FF0000"/>
      </a:folHlink>
    </a:clrScheme>
    <a:fontScheme name="Tata_Steel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ata_Steel_template 1">
        <a:dk1>
          <a:srgbClr val="000000"/>
        </a:dk1>
        <a:lt1>
          <a:srgbClr val="FFFFFF"/>
        </a:lt1>
        <a:dk2>
          <a:srgbClr val="4C83C3"/>
        </a:dk2>
        <a:lt2>
          <a:srgbClr val="999999"/>
        </a:lt2>
        <a:accent1>
          <a:srgbClr val="002B45"/>
        </a:accent1>
        <a:accent2>
          <a:srgbClr val="0083A9"/>
        </a:accent2>
        <a:accent3>
          <a:srgbClr val="FFFFFF"/>
        </a:accent3>
        <a:accent4>
          <a:srgbClr val="000000"/>
        </a:accent4>
        <a:accent5>
          <a:srgbClr val="AAACB0"/>
        </a:accent5>
        <a:accent6>
          <a:srgbClr val="007699"/>
        </a:accent6>
        <a:hlink>
          <a:srgbClr val="0099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ta_Steel_template 2">
        <a:dk1>
          <a:srgbClr val="000000"/>
        </a:dk1>
        <a:lt1>
          <a:srgbClr val="FFFFFF"/>
        </a:lt1>
        <a:dk2>
          <a:srgbClr val="3D7EDB"/>
        </a:dk2>
        <a:lt2>
          <a:srgbClr val="999999"/>
        </a:lt2>
        <a:accent1>
          <a:srgbClr val="002B45"/>
        </a:accent1>
        <a:accent2>
          <a:srgbClr val="0083A9"/>
        </a:accent2>
        <a:accent3>
          <a:srgbClr val="FFFFFF"/>
        </a:accent3>
        <a:accent4>
          <a:srgbClr val="000000"/>
        </a:accent4>
        <a:accent5>
          <a:srgbClr val="AAACB0"/>
        </a:accent5>
        <a:accent6>
          <a:srgbClr val="007699"/>
        </a:accent6>
        <a:hlink>
          <a:srgbClr val="0099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4_Tata_Steel_template">
  <a:themeElements>
    <a:clrScheme name="Tata_Steel_template 2">
      <a:dk1>
        <a:srgbClr val="000000"/>
      </a:dk1>
      <a:lt1>
        <a:srgbClr val="FFFFFF"/>
      </a:lt1>
      <a:dk2>
        <a:srgbClr val="3D7EDB"/>
      </a:dk2>
      <a:lt2>
        <a:srgbClr val="999999"/>
      </a:lt2>
      <a:accent1>
        <a:srgbClr val="002B45"/>
      </a:accent1>
      <a:accent2>
        <a:srgbClr val="0083A9"/>
      </a:accent2>
      <a:accent3>
        <a:srgbClr val="FFFFFF"/>
      </a:accent3>
      <a:accent4>
        <a:srgbClr val="000000"/>
      </a:accent4>
      <a:accent5>
        <a:srgbClr val="AAACB0"/>
      </a:accent5>
      <a:accent6>
        <a:srgbClr val="007699"/>
      </a:accent6>
      <a:hlink>
        <a:srgbClr val="009900"/>
      </a:hlink>
      <a:folHlink>
        <a:srgbClr val="FF0000"/>
      </a:folHlink>
    </a:clrScheme>
    <a:fontScheme name="Tata_Steel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ata_Steel_template 1">
        <a:dk1>
          <a:srgbClr val="000000"/>
        </a:dk1>
        <a:lt1>
          <a:srgbClr val="FFFFFF"/>
        </a:lt1>
        <a:dk2>
          <a:srgbClr val="4C83C3"/>
        </a:dk2>
        <a:lt2>
          <a:srgbClr val="999999"/>
        </a:lt2>
        <a:accent1>
          <a:srgbClr val="002B45"/>
        </a:accent1>
        <a:accent2>
          <a:srgbClr val="0083A9"/>
        </a:accent2>
        <a:accent3>
          <a:srgbClr val="FFFFFF"/>
        </a:accent3>
        <a:accent4>
          <a:srgbClr val="000000"/>
        </a:accent4>
        <a:accent5>
          <a:srgbClr val="AAACB0"/>
        </a:accent5>
        <a:accent6>
          <a:srgbClr val="007699"/>
        </a:accent6>
        <a:hlink>
          <a:srgbClr val="0099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ta_Steel_template 2">
        <a:dk1>
          <a:srgbClr val="000000"/>
        </a:dk1>
        <a:lt1>
          <a:srgbClr val="FFFFFF"/>
        </a:lt1>
        <a:dk2>
          <a:srgbClr val="3D7EDB"/>
        </a:dk2>
        <a:lt2>
          <a:srgbClr val="999999"/>
        </a:lt2>
        <a:accent1>
          <a:srgbClr val="002B45"/>
        </a:accent1>
        <a:accent2>
          <a:srgbClr val="0083A9"/>
        </a:accent2>
        <a:accent3>
          <a:srgbClr val="FFFFFF"/>
        </a:accent3>
        <a:accent4>
          <a:srgbClr val="000000"/>
        </a:accent4>
        <a:accent5>
          <a:srgbClr val="AAACB0"/>
        </a:accent5>
        <a:accent6>
          <a:srgbClr val="007699"/>
        </a:accent6>
        <a:hlink>
          <a:srgbClr val="0099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29351EDCF23042A4E2CB27CB895460" ma:contentTypeVersion="2" ma:contentTypeDescription="Create a new document." ma:contentTypeScope="" ma:versionID="1d98eb5d67002098f1fe3774ebc090db">
  <xsd:schema xmlns:xsd="http://www.w3.org/2001/XMLSchema" xmlns:xs="http://www.w3.org/2001/XMLSchema" xmlns:p="http://schemas.microsoft.com/office/2006/metadata/properties" xmlns:ns2="08237905-f3b0-4632-9099-e99abad80b80" targetNamespace="http://schemas.microsoft.com/office/2006/metadata/properties" ma:root="true" ma:fieldsID="1dba5930e61e5adb59ea4753c86115ae" ns2:_="">
    <xsd:import namespace="08237905-f3b0-4632-9099-e99abad80b80"/>
    <xsd:element name="properties">
      <xsd:complexType>
        <xsd:sequence>
          <xsd:element name="documentManagement">
            <xsd:complexType>
              <xsd:all>
                <xsd:element ref="ns2:Resource_x0020_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237905-f3b0-4632-9099-e99abad80b80" elementFormDefault="qualified">
    <xsd:import namespace="http://schemas.microsoft.com/office/2006/documentManagement/types"/>
    <xsd:import namespace="http://schemas.microsoft.com/office/infopath/2007/PartnerControls"/>
    <xsd:element name="Resource_x0020_Type" ma:index="8" nillable="true" ma:displayName="Resource Type" ma:default="Other Resources" ma:description="This is needed to sort the resources into the right categories" ma:format="Dropdown" ma:internalName="Resource_x0020_Type">
      <xsd:simpleType>
        <xsd:union memberTypes="dms:Text">
          <xsd:simpleType>
            <xsd:restriction base="dms:Choice">
              <xsd:enumeration value="Policies and Guidelines"/>
              <xsd:enumeration value="Publications"/>
              <xsd:enumeration value="Image Library"/>
              <xsd:enumeration value="Other Resources"/>
            </xsd:restriction>
          </xsd:simpleType>
        </xsd:un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LongProperties xmlns="http://schemas.microsoft.com/office/2006/metadata/longProperties"/>
</file>

<file path=customXml/item4.xml><?xml version="1.0" encoding="utf-8"?>
<p:properties xmlns:p="http://schemas.microsoft.com/office/2006/metadata/properties" xmlns:xsi="http://www.w3.org/2001/XMLSchema-instance">
  <documentManagement>
    <Resource_x0020_Type xmlns="08237905-f3b0-4632-9099-e99abad80b80">Other Resources</Resource_x0020_Type>
  </documentManagement>
</p:properties>
</file>

<file path=customXml/itemProps1.xml><?xml version="1.0" encoding="utf-8"?>
<ds:datastoreItem xmlns:ds="http://schemas.openxmlformats.org/officeDocument/2006/customXml" ds:itemID="{E050B5E3-4D83-4B97-9179-E33D4BE097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DF3EA7-D3BB-4D73-BEDF-12DA3F572C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237905-f3b0-4632-9099-e99abad80b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6A3D000-2B34-4EA7-8DFC-A337732B62C5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C59D6A5C-D423-4167-91B4-208B46D3F48D}">
  <ds:schemaRefs>
    <ds:schemaRef ds:uri="http://schemas.microsoft.com/office/2006/metadata/properties"/>
    <ds:schemaRef ds:uri="08237905-f3b0-4632-9099-e99abad80b8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Settings\b009764\Application Data\Microsoft\Templates\Tata_Steel_template.pot</Template>
  <TotalTime>5786</TotalTime>
  <Words>427</Words>
  <Application>Microsoft Office PowerPoint</Application>
  <PresentationFormat>On-screen Show (4:3)</PresentationFormat>
  <Paragraphs>112</Paragraphs>
  <Slides>26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Tata_Steel_template</vt:lpstr>
      <vt:lpstr>Office Theme</vt:lpstr>
      <vt:lpstr>1_Office Theme</vt:lpstr>
      <vt:lpstr>2_Tata_Steel_template</vt:lpstr>
      <vt:lpstr>1_Tata_Steel_template</vt:lpstr>
      <vt:lpstr>3_Tata_Steel_template</vt:lpstr>
      <vt:lpstr>4_Tata_Steel_template</vt:lpstr>
      <vt:lpstr>NatSteel Driver Training Program</vt:lpstr>
      <vt:lpstr>PowerPoint Presentation</vt:lpstr>
      <vt:lpstr>NSH Driver PPE Requirement</vt:lpstr>
      <vt:lpstr>Personal Protective Equipment (PPE）  </vt:lpstr>
      <vt:lpstr>Driver Wellness</vt:lpstr>
      <vt:lpstr>To comply with Prime mover Daily Pre operation Checklist</vt:lpstr>
      <vt:lpstr>To comply with Trailer Daily Checklist</vt:lpstr>
      <vt:lpstr>Safe Work Procedures </vt:lpstr>
      <vt:lpstr>Safe Work Procedures </vt:lpstr>
      <vt:lpstr>Safe Work Procedures </vt:lpstr>
      <vt:lpstr>Safe Work Procedures</vt:lpstr>
      <vt:lpstr>Safe Work Procedures</vt:lpstr>
      <vt:lpstr>Safe Work Procedures </vt:lpstr>
      <vt:lpstr>Safe Work Procedures </vt:lpstr>
      <vt:lpstr>Safe Work Procedures</vt:lpstr>
      <vt:lpstr>Safe Work Procedures</vt:lpstr>
      <vt:lpstr>Safe Work Procedures</vt:lpstr>
      <vt:lpstr>Safe Work Procedures</vt:lpstr>
      <vt:lpstr>Safe Work Procedures</vt:lpstr>
      <vt:lpstr>Safe Work Procedures</vt:lpstr>
      <vt:lpstr>Safe Work Procedures</vt:lpstr>
      <vt:lpstr>PowerPoint Presentation</vt:lpstr>
      <vt:lpstr>PowerPoint Presentation</vt:lpstr>
      <vt:lpstr>PowerPoint Presentation</vt:lpstr>
      <vt:lpstr>NSH Consequence Management System </vt:lpstr>
      <vt:lpstr>PowerPoint Presentation</vt:lpstr>
    </vt:vector>
  </TitlesOfParts>
  <Company>NatSteel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NatSteel PPT Template with Guidance</dc:title>
  <dc:creator>Zhou Junlin (NatSteel)</dc:creator>
  <dc:description>Version 1.1.  Issued 23/11/10.</dc:description>
  <cp:lastModifiedBy>ikg</cp:lastModifiedBy>
  <cp:revision>263</cp:revision>
  <dcterms:created xsi:type="dcterms:W3CDTF">2010-08-10T09:50:16Z</dcterms:created>
  <dcterms:modified xsi:type="dcterms:W3CDTF">2016-05-20T07:45:47Z</dcterms:modified>
</cp:coreProperties>
</file>