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360" r:id="rId3"/>
    <p:sldId id="309" r:id="rId4"/>
    <p:sldId id="361" r:id="rId5"/>
    <p:sldId id="282" r:id="rId6"/>
    <p:sldId id="296" r:id="rId7"/>
    <p:sldId id="304" r:id="rId8"/>
    <p:sldId id="305" r:id="rId9"/>
    <p:sldId id="306" r:id="rId10"/>
    <p:sldId id="307" r:id="rId11"/>
    <p:sldId id="308" r:id="rId12"/>
    <p:sldId id="283" r:id="rId13"/>
    <p:sldId id="284" r:id="rId14"/>
    <p:sldId id="351" r:id="rId15"/>
    <p:sldId id="352" r:id="rId16"/>
    <p:sldId id="353" r:id="rId17"/>
    <p:sldId id="314" r:id="rId18"/>
    <p:sldId id="322" r:id="rId19"/>
    <p:sldId id="323" r:id="rId20"/>
    <p:sldId id="324" r:id="rId21"/>
    <p:sldId id="325" r:id="rId22"/>
    <p:sldId id="326" r:id="rId23"/>
    <p:sldId id="327" r:id="rId24"/>
    <p:sldId id="328" r:id="rId25"/>
    <p:sldId id="363" r:id="rId26"/>
    <p:sldId id="329" r:id="rId27"/>
    <p:sldId id="362" r:id="rId28"/>
    <p:sldId id="330" r:id="rId29"/>
    <p:sldId id="354" r:id="rId30"/>
    <p:sldId id="290" r:id="rId31"/>
  </p:sldIdLst>
  <p:sldSz cx="9144000" cy="6858000" type="screen4x3"/>
  <p:notesSz cx="6669088" cy="9926638"/>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15" autoAdjust="0"/>
  </p:normalViewPr>
  <p:slideViewPr>
    <p:cSldViewPr snapToGrid="0">
      <p:cViewPr varScale="1">
        <p:scale>
          <a:sx n="103" d="100"/>
          <a:sy n="103" d="100"/>
        </p:scale>
        <p:origin x="-120" y="-84"/>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5990"/>
    </p:cViewPr>
  </p:sorterViewPr>
  <p:notesViewPr>
    <p:cSldViewPr snapToGrid="0">
      <p:cViewPr varScale="1">
        <p:scale>
          <a:sx n="82" d="100"/>
          <a:sy n="82" d="100"/>
        </p:scale>
        <p:origin x="-1998" y="-90"/>
      </p:cViewPr>
      <p:guideLst>
        <p:guide orient="horz" pos="3127"/>
        <p:guide pos="210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5.xml"/><Relationship Id="rId1"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90665" cy="496809"/>
          </a:xfrm>
          <a:prstGeom prst="rect">
            <a:avLst/>
          </a:prstGeom>
        </p:spPr>
        <p:txBody>
          <a:bodyPr vert="horz" lIns="90727" tIns="45363" rIns="90727" bIns="45363" rtlCol="0"/>
          <a:lstStyle>
            <a:lvl1pPr algn="l">
              <a:defRPr sz="1200"/>
            </a:lvl1pPr>
          </a:lstStyle>
          <a:p>
            <a:endParaRPr lang="en-US" dirty="0"/>
          </a:p>
        </p:txBody>
      </p:sp>
      <p:sp>
        <p:nvSpPr>
          <p:cNvPr id="3" name="Date Placeholder 2"/>
          <p:cNvSpPr>
            <a:spLocks noGrp="1"/>
          </p:cNvSpPr>
          <p:nvPr>
            <p:ph type="dt" sz="quarter" idx="1"/>
          </p:nvPr>
        </p:nvSpPr>
        <p:spPr>
          <a:xfrm>
            <a:off x="3776866" y="0"/>
            <a:ext cx="2890665" cy="496809"/>
          </a:xfrm>
          <a:prstGeom prst="rect">
            <a:avLst/>
          </a:prstGeom>
        </p:spPr>
        <p:txBody>
          <a:bodyPr vert="horz" lIns="90727" tIns="45363" rIns="90727" bIns="45363" rtlCol="0"/>
          <a:lstStyle>
            <a:lvl1pPr algn="r">
              <a:defRPr sz="1200"/>
            </a:lvl1pPr>
          </a:lstStyle>
          <a:p>
            <a:fld id="{9448A64C-B0F9-4BFE-A669-B879E0403133}" type="datetimeFigureOut">
              <a:rPr lang="en-US" smtClean="0"/>
              <a:pPr/>
              <a:t>10/20/2017</a:t>
            </a:fld>
            <a:endParaRPr lang="en-US"/>
          </a:p>
        </p:txBody>
      </p:sp>
      <p:sp>
        <p:nvSpPr>
          <p:cNvPr id="4" name="Footer Placeholder 3"/>
          <p:cNvSpPr>
            <a:spLocks noGrp="1"/>
          </p:cNvSpPr>
          <p:nvPr>
            <p:ph type="ftr" sz="quarter" idx="2"/>
          </p:nvPr>
        </p:nvSpPr>
        <p:spPr>
          <a:xfrm>
            <a:off x="1" y="9428242"/>
            <a:ext cx="2890665" cy="496809"/>
          </a:xfrm>
          <a:prstGeom prst="rect">
            <a:avLst/>
          </a:prstGeom>
        </p:spPr>
        <p:txBody>
          <a:bodyPr vert="horz" lIns="90727" tIns="45363" rIns="90727" bIns="45363" rtlCol="0" anchor="b"/>
          <a:lstStyle>
            <a:lvl1pPr algn="l">
              <a:defRPr sz="1200"/>
            </a:lvl1pPr>
          </a:lstStyle>
          <a:p>
            <a:endParaRPr lang="en-US" dirty="0"/>
          </a:p>
        </p:txBody>
      </p:sp>
      <p:sp>
        <p:nvSpPr>
          <p:cNvPr id="5" name="Slide Number Placeholder 4"/>
          <p:cNvSpPr>
            <a:spLocks noGrp="1"/>
          </p:cNvSpPr>
          <p:nvPr>
            <p:ph type="sldNum" sz="quarter" idx="3"/>
          </p:nvPr>
        </p:nvSpPr>
        <p:spPr>
          <a:xfrm>
            <a:off x="3776866" y="9428242"/>
            <a:ext cx="2890665" cy="496809"/>
          </a:xfrm>
          <a:prstGeom prst="rect">
            <a:avLst/>
          </a:prstGeom>
        </p:spPr>
        <p:txBody>
          <a:bodyPr vert="horz" lIns="90727" tIns="45363" rIns="90727" bIns="45363" rtlCol="0" anchor="b"/>
          <a:lstStyle>
            <a:lvl1pPr algn="r">
              <a:defRPr sz="1200"/>
            </a:lvl1pPr>
          </a:lstStyle>
          <a:p>
            <a:fld id="{F8BDCD11-41A6-4D5E-8A78-315667E2E8C7}" type="slidenum">
              <a:rPr lang="en-US" smtClean="0"/>
              <a:pPr/>
              <a:t>‹#›</a:t>
            </a:fld>
            <a:endParaRPr lang="en-US"/>
          </a:p>
        </p:txBody>
      </p:sp>
    </p:spTree>
    <p:extLst>
      <p:ext uri="{BB962C8B-B14F-4D97-AF65-F5344CB8AC3E}">
        <p14:creationId xmlns:p14="http://schemas.microsoft.com/office/powerpoint/2010/main" xmlns="" val="4008984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90665" cy="496809"/>
          </a:xfrm>
          <a:prstGeom prst="rect">
            <a:avLst/>
          </a:prstGeom>
        </p:spPr>
        <p:txBody>
          <a:bodyPr vert="horz" lIns="90727" tIns="45363" rIns="90727" bIns="45363" rtlCol="0"/>
          <a:lstStyle>
            <a:lvl1pPr algn="l">
              <a:defRPr sz="1200"/>
            </a:lvl1pPr>
          </a:lstStyle>
          <a:p>
            <a:endParaRPr lang="en-US"/>
          </a:p>
        </p:txBody>
      </p:sp>
      <p:sp>
        <p:nvSpPr>
          <p:cNvPr id="3" name="Date Placeholder 2"/>
          <p:cNvSpPr>
            <a:spLocks noGrp="1"/>
          </p:cNvSpPr>
          <p:nvPr>
            <p:ph type="dt" idx="1"/>
          </p:nvPr>
        </p:nvSpPr>
        <p:spPr>
          <a:xfrm>
            <a:off x="3776866" y="0"/>
            <a:ext cx="2890665" cy="496809"/>
          </a:xfrm>
          <a:prstGeom prst="rect">
            <a:avLst/>
          </a:prstGeom>
        </p:spPr>
        <p:txBody>
          <a:bodyPr vert="horz" lIns="90727" tIns="45363" rIns="90727" bIns="45363" rtlCol="0"/>
          <a:lstStyle>
            <a:lvl1pPr algn="r">
              <a:defRPr sz="1200"/>
            </a:lvl1pPr>
          </a:lstStyle>
          <a:p>
            <a:fld id="{36735830-A20D-46E7-952C-5F654E66B4BF}" type="datetimeFigureOut">
              <a:rPr lang="en-US" smtClean="0"/>
              <a:pPr/>
              <a:t>10/20/2017</a:t>
            </a:fld>
            <a:endParaRPr lang="en-US"/>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0727" tIns="45363" rIns="90727" bIns="45363" rtlCol="0" anchor="ctr"/>
          <a:lstStyle/>
          <a:p>
            <a:endParaRPr lang="en-US"/>
          </a:p>
        </p:txBody>
      </p:sp>
      <p:sp>
        <p:nvSpPr>
          <p:cNvPr id="5" name="Notes Placeholder 4"/>
          <p:cNvSpPr>
            <a:spLocks noGrp="1"/>
          </p:cNvSpPr>
          <p:nvPr>
            <p:ph type="body" sz="quarter" idx="3"/>
          </p:nvPr>
        </p:nvSpPr>
        <p:spPr>
          <a:xfrm>
            <a:off x="666599" y="4715711"/>
            <a:ext cx="5335893" cy="4466511"/>
          </a:xfrm>
          <a:prstGeom prst="rect">
            <a:avLst/>
          </a:prstGeom>
        </p:spPr>
        <p:txBody>
          <a:bodyPr vert="horz" lIns="90727" tIns="45363" rIns="90727" bIns="4536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428242"/>
            <a:ext cx="2890665" cy="496809"/>
          </a:xfrm>
          <a:prstGeom prst="rect">
            <a:avLst/>
          </a:prstGeom>
        </p:spPr>
        <p:txBody>
          <a:bodyPr vert="horz" lIns="90727" tIns="45363" rIns="90727" bIns="45363" rtlCol="0" anchor="b"/>
          <a:lstStyle>
            <a:lvl1pPr algn="l">
              <a:defRPr sz="1200"/>
            </a:lvl1pPr>
          </a:lstStyle>
          <a:p>
            <a:endParaRPr lang="en-US"/>
          </a:p>
        </p:txBody>
      </p:sp>
      <p:sp>
        <p:nvSpPr>
          <p:cNvPr id="7" name="Slide Number Placeholder 6"/>
          <p:cNvSpPr>
            <a:spLocks noGrp="1"/>
          </p:cNvSpPr>
          <p:nvPr>
            <p:ph type="sldNum" sz="quarter" idx="5"/>
          </p:nvPr>
        </p:nvSpPr>
        <p:spPr>
          <a:xfrm>
            <a:off x="3776866" y="9428242"/>
            <a:ext cx="2890665" cy="496809"/>
          </a:xfrm>
          <a:prstGeom prst="rect">
            <a:avLst/>
          </a:prstGeom>
        </p:spPr>
        <p:txBody>
          <a:bodyPr vert="horz" lIns="90727" tIns="45363" rIns="90727" bIns="45363" rtlCol="0" anchor="b"/>
          <a:lstStyle>
            <a:lvl1pPr algn="r">
              <a:defRPr sz="1200"/>
            </a:lvl1pPr>
          </a:lstStyle>
          <a:p>
            <a:fld id="{B97E4B94-B178-449F-99CB-BF3BAB84DE9C}" type="slidenum">
              <a:rPr lang="en-US" smtClean="0"/>
              <a:pPr/>
              <a:t>‹#›</a:t>
            </a:fld>
            <a:endParaRPr lang="en-US"/>
          </a:p>
        </p:txBody>
      </p:sp>
    </p:spTree>
    <p:extLst>
      <p:ext uri="{BB962C8B-B14F-4D97-AF65-F5344CB8AC3E}">
        <p14:creationId xmlns:p14="http://schemas.microsoft.com/office/powerpoint/2010/main" xmlns="" val="93465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860425" y="742950"/>
            <a:ext cx="4959350" cy="3721100"/>
          </a:xfrm>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BBA6016C-6436-4324-9A0E-4411E5391CC0}" type="slidenum">
              <a:rPr lang="en-US" b="0"/>
              <a:pPr eaLnBrk="1" hangingPunct="1"/>
              <a:t>17</a:t>
            </a:fld>
            <a:endParaRPr lang="en-US" b="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03AEB204-FC9F-43D7-A4AD-18B37C2E0CCD}" type="slidenum">
              <a:rPr lang="en-US" b="0"/>
              <a:pPr eaLnBrk="1" hangingPunct="1"/>
              <a:t>18</a:t>
            </a:fld>
            <a:endParaRPr lang="en-US" b="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366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7CC83ED4-09CA-487E-A736-3E43A79FDEA6}" type="slidenum">
              <a:rPr lang="en-US" b="0"/>
              <a:pPr eaLnBrk="1" hangingPunct="1"/>
              <a:t>19</a:t>
            </a:fld>
            <a:endParaRPr lang="en-US" b="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7F3F86C3-1A47-4BD3-B912-96704B0706AB}" type="slidenum">
              <a:rPr lang="en-US" b="0"/>
              <a:pPr eaLnBrk="1" hangingPunct="1"/>
              <a:t>20</a:t>
            </a:fld>
            <a:endParaRPr lang="en-US"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571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56F5B002-37AA-4CF5-86C6-C1A3C00126AB}" type="slidenum">
              <a:rPr lang="en-US" b="0"/>
              <a:pPr eaLnBrk="1" hangingPunct="1"/>
              <a:t>21</a:t>
            </a:fld>
            <a:endParaRPr lang="en-US"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E39946FA-7C5A-4887-9B50-6EF74E414472}" type="slidenum">
              <a:rPr lang="en-US" b="0"/>
              <a:pPr eaLnBrk="1" hangingPunct="1"/>
              <a:t>22</a:t>
            </a:fld>
            <a:endParaRPr lang="en-US"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776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5C60D2F0-58EF-4B24-BE61-5AACEA154AA8}" type="slidenum">
              <a:rPr lang="en-US" b="0"/>
              <a:pPr eaLnBrk="1" hangingPunct="1"/>
              <a:t>23</a:t>
            </a:fld>
            <a:endParaRPr lang="en-US" b="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1557B699-CB2D-4316-B44B-A5DFF2765ACF}" type="slidenum">
              <a:rPr lang="en-US" b="0"/>
              <a:pPr eaLnBrk="1" hangingPunct="1"/>
              <a:t>24</a:t>
            </a:fld>
            <a:endParaRPr lang="en-US" b="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15ADD2FC-8885-43C5-9973-18C4432A145E}" type="slidenum">
              <a:rPr lang="en-US" b="0"/>
              <a:pPr eaLnBrk="1" hangingPunct="1"/>
              <a:t>25</a:t>
            </a:fld>
            <a:endParaRPr lang="en-US" b="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15ADD2FC-8885-43C5-9973-18C4432A145E}" type="slidenum">
              <a:rPr lang="en-US" b="0"/>
              <a:pPr eaLnBrk="1" hangingPunct="1"/>
              <a:t>26</a:t>
            </a:fld>
            <a:endParaRPr lang="en-US" b="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15ADD2FC-8885-43C5-9973-18C4432A145E}" type="slidenum">
              <a:rPr lang="en-US" b="0"/>
              <a:pPr eaLnBrk="1" hangingPunct="1"/>
              <a:t>27</a:t>
            </a:fld>
            <a:endParaRPr lang="en-US" b="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smtClean="0">
              <a:latin typeface="Arial" pitchFamily="34" charset="0"/>
              <a:cs typeface="Arial" pitchFamily="34" charset="0"/>
            </a:endParaRPr>
          </a:p>
        </p:txBody>
      </p:sp>
      <p:sp>
        <p:nvSpPr>
          <p:cNvPr id="1208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b="1">
                <a:solidFill>
                  <a:schemeClr val="tx1"/>
                </a:solidFill>
                <a:latin typeface="Arial" pitchFamily="34" charset="0"/>
                <a:cs typeface="Arial" pitchFamily="34" charset="0"/>
              </a:defRPr>
            </a:lvl1pPr>
            <a:lvl2pPr marL="737155" indent="-283521" eaLnBrk="0" hangingPunct="0">
              <a:defRPr b="1">
                <a:solidFill>
                  <a:schemeClr val="tx1"/>
                </a:solidFill>
                <a:latin typeface="Arial" pitchFamily="34" charset="0"/>
                <a:cs typeface="Arial" pitchFamily="34" charset="0"/>
              </a:defRPr>
            </a:lvl2pPr>
            <a:lvl3pPr marL="1134085" indent="-226817" eaLnBrk="0" hangingPunct="0">
              <a:defRPr b="1">
                <a:solidFill>
                  <a:schemeClr val="tx1"/>
                </a:solidFill>
                <a:latin typeface="Arial" pitchFamily="34" charset="0"/>
                <a:cs typeface="Arial" pitchFamily="34" charset="0"/>
              </a:defRPr>
            </a:lvl3pPr>
            <a:lvl4pPr marL="1587718" indent="-226817" eaLnBrk="0" hangingPunct="0">
              <a:defRPr b="1">
                <a:solidFill>
                  <a:schemeClr val="tx1"/>
                </a:solidFill>
                <a:latin typeface="Arial" pitchFamily="34" charset="0"/>
                <a:cs typeface="Arial" pitchFamily="34" charset="0"/>
              </a:defRPr>
            </a:lvl4pPr>
            <a:lvl5pPr marL="2041352" indent="-226817" eaLnBrk="0" hangingPunct="0">
              <a:defRPr b="1">
                <a:solidFill>
                  <a:schemeClr val="tx1"/>
                </a:solidFill>
                <a:latin typeface="Arial" pitchFamily="34" charset="0"/>
                <a:cs typeface="Arial" pitchFamily="34" charset="0"/>
              </a:defRPr>
            </a:lvl5pPr>
            <a:lvl6pPr marL="2494986" indent="-226817" eaLnBrk="0" fontAlgn="base" hangingPunct="0">
              <a:spcBef>
                <a:spcPct val="0"/>
              </a:spcBef>
              <a:spcAft>
                <a:spcPct val="0"/>
              </a:spcAft>
              <a:defRPr b="1">
                <a:solidFill>
                  <a:schemeClr val="tx1"/>
                </a:solidFill>
                <a:latin typeface="Arial" pitchFamily="34" charset="0"/>
                <a:cs typeface="Arial" pitchFamily="34" charset="0"/>
              </a:defRPr>
            </a:lvl6pPr>
            <a:lvl7pPr marL="2948620" indent="-226817" eaLnBrk="0" fontAlgn="base" hangingPunct="0">
              <a:spcBef>
                <a:spcPct val="0"/>
              </a:spcBef>
              <a:spcAft>
                <a:spcPct val="0"/>
              </a:spcAft>
              <a:defRPr b="1">
                <a:solidFill>
                  <a:schemeClr val="tx1"/>
                </a:solidFill>
                <a:latin typeface="Arial" pitchFamily="34" charset="0"/>
                <a:cs typeface="Arial" pitchFamily="34" charset="0"/>
              </a:defRPr>
            </a:lvl7pPr>
            <a:lvl8pPr marL="3402254" indent="-226817" eaLnBrk="0" fontAlgn="base" hangingPunct="0">
              <a:spcBef>
                <a:spcPct val="0"/>
              </a:spcBef>
              <a:spcAft>
                <a:spcPct val="0"/>
              </a:spcAft>
              <a:defRPr b="1">
                <a:solidFill>
                  <a:schemeClr val="tx1"/>
                </a:solidFill>
                <a:latin typeface="Arial" pitchFamily="34" charset="0"/>
                <a:cs typeface="Arial" pitchFamily="34" charset="0"/>
              </a:defRPr>
            </a:lvl8pPr>
            <a:lvl9pPr marL="3855888" indent="-226817"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fld id="{35065264-A827-43ED-BCF5-6EEE4A68016C}" type="slidenum">
              <a:rPr lang="en-US" b="0"/>
              <a:pPr eaLnBrk="1" hangingPunct="1"/>
              <a:t>28</a:t>
            </a:fld>
            <a:endParaRPr lang="en-US" b="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7E4B94-B178-449F-99CB-BF3BAB84DE9C}"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p:txBody>
          <a:bodyPr/>
          <a:lstStyle>
            <a:lvl1pPr>
              <a:defRPr/>
            </a:lvl1pPr>
          </a:lstStyle>
          <a:p>
            <a:endParaRPr lang="en-US" altLang="zh-CN"/>
          </a:p>
        </p:txBody>
      </p:sp>
      <p:sp>
        <p:nvSpPr>
          <p:cNvPr id="3077" name="Rectangle 5"/>
          <p:cNvSpPr>
            <a:spLocks noGrp="1" noChangeArrowheads="1"/>
          </p:cNvSpPr>
          <p:nvPr>
            <p:ph type="ftr" sz="quarter" idx="3"/>
          </p:nvPr>
        </p:nvSpPr>
        <p:spPr/>
        <p:txBody>
          <a:bodyPr/>
          <a:lstStyle>
            <a:lvl1pPr>
              <a:defRPr/>
            </a:lvl1pPr>
          </a:lstStyle>
          <a:p>
            <a:endParaRPr lang="en-US" altLang="zh-CN"/>
          </a:p>
        </p:txBody>
      </p:sp>
      <p:sp>
        <p:nvSpPr>
          <p:cNvPr id="3078" name="Rectangle 6"/>
          <p:cNvSpPr>
            <a:spLocks noGrp="1" noChangeArrowheads="1"/>
          </p:cNvSpPr>
          <p:nvPr>
            <p:ph type="sldNum" sz="quarter" idx="4"/>
          </p:nvPr>
        </p:nvSpPr>
        <p:spPr/>
        <p:txBody>
          <a:bodyPr/>
          <a:lstStyle>
            <a:lvl1pPr>
              <a:defRPr/>
            </a:lvl1pPr>
          </a:lstStyle>
          <a:p>
            <a:fld id="{1142346A-2848-49AB-BFAB-F14E01F18C4B}" type="slidenum">
              <a:rPr lang="en-US" altLang="zh-CN"/>
              <a:pPr/>
              <a:t>‹#›</a:t>
            </a:fld>
            <a:endParaRPr lang="en-US" altLang="zh-CN"/>
          </a:p>
        </p:txBody>
      </p:sp>
      <p:pic>
        <p:nvPicPr>
          <p:cNvPr id="3079" name="Picture 7" descr="Natsteel Powerpoint 3a_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pic>
        <p:nvPicPr>
          <p:cNvPr id="3080" name="Picture 8" descr="Natsteel Powerpoint 3a"/>
          <p:cNvPicPr>
            <a:picLocks noChangeAspect="1" noChangeArrowheads="1"/>
          </p:cNvPicPr>
          <p:nvPr userDrawn="1"/>
        </p:nvPicPr>
        <p:blipFill>
          <a:blip r:embed="rId3" cstate="print"/>
          <a:srcRect/>
          <a:stretch>
            <a:fillRect/>
          </a:stretch>
        </p:blipFill>
        <p:spPr bwMode="auto">
          <a:xfrm>
            <a:off x="0" y="0"/>
            <a:ext cx="9144000" cy="6858000"/>
          </a:xfrm>
          <a:prstGeom prst="rect">
            <a:avLst/>
          </a:prstGeom>
          <a:noFill/>
        </p:spPr>
      </p:pic>
      <p:sp>
        <p:nvSpPr>
          <p:cNvPr id="3074" name="Rectangle 2"/>
          <p:cNvSpPr>
            <a:spLocks noGrp="1" noChangeArrowheads="1"/>
          </p:cNvSpPr>
          <p:nvPr>
            <p:ph type="ctrTitle"/>
          </p:nvPr>
        </p:nvSpPr>
        <p:spPr>
          <a:xfrm>
            <a:off x="685800" y="2130425"/>
            <a:ext cx="7772400" cy="1470025"/>
          </a:xfrm>
        </p:spPr>
        <p:txBody>
          <a:bodyPr/>
          <a:lstStyle>
            <a:lvl1pPr>
              <a:defRPr b="1">
                <a:solidFill>
                  <a:schemeClr val="bg1"/>
                </a:solidFill>
              </a:defRPr>
            </a:lvl1pPr>
          </a:lstStyle>
          <a:p>
            <a:r>
              <a:rPr lang="en-US" altLang="zh-CN"/>
              <a:t>Click to edit Master title style</a:t>
            </a:r>
          </a:p>
        </p:txBody>
      </p:sp>
      <p:sp>
        <p:nvSpPr>
          <p:cNvPr id="3075" name="Rectangle 3"/>
          <p:cNvSpPr>
            <a:spLocks noGrp="1" noChangeArrowheads="1"/>
          </p:cNvSpPr>
          <p:nvPr>
            <p:ph type="subTitle" idx="1"/>
          </p:nvPr>
        </p:nvSpPr>
        <p:spPr>
          <a:xfrm>
            <a:off x="688975" y="3871913"/>
            <a:ext cx="6400800" cy="1752600"/>
          </a:xfrm>
        </p:spPr>
        <p:txBody>
          <a:bodyPr/>
          <a:lstStyle>
            <a:lvl1pPr marL="0" indent="0">
              <a:buFontTx/>
              <a:buNone/>
              <a:defRPr sz="2400">
                <a:solidFill>
                  <a:schemeClr val="bg1"/>
                </a:solidFill>
              </a:defRPr>
            </a:lvl1pPr>
          </a:lstStyle>
          <a:p>
            <a:r>
              <a:rPr lang="en-US" altLang="zh-CN"/>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13782D71-C173-48CB-A058-250392D4C538}"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E1E70B6F-5266-48EC-ACB7-74F3E9F7B107}"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33575"/>
            <a:ext cx="4038600" cy="4192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33575"/>
            <a:ext cx="4038600" cy="4192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C35EA4BC-7EE3-4C3C-A4D2-0C8EB2A7B852}"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zh-CN"/>
          </a:p>
        </p:txBody>
      </p:sp>
      <p:sp>
        <p:nvSpPr>
          <p:cNvPr id="8" name="Footer Placeholder 7"/>
          <p:cNvSpPr>
            <a:spLocks noGrp="1"/>
          </p:cNvSpPr>
          <p:nvPr>
            <p:ph type="ftr" sz="quarter" idx="11"/>
          </p:nvPr>
        </p:nvSpPr>
        <p:spPr/>
        <p:txBody>
          <a:bodyPr/>
          <a:lstStyle>
            <a:lvl1pPr>
              <a:defRPr/>
            </a:lvl1pPr>
          </a:lstStyle>
          <a:p>
            <a:endParaRPr lang="en-US" altLang="zh-CN"/>
          </a:p>
        </p:txBody>
      </p:sp>
      <p:sp>
        <p:nvSpPr>
          <p:cNvPr id="9" name="Slide Number Placeholder 8"/>
          <p:cNvSpPr>
            <a:spLocks noGrp="1"/>
          </p:cNvSpPr>
          <p:nvPr>
            <p:ph type="sldNum" sz="quarter" idx="12"/>
          </p:nvPr>
        </p:nvSpPr>
        <p:spPr/>
        <p:txBody>
          <a:bodyPr/>
          <a:lstStyle>
            <a:lvl1pPr>
              <a:defRPr/>
            </a:lvl1pPr>
          </a:lstStyle>
          <a:p>
            <a:fld id="{6E9A4581-A781-4E30-A61F-BE4397200723}"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zh-CN"/>
          </a:p>
        </p:txBody>
      </p:sp>
      <p:sp>
        <p:nvSpPr>
          <p:cNvPr id="4" name="Footer Placeholder 3"/>
          <p:cNvSpPr>
            <a:spLocks noGrp="1"/>
          </p:cNvSpPr>
          <p:nvPr>
            <p:ph type="ftr" sz="quarter" idx="11"/>
          </p:nvPr>
        </p:nvSpPr>
        <p:spPr/>
        <p:txBody>
          <a:bodyPr/>
          <a:lstStyle>
            <a:lvl1pPr>
              <a:defRPr/>
            </a:lvl1pPr>
          </a:lstStyle>
          <a:p>
            <a:endParaRPr lang="en-US" altLang="zh-CN"/>
          </a:p>
        </p:txBody>
      </p:sp>
      <p:sp>
        <p:nvSpPr>
          <p:cNvPr id="5" name="Slide Number Placeholder 4"/>
          <p:cNvSpPr>
            <a:spLocks noGrp="1"/>
          </p:cNvSpPr>
          <p:nvPr>
            <p:ph type="sldNum" sz="quarter" idx="12"/>
          </p:nvPr>
        </p:nvSpPr>
        <p:spPr/>
        <p:txBody>
          <a:bodyPr/>
          <a:lstStyle>
            <a:lvl1pPr>
              <a:defRPr/>
            </a:lvl1pPr>
          </a:lstStyle>
          <a:p>
            <a:fld id="{029BC7D9-AAF8-44E0-9FD4-AFA1AD6B0C40}"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zh-CN"/>
          </a:p>
        </p:txBody>
      </p:sp>
      <p:sp>
        <p:nvSpPr>
          <p:cNvPr id="3" name="Footer Placeholder 2"/>
          <p:cNvSpPr>
            <a:spLocks noGrp="1"/>
          </p:cNvSpPr>
          <p:nvPr>
            <p:ph type="ftr" sz="quarter" idx="11"/>
          </p:nvPr>
        </p:nvSpPr>
        <p:spPr/>
        <p:txBody>
          <a:bodyPr/>
          <a:lstStyle>
            <a:lvl1pPr>
              <a:defRPr/>
            </a:lvl1pPr>
          </a:lstStyle>
          <a:p>
            <a:endParaRPr lang="en-US" altLang="zh-CN"/>
          </a:p>
        </p:txBody>
      </p:sp>
      <p:sp>
        <p:nvSpPr>
          <p:cNvPr id="4" name="Slide Number Placeholder 3"/>
          <p:cNvSpPr>
            <a:spLocks noGrp="1"/>
          </p:cNvSpPr>
          <p:nvPr>
            <p:ph type="sldNum" sz="quarter" idx="12"/>
          </p:nvPr>
        </p:nvSpPr>
        <p:spPr/>
        <p:txBody>
          <a:bodyPr/>
          <a:lstStyle>
            <a:lvl1pPr>
              <a:defRPr/>
            </a:lvl1pPr>
          </a:lstStyle>
          <a:p>
            <a:fld id="{9C7F1774-00DA-441F-BAEE-D48E9D3458BE}"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6AA433E0-202C-4434-A708-C355691854ED}"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12DC395E-3BDB-4625-ADE8-E92BD048B1E6}"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423DFC51-41E9-428D-9642-36945D262F5C}"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100013"/>
            <a:ext cx="2058987" cy="60261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49263" y="100013"/>
            <a:ext cx="6026150" cy="60261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D189D4DA-D7B7-40D2-B65C-0624C645F0C1}"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49263" y="100013"/>
            <a:ext cx="8237537" cy="60261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700D5EC0-0202-42AD-8A57-C5204AB209A2}"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2" name="Picture 8" descr="Natsteel Powerpoint 3a_2"/>
          <p:cNvPicPr>
            <a:picLocks noChangeAspect="1" noChangeArrowheads="1"/>
          </p:cNvPicPr>
          <p:nvPr userDrawn="1"/>
        </p:nvPicPr>
        <p:blipFill>
          <a:blip r:embed="rId14" cstate="print"/>
          <a:srcRect/>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449263" y="1000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457200" y="1933575"/>
            <a:ext cx="8229600" cy="41925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65B5471B-93F5-4BDF-A395-B262F64EAC2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fontAlgn="base">
        <a:spcBef>
          <a:spcPct val="0"/>
        </a:spcBef>
        <a:spcAft>
          <a:spcPct val="0"/>
        </a:spcAft>
        <a:defRPr sz="3200">
          <a:solidFill>
            <a:schemeClr val="tx2"/>
          </a:solidFill>
          <a:latin typeface="+mj-lt"/>
          <a:ea typeface="+mj-ea"/>
          <a:cs typeface="+mj-cs"/>
        </a:defRPr>
      </a:lvl1pPr>
      <a:lvl2pPr algn="l" rtl="0" fontAlgn="base">
        <a:spcBef>
          <a:spcPct val="0"/>
        </a:spcBef>
        <a:spcAft>
          <a:spcPct val="0"/>
        </a:spcAft>
        <a:defRPr sz="3200">
          <a:solidFill>
            <a:schemeClr val="tx2"/>
          </a:solidFill>
          <a:latin typeface="Arial" charset="0"/>
          <a:ea typeface="宋体" pitchFamily="2" charset="-122"/>
        </a:defRPr>
      </a:lvl2pPr>
      <a:lvl3pPr algn="l" rtl="0" fontAlgn="base">
        <a:spcBef>
          <a:spcPct val="0"/>
        </a:spcBef>
        <a:spcAft>
          <a:spcPct val="0"/>
        </a:spcAft>
        <a:defRPr sz="3200">
          <a:solidFill>
            <a:schemeClr val="tx2"/>
          </a:solidFill>
          <a:latin typeface="Arial" charset="0"/>
          <a:ea typeface="宋体" pitchFamily="2" charset="-122"/>
        </a:defRPr>
      </a:lvl3pPr>
      <a:lvl4pPr algn="l" rtl="0" fontAlgn="base">
        <a:spcBef>
          <a:spcPct val="0"/>
        </a:spcBef>
        <a:spcAft>
          <a:spcPct val="0"/>
        </a:spcAft>
        <a:defRPr sz="3200">
          <a:solidFill>
            <a:schemeClr val="tx2"/>
          </a:solidFill>
          <a:latin typeface="Arial" charset="0"/>
          <a:ea typeface="宋体" pitchFamily="2" charset="-122"/>
        </a:defRPr>
      </a:lvl4pPr>
      <a:lvl5pPr algn="l" rtl="0" fontAlgn="base">
        <a:spcBef>
          <a:spcPct val="0"/>
        </a:spcBef>
        <a:spcAft>
          <a:spcPct val="0"/>
        </a:spcAft>
        <a:defRPr sz="3200">
          <a:solidFill>
            <a:schemeClr val="tx2"/>
          </a:solidFill>
          <a:latin typeface="Arial" charset="0"/>
          <a:ea typeface="宋体" pitchFamily="2" charset="-122"/>
        </a:defRPr>
      </a:lvl5pPr>
      <a:lvl6pPr marL="457200" algn="l" rtl="0" fontAlgn="base">
        <a:spcBef>
          <a:spcPct val="0"/>
        </a:spcBef>
        <a:spcAft>
          <a:spcPct val="0"/>
        </a:spcAft>
        <a:defRPr sz="3200">
          <a:solidFill>
            <a:schemeClr val="tx2"/>
          </a:solidFill>
          <a:latin typeface="Arial" charset="0"/>
          <a:ea typeface="宋体" pitchFamily="2" charset="-122"/>
        </a:defRPr>
      </a:lvl6pPr>
      <a:lvl7pPr marL="914400" algn="l" rtl="0" fontAlgn="base">
        <a:spcBef>
          <a:spcPct val="0"/>
        </a:spcBef>
        <a:spcAft>
          <a:spcPct val="0"/>
        </a:spcAft>
        <a:defRPr sz="3200">
          <a:solidFill>
            <a:schemeClr val="tx2"/>
          </a:solidFill>
          <a:latin typeface="Arial" charset="0"/>
          <a:ea typeface="宋体" pitchFamily="2" charset="-122"/>
        </a:defRPr>
      </a:lvl7pPr>
      <a:lvl8pPr marL="1371600" algn="l" rtl="0" fontAlgn="base">
        <a:spcBef>
          <a:spcPct val="0"/>
        </a:spcBef>
        <a:spcAft>
          <a:spcPct val="0"/>
        </a:spcAft>
        <a:defRPr sz="3200">
          <a:solidFill>
            <a:schemeClr val="tx2"/>
          </a:solidFill>
          <a:latin typeface="Arial" charset="0"/>
          <a:ea typeface="宋体" pitchFamily="2" charset="-122"/>
        </a:defRPr>
      </a:lvl8pPr>
      <a:lvl9pPr marL="1828800" algn="l" rtl="0" fontAlgn="base">
        <a:spcBef>
          <a:spcPct val="0"/>
        </a:spcBef>
        <a:spcAft>
          <a:spcPct val="0"/>
        </a:spcAft>
        <a:defRPr sz="32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Safety%20Training/Ice%20Breaker/Attitude2.ppt"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jpe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2101932"/>
            <a:ext cx="9144000" cy="1508167"/>
          </a:xfrm>
          <a:solidFill>
            <a:srgbClr val="002060"/>
          </a:solidFill>
        </p:spPr>
        <p:txBody>
          <a:bodyPr/>
          <a:lstStyle/>
          <a:p>
            <a:r>
              <a:rPr lang="en-GB" sz="3600" dirty="0" smtClean="0">
                <a:latin typeface="Arial Black" pitchFamily="34" charset="0"/>
              </a:rPr>
              <a:t>5S Refresher Course</a:t>
            </a:r>
            <a:endParaRPr lang="en-GB" sz="3600" dirty="0">
              <a:latin typeface="Arial Black" pitchFamily="34" charset="0"/>
            </a:endParaRPr>
          </a:p>
        </p:txBody>
      </p:sp>
      <p:pic>
        <p:nvPicPr>
          <p:cNvPr id="7" name="Picture 2"/>
          <p:cNvPicPr>
            <a:picLocks noChangeAspect="1" noChangeArrowheads="1"/>
          </p:cNvPicPr>
          <p:nvPr/>
        </p:nvPicPr>
        <p:blipFill>
          <a:blip r:embed="rId4" cstate="print"/>
          <a:srcRect/>
          <a:stretch>
            <a:fillRect/>
          </a:stretch>
        </p:blipFill>
        <p:spPr bwMode="auto">
          <a:xfrm>
            <a:off x="7422079" y="2101932"/>
            <a:ext cx="1721922" cy="1505636"/>
          </a:xfrm>
          <a:prstGeom prst="rect">
            <a:avLst/>
          </a:prstGeom>
          <a:noFill/>
          <a:ln w="9525">
            <a:noFill/>
            <a:miter lim="800000"/>
            <a:headEnd/>
            <a:tailEnd/>
          </a:ln>
          <a:effectLst/>
        </p:spPr>
      </p:pic>
      <p:graphicFrame>
        <p:nvGraphicFramePr>
          <p:cNvPr id="2" name="Object 1"/>
          <p:cNvGraphicFramePr>
            <a:graphicFrameLocks noChangeAspect="1"/>
          </p:cNvGraphicFramePr>
          <p:nvPr>
            <p:extLst>
              <p:ext uri="{D42A27DB-BD31-4B8C-83A1-F6EECF244321}">
                <p14:modId xmlns:p14="http://schemas.microsoft.com/office/powerpoint/2010/main" xmlns="" val="4226488868"/>
              </p:ext>
            </p:extLst>
          </p:nvPr>
        </p:nvGraphicFramePr>
        <p:xfrm>
          <a:off x="383969" y="4442712"/>
          <a:ext cx="2240478" cy="2228809"/>
        </p:xfrm>
        <a:graphic>
          <a:graphicData uri="http://schemas.openxmlformats.org/presentationml/2006/ole">
            <p:oleObj spid="_x0000_s1120" name="Picture (32-bit)" r:id="rId5" imgW="1798164" imgH="1792397" progId="">
              <p:embed/>
            </p:oleObj>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xmlns="" val="2960619824"/>
              </p:ext>
            </p:extLst>
          </p:nvPr>
        </p:nvGraphicFramePr>
        <p:xfrm>
          <a:off x="6714471" y="4393870"/>
          <a:ext cx="2166273" cy="2225819"/>
        </p:xfrm>
        <a:graphic>
          <a:graphicData uri="http://schemas.openxmlformats.org/presentationml/2006/ole">
            <p:oleObj spid="_x0000_s1121" name="Picture (32-bit)" r:id="rId6" imgW="1775499" imgH="1815835" progId="">
              <p:embed/>
            </p:oleObj>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SG" dirty="0"/>
          </a:p>
        </p:txBody>
      </p:sp>
      <p:sp>
        <p:nvSpPr>
          <p:cNvPr id="3" name="Content Placeholder 2"/>
          <p:cNvSpPr>
            <a:spLocks noGrp="1"/>
          </p:cNvSpPr>
          <p:nvPr>
            <p:ph idx="1"/>
          </p:nvPr>
        </p:nvSpPr>
        <p:spPr>
          <a:xfrm>
            <a:off x="457200" y="1438275"/>
            <a:ext cx="8229600" cy="4192588"/>
          </a:xfrm>
        </p:spPr>
        <p:txBody>
          <a:bodyPr/>
          <a:lstStyle/>
          <a:p>
            <a:r>
              <a:rPr lang="en-US" dirty="0" smtClean="0"/>
              <a:t>Safety &amp; Health Contact</a:t>
            </a:r>
          </a:p>
          <a:p>
            <a:r>
              <a:rPr lang="en-US" dirty="0" smtClean="0"/>
              <a:t>5S Package briefing</a:t>
            </a:r>
          </a:p>
          <a:p>
            <a:r>
              <a:rPr lang="en-US" dirty="0" smtClean="0"/>
              <a:t>Site 5S audit </a:t>
            </a:r>
          </a:p>
          <a:p>
            <a:r>
              <a:rPr lang="en-US" dirty="0" smtClean="0"/>
              <a:t>Assessment Review</a:t>
            </a:r>
            <a:endParaRPr lang="en-SG" dirty="0"/>
          </a:p>
        </p:txBody>
      </p:sp>
    </p:spTree>
    <p:extLst>
      <p:ext uri="{BB962C8B-B14F-4D97-AF65-F5344CB8AC3E}">
        <p14:creationId xmlns:p14="http://schemas.microsoft.com/office/powerpoint/2010/main" xmlns="" val="8004085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NSA PPT-Slide content-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1588"/>
            <a:ext cx="9145588" cy="6859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147" name="Picture 2" descr="strong connection Royalty Free Stock Photo"/>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943100" y="1452563"/>
            <a:ext cx="5257800" cy="3500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48" name="Text Box 4"/>
          <p:cNvSpPr txBox="1">
            <a:spLocks noChangeArrowheads="1"/>
          </p:cNvSpPr>
          <p:nvPr/>
        </p:nvSpPr>
        <p:spPr bwMode="auto">
          <a:xfrm>
            <a:off x="0" y="474784"/>
            <a:ext cx="9144000" cy="793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b="1">
                <a:solidFill>
                  <a:schemeClr val="tx1"/>
                </a:solidFill>
                <a:latin typeface="Arial" pitchFamily="34" charset="0"/>
                <a:cs typeface="Arial" pitchFamily="34" charset="0"/>
              </a:defRPr>
            </a:lvl1pPr>
            <a:lvl2pPr marL="742950" indent="-285750" eaLnBrk="0" hangingPunct="0">
              <a:defRPr b="1">
                <a:solidFill>
                  <a:schemeClr val="tx1"/>
                </a:solidFill>
                <a:latin typeface="Arial" pitchFamily="34" charset="0"/>
                <a:cs typeface="Arial" pitchFamily="34" charset="0"/>
              </a:defRPr>
            </a:lvl2pPr>
            <a:lvl3pPr marL="1143000" indent="-228600" eaLnBrk="0" hangingPunct="0">
              <a:defRPr b="1">
                <a:solidFill>
                  <a:schemeClr val="tx1"/>
                </a:solidFill>
                <a:latin typeface="Arial" pitchFamily="34" charset="0"/>
                <a:cs typeface="Arial" pitchFamily="34" charset="0"/>
              </a:defRPr>
            </a:lvl3pPr>
            <a:lvl4pPr marL="1600200" indent="-228600" eaLnBrk="0" hangingPunct="0">
              <a:defRPr b="1">
                <a:solidFill>
                  <a:schemeClr val="tx1"/>
                </a:solidFill>
                <a:latin typeface="Arial" pitchFamily="34" charset="0"/>
                <a:cs typeface="Arial" pitchFamily="34" charset="0"/>
              </a:defRPr>
            </a:lvl4pPr>
            <a:lvl5pPr marL="2057400" indent="-228600" eaLnBrk="0" hangingPunct="0">
              <a:defRPr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b="1">
                <a:solidFill>
                  <a:schemeClr val="tx1"/>
                </a:solidFill>
                <a:latin typeface="Arial" pitchFamily="34" charset="0"/>
                <a:cs typeface="Arial" pitchFamily="34" charset="0"/>
              </a:defRPr>
            </a:lvl9pPr>
          </a:lstStyle>
          <a:p>
            <a:pPr algn="ctr" eaLnBrk="1" hangingPunct="1">
              <a:spcBef>
                <a:spcPct val="50000"/>
              </a:spcBef>
            </a:pPr>
            <a:r>
              <a:rPr lang="en-US" sz="4600" dirty="0">
                <a:solidFill>
                  <a:srgbClr val="000066"/>
                </a:solidFill>
              </a:rPr>
              <a:t>Safety  &amp; Health Contact</a:t>
            </a:r>
          </a:p>
        </p:txBody>
      </p:sp>
    </p:spTree>
    <p:extLst>
      <p:ext uri="{BB962C8B-B14F-4D97-AF65-F5344CB8AC3E}">
        <p14:creationId xmlns:p14="http://schemas.microsoft.com/office/powerpoint/2010/main" xmlns="" val="220376576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Definition of 5S</a:t>
            </a:r>
          </a:p>
          <a:p>
            <a:r>
              <a:rPr lang="en-US" dirty="0" smtClean="0"/>
              <a:t>Benefits of 5S</a:t>
            </a:r>
          </a:p>
          <a:p>
            <a:r>
              <a:rPr lang="en-US" dirty="0" smtClean="0"/>
              <a:t>NatSteel Goals</a:t>
            </a:r>
          </a:p>
          <a:p>
            <a:r>
              <a:rPr lang="en-US" dirty="0" smtClean="0"/>
              <a:t>Workstation Scoring Criteria</a:t>
            </a:r>
          </a:p>
          <a:p>
            <a:r>
              <a:rPr lang="en-US" dirty="0" smtClean="0"/>
              <a:t>Practical Session (Roll play) </a:t>
            </a:r>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0" cap="none" spc="0" normalizeH="0" baseline="0" noProof="0" dirty="0" smtClean="0">
                <a:ln>
                  <a:noFill/>
                </a:ln>
                <a:solidFill>
                  <a:schemeClr val="bg1"/>
                </a:solidFill>
                <a:effectLst/>
                <a:uLnTx/>
                <a:uFillTx/>
                <a:latin typeface="Arial Black" pitchFamily="34" charset="0"/>
                <a:ea typeface="+mj-ea"/>
                <a:cs typeface="+mj-cs"/>
              </a:rPr>
              <a:t>Course Content</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Tree>
    <p:extLst>
      <p:ext uri="{BB962C8B-B14F-4D97-AF65-F5344CB8AC3E}">
        <p14:creationId xmlns:p14="http://schemas.microsoft.com/office/powerpoint/2010/main" xmlns="" val="3296796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843149"/>
            <a:ext cx="9144000" cy="649245"/>
          </a:xfrm>
          <a:solidFill>
            <a:srgbClr val="002060"/>
          </a:solidFill>
        </p:spPr>
        <p:txBody>
          <a:bodyPr/>
          <a:lstStyle/>
          <a:p>
            <a:r>
              <a:rPr lang="en-US" dirty="0" smtClean="0">
                <a:solidFill>
                  <a:schemeClr val="bg1"/>
                </a:solidFill>
                <a:latin typeface="Arial Black" pitchFamily="34" charset="0"/>
              </a:rPr>
              <a:t>What is 5S?</a:t>
            </a:r>
            <a:endParaRPr lang="en-US" dirty="0">
              <a:solidFill>
                <a:schemeClr val="bg1"/>
              </a:solidFill>
              <a:latin typeface="Arial Black" pitchFamily="34" charset="0"/>
            </a:endParaRPr>
          </a:p>
        </p:txBody>
      </p:sp>
      <p:sp>
        <p:nvSpPr>
          <p:cNvPr id="33799" name="Rectangle 7"/>
          <p:cNvSpPr>
            <a:spLocks noChangeArrowheads="1"/>
          </p:cNvSpPr>
          <p:nvPr/>
        </p:nvSpPr>
        <p:spPr bwMode="auto">
          <a:xfrm>
            <a:off x="0" y="7620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33800" name="Rectangle 8"/>
          <p:cNvSpPr>
            <a:spLocks noChangeArrowheads="1"/>
          </p:cNvSpPr>
          <p:nvPr/>
        </p:nvSpPr>
        <p:spPr bwMode="auto">
          <a:xfrm>
            <a:off x="0" y="41052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1056895" y="1923807"/>
            <a:ext cx="7030193" cy="3416320"/>
          </a:xfrm>
          <a:prstGeom prst="rect">
            <a:avLst/>
          </a:prstGeom>
          <a:noFill/>
        </p:spPr>
        <p:txBody>
          <a:bodyPr wrap="square" rtlCol="0">
            <a:spAutoFit/>
          </a:bodyPr>
          <a:lstStyle/>
          <a:p>
            <a:pPr algn="just"/>
            <a:r>
              <a:rPr lang="en-US" sz="2400" b="1" dirty="0" smtClean="0">
                <a:latin typeface="Arial Black" pitchFamily="34" charset="0"/>
              </a:rPr>
              <a:t>5S is the </a:t>
            </a:r>
            <a:r>
              <a:rPr lang="en-US" sz="2400" b="1" dirty="0" smtClean="0">
                <a:latin typeface="Arial Black" pitchFamily="34" charset="0"/>
              </a:rPr>
              <a:t>short form </a:t>
            </a:r>
            <a:r>
              <a:rPr lang="en-US" sz="2400" b="1" dirty="0" smtClean="0">
                <a:latin typeface="Arial Black" pitchFamily="34" charset="0"/>
              </a:rPr>
              <a:t>for FIVE Japanese words: </a:t>
            </a:r>
          </a:p>
          <a:p>
            <a:pPr algn="just"/>
            <a:endParaRPr lang="en-US" sz="2400" b="1" dirty="0" smtClean="0">
              <a:latin typeface="Arial Black" pitchFamily="34" charset="0"/>
            </a:endParaRPr>
          </a:p>
          <a:p>
            <a:pPr algn="just"/>
            <a:r>
              <a:rPr lang="en-US" sz="2400" b="1" dirty="0" smtClean="0">
                <a:solidFill>
                  <a:srgbClr val="0070C0"/>
                </a:solidFill>
                <a:latin typeface="Arial Black" pitchFamily="34" charset="0"/>
              </a:rPr>
              <a:t>SEIRI, SEITON, SEISO, SEIKETSU </a:t>
            </a:r>
            <a:r>
              <a:rPr lang="en-US" sz="2400" b="1" dirty="0" smtClean="0">
                <a:latin typeface="Arial Black" pitchFamily="34" charset="0"/>
              </a:rPr>
              <a:t>and </a:t>
            </a:r>
            <a:r>
              <a:rPr lang="en-US" sz="2400" b="1" dirty="0" smtClean="0">
                <a:solidFill>
                  <a:srgbClr val="0070C0"/>
                </a:solidFill>
                <a:latin typeface="Arial Black" pitchFamily="34" charset="0"/>
              </a:rPr>
              <a:t>SHITSUKE</a:t>
            </a:r>
            <a:endParaRPr lang="en-US" sz="2400" b="1" dirty="0" smtClean="0">
              <a:latin typeface="Arial Black" pitchFamily="34" charset="0"/>
            </a:endParaRPr>
          </a:p>
          <a:p>
            <a:pPr algn="just"/>
            <a:endParaRPr lang="en-US" sz="2400" b="1" dirty="0" smtClean="0">
              <a:latin typeface="Arial Black" pitchFamily="34" charset="0"/>
            </a:endParaRPr>
          </a:p>
          <a:p>
            <a:r>
              <a:rPr lang="en-US" sz="2400" b="1" dirty="0" smtClean="0">
                <a:latin typeface="Arial Black" pitchFamily="34" charset="0"/>
              </a:rPr>
              <a:t>Broadly translated, 5S means Good Housekeeping and Workplace Organization.</a:t>
            </a:r>
            <a:endParaRPr lang="en-US" sz="2400" b="1" dirty="0">
              <a:latin typeface="Arial Black"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710048"/>
          <a:ext cx="8229600" cy="4726381"/>
        </p:xfrm>
        <a:graphic>
          <a:graphicData uri="http://schemas.openxmlformats.org/drawingml/2006/table">
            <a:tbl>
              <a:tblPr firstRow="1" bandRow="1">
                <a:tableStyleId>{5C22544A-7EE6-4342-B048-85BDC9FD1C3A}</a:tableStyleId>
              </a:tblPr>
              <a:tblGrid>
                <a:gridCol w="1466603"/>
                <a:gridCol w="1389413"/>
                <a:gridCol w="3316184"/>
                <a:gridCol w="2057400"/>
              </a:tblGrid>
              <a:tr h="689264">
                <a:tc>
                  <a:txBody>
                    <a:bodyPr/>
                    <a:lstStyle/>
                    <a:p>
                      <a:r>
                        <a:rPr lang="en-US" dirty="0" smtClean="0">
                          <a:solidFill>
                            <a:schemeClr val="tx1"/>
                          </a:solidFill>
                        </a:rPr>
                        <a:t>Japanese</a:t>
                      </a:r>
                      <a:endParaRPr lang="en-US" dirty="0">
                        <a:solidFill>
                          <a:schemeClr val="tx1"/>
                        </a:solidFill>
                      </a:endParaRPr>
                    </a:p>
                  </a:txBody>
                  <a:tcPr/>
                </a:tc>
                <a:tc>
                  <a:txBody>
                    <a:bodyPr/>
                    <a:lstStyle/>
                    <a:p>
                      <a:r>
                        <a:rPr lang="en-US" dirty="0" smtClean="0">
                          <a:solidFill>
                            <a:schemeClr val="tx1"/>
                          </a:solidFill>
                        </a:rPr>
                        <a:t>In English</a:t>
                      </a:r>
                      <a:endParaRPr lang="en-US" dirty="0">
                        <a:solidFill>
                          <a:schemeClr val="tx1"/>
                        </a:solidFill>
                      </a:endParaRPr>
                    </a:p>
                  </a:txBody>
                  <a:tcPr/>
                </a:tc>
                <a:tc>
                  <a:txBody>
                    <a:bodyPr/>
                    <a:lstStyle/>
                    <a:p>
                      <a:r>
                        <a:rPr lang="en-US" dirty="0" smtClean="0">
                          <a:solidFill>
                            <a:schemeClr val="tx1"/>
                          </a:solidFill>
                        </a:rPr>
                        <a:t>Meaning</a:t>
                      </a:r>
                      <a:endParaRPr lang="en-US" dirty="0">
                        <a:solidFill>
                          <a:schemeClr val="tx1"/>
                        </a:solidFill>
                      </a:endParaRPr>
                    </a:p>
                  </a:txBody>
                  <a:tcPr/>
                </a:tc>
                <a:tc>
                  <a:txBody>
                    <a:bodyPr/>
                    <a:lstStyle/>
                    <a:p>
                      <a:r>
                        <a:rPr lang="en-US" dirty="0" smtClean="0">
                          <a:solidFill>
                            <a:schemeClr val="tx1"/>
                          </a:solidFill>
                        </a:rPr>
                        <a:t>How</a:t>
                      </a:r>
                      <a:r>
                        <a:rPr lang="en-US" baseline="0" dirty="0" smtClean="0">
                          <a:solidFill>
                            <a:schemeClr val="tx1"/>
                          </a:solidFill>
                        </a:rPr>
                        <a:t> to remember</a:t>
                      </a:r>
                      <a:endParaRPr lang="en-US" dirty="0">
                        <a:solidFill>
                          <a:schemeClr val="tx1"/>
                        </a:solidFill>
                      </a:endParaRPr>
                    </a:p>
                  </a:txBody>
                  <a:tcPr/>
                </a:tc>
              </a:tr>
              <a:tr h="689264">
                <a:tc>
                  <a:txBody>
                    <a:bodyPr/>
                    <a:lstStyle/>
                    <a:p>
                      <a:r>
                        <a:rPr lang="en-US" dirty="0" smtClean="0"/>
                        <a:t>SEIRI </a:t>
                      </a:r>
                      <a:endParaRPr lang="en-US" dirty="0"/>
                    </a:p>
                  </a:txBody>
                  <a:tcPr/>
                </a:tc>
                <a:tc>
                  <a:txBody>
                    <a:bodyPr/>
                    <a:lstStyle/>
                    <a:p>
                      <a:r>
                        <a:rPr lang="en-US" dirty="0" smtClean="0"/>
                        <a:t>Clearing</a:t>
                      </a:r>
                      <a:endParaRPr lang="en-US" dirty="0"/>
                    </a:p>
                  </a:txBody>
                  <a:tcPr/>
                </a:tc>
                <a:tc>
                  <a:txBody>
                    <a:bodyPr/>
                    <a:lstStyle/>
                    <a:p>
                      <a:r>
                        <a:rPr lang="en-US" dirty="0" smtClean="0"/>
                        <a:t>Sort out unnecessary</a:t>
                      </a:r>
                      <a:r>
                        <a:rPr lang="en-US" baseline="0" dirty="0" smtClean="0"/>
                        <a:t> items and discard them</a:t>
                      </a:r>
                      <a:endParaRPr lang="en-US" dirty="0"/>
                    </a:p>
                  </a:txBody>
                  <a:tcPr/>
                </a:tc>
                <a:tc>
                  <a:txBody>
                    <a:bodyPr/>
                    <a:lstStyle/>
                    <a:p>
                      <a:r>
                        <a:rPr lang="en-US" b="1" dirty="0" smtClean="0"/>
                        <a:t>Sort</a:t>
                      </a:r>
                      <a:r>
                        <a:rPr lang="en-US" b="1" baseline="0" dirty="0" smtClean="0"/>
                        <a:t> </a:t>
                      </a:r>
                      <a:r>
                        <a:rPr lang="en-US" baseline="0" dirty="0" smtClean="0"/>
                        <a:t>and Discard</a:t>
                      </a:r>
                    </a:p>
                    <a:p>
                      <a:endParaRPr lang="en-US" dirty="0"/>
                    </a:p>
                  </a:txBody>
                  <a:tcPr/>
                </a:tc>
              </a:tr>
              <a:tr h="1280061">
                <a:tc>
                  <a:txBody>
                    <a:bodyPr/>
                    <a:lstStyle/>
                    <a:p>
                      <a:r>
                        <a:rPr lang="en-US" dirty="0" smtClean="0"/>
                        <a:t>SEITON</a:t>
                      </a:r>
                      <a:r>
                        <a:rPr lang="en-US" baseline="0" dirty="0" smtClean="0"/>
                        <a:t> </a:t>
                      </a:r>
                      <a:endParaRPr lang="en-US" dirty="0"/>
                    </a:p>
                  </a:txBody>
                  <a:tcPr/>
                </a:tc>
                <a:tc>
                  <a:txBody>
                    <a:bodyPr/>
                    <a:lstStyle/>
                    <a:p>
                      <a:r>
                        <a:rPr lang="en-US" dirty="0" err="1" smtClean="0"/>
                        <a:t>Organising</a:t>
                      </a:r>
                      <a:endParaRPr lang="en-US" dirty="0"/>
                    </a:p>
                  </a:txBody>
                  <a:tcPr/>
                </a:tc>
                <a:tc>
                  <a:txBody>
                    <a:bodyPr/>
                    <a:lstStyle/>
                    <a:p>
                      <a:r>
                        <a:rPr lang="en-US" dirty="0" smtClean="0"/>
                        <a:t>Arrange necessary items in good</a:t>
                      </a:r>
                      <a:r>
                        <a:rPr lang="en-US" baseline="0" dirty="0" smtClean="0"/>
                        <a:t> order</a:t>
                      </a:r>
                    </a:p>
                    <a:p>
                      <a:pPr>
                        <a:buFontTx/>
                        <a:buChar char="-"/>
                      </a:pPr>
                      <a:r>
                        <a:rPr lang="en-US" baseline="0" dirty="0" smtClean="0"/>
                        <a:t>A place for everything</a:t>
                      </a:r>
                    </a:p>
                    <a:p>
                      <a:pPr>
                        <a:buFontTx/>
                        <a:buChar char="-"/>
                      </a:pPr>
                      <a:r>
                        <a:rPr lang="en-US" baseline="0" dirty="0" smtClean="0"/>
                        <a:t>Everything in its place</a:t>
                      </a:r>
                      <a:endParaRPr lang="en-US" dirty="0"/>
                    </a:p>
                  </a:txBody>
                  <a:tcPr/>
                </a:tc>
                <a:tc>
                  <a:txBody>
                    <a:bodyPr/>
                    <a:lstStyle/>
                    <a:p>
                      <a:r>
                        <a:rPr lang="en-US" b="1" dirty="0" smtClean="0"/>
                        <a:t>Systematically</a:t>
                      </a:r>
                      <a:r>
                        <a:rPr lang="en-US" b="1" baseline="0" dirty="0" smtClean="0"/>
                        <a:t> </a:t>
                      </a:r>
                      <a:r>
                        <a:rPr lang="en-US" baseline="0" dirty="0" smtClean="0"/>
                        <a:t>Arrange</a:t>
                      </a:r>
                    </a:p>
                    <a:p>
                      <a:endParaRPr lang="en-US" dirty="0"/>
                    </a:p>
                  </a:txBody>
                  <a:tcPr/>
                </a:tc>
              </a:tr>
              <a:tr h="689264">
                <a:tc>
                  <a:txBody>
                    <a:bodyPr/>
                    <a:lstStyle/>
                    <a:p>
                      <a:r>
                        <a:rPr lang="en-US" dirty="0" smtClean="0"/>
                        <a:t>SEISO</a:t>
                      </a:r>
                      <a:endParaRPr lang="en-US" dirty="0"/>
                    </a:p>
                  </a:txBody>
                  <a:tcPr/>
                </a:tc>
                <a:tc>
                  <a:txBody>
                    <a:bodyPr/>
                    <a:lstStyle/>
                    <a:p>
                      <a:r>
                        <a:rPr lang="en-US" dirty="0" smtClean="0"/>
                        <a:t>Cleaning</a:t>
                      </a:r>
                      <a:endParaRPr lang="en-US" dirty="0"/>
                    </a:p>
                  </a:txBody>
                  <a:tcPr/>
                </a:tc>
                <a:tc>
                  <a:txBody>
                    <a:bodyPr/>
                    <a:lstStyle/>
                    <a:p>
                      <a:pPr>
                        <a:buFontTx/>
                        <a:buNone/>
                      </a:pPr>
                      <a:r>
                        <a:rPr lang="en-US" dirty="0" smtClean="0"/>
                        <a:t>Clean</a:t>
                      </a:r>
                      <a:r>
                        <a:rPr lang="en-US" baseline="0" dirty="0" smtClean="0"/>
                        <a:t> workplace and equipment thoroughly</a:t>
                      </a:r>
                      <a:endParaRPr lang="en-US" dirty="0"/>
                    </a:p>
                  </a:txBody>
                  <a:tcPr/>
                </a:tc>
                <a:tc>
                  <a:txBody>
                    <a:bodyPr/>
                    <a:lstStyle/>
                    <a:p>
                      <a:r>
                        <a:rPr lang="en-US" b="1" dirty="0" smtClean="0"/>
                        <a:t>Spick</a:t>
                      </a:r>
                      <a:r>
                        <a:rPr lang="en-US" dirty="0" smtClean="0"/>
                        <a:t> and </a:t>
                      </a:r>
                      <a:r>
                        <a:rPr lang="en-US" b="1" dirty="0" smtClean="0"/>
                        <a:t>Span</a:t>
                      </a:r>
                    </a:p>
                    <a:p>
                      <a:endParaRPr lang="en-US" b="1" dirty="0"/>
                    </a:p>
                  </a:txBody>
                  <a:tcPr/>
                </a:tc>
              </a:tr>
              <a:tr h="689264">
                <a:tc>
                  <a:txBody>
                    <a:bodyPr/>
                    <a:lstStyle/>
                    <a:p>
                      <a:r>
                        <a:rPr lang="en-US" dirty="0" smtClean="0"/>
                        <a:t>SEIKETSU</a:t>
                      </a:r>
                      <a:endParaRPr lang="en-US" dirty="0"/>
                    </a:p>
                  </a:txBody>
                  <a:tcPr/>
                </a:tc>
                <a:tc>
                  <a:txBody>
                    <a:bodyPr/>
                    <a:lstStyle/>
                    <a:p>
                      <a:r>
                        <a:rPr lang="en-US" dirty="0" smtClean="0"/>
                        <a:t>Maintaining</a:t>
                      </a:r>
                      <a:endParaRPr lang="en-US" dirty="0"/>
                    </a:p>
                  </a:txBody>
                  <a:tcPr/>
                </a:tc>
                <a:tc>
                  <a:txBody>
                    <a:bodyPr/>
                    <a:lstStyle/>
                    <a:p>
                      <a:pPr>
                        <a:buFontTx/>
                        <a:buNone/>
                      </a:pPr>
                      <a:r>
                        <a:rPr lang="en-US" dirty="0" smtClean="0"/>
                        <a:t>Maintain the clean, tidy condition</a:t>
                      </a:r>
                      <a:endParaRPr lang="en-US" dirty="0"/>
                    </a:p>
                  </a:txBody>
                  <a:tcPr/>
                </a:tc>
                <a:tc>
                  <a:txBody>
                    <a:bodyPr/>
                    <a:lstStyle/>
                    <a:p>
                      <a:r>
                        <a:rPr lang="en-US" b="1" dirty="0" err="1" smtClean="0"/>
                        <a:t>Standardise</a:t>
                      </a:r>
                      <a:endParaRPr lang="en-US" b="1" dirty="0" smtClean="0"/>
                    </a:p>
                    <a:p>
                      <a:endParaRPr lang="en-US" b="1" dirty="0"/>
                    </a:p>
                  </a:txBody>
                  <a:tcPr/>
                </a:tc>
              </a:tr>
              <a:tr h="689264">
                <a:tc>
                  <a:txBody>
                    <a:bodyPr/>
                    <a:lstStyle/>
                    <a:p>
                      <a:r>
                        <a:rPr lang="en-US" dirty="0" smtClean="0"/>
                        <a:t>SHITSUKE</a:t>
                      </a:r>
                      <a:endParaRPr lang="en-US" dirty="0"/>
                    </a:p>
                  </a:txBody>
                  <a:tcPr/>
                </a:tc>
                <a:tc>
                  <a:txBody>
                    <a:bodyPr/>
                    <a:lstStyle/>
                    <a:p>
                      <a:r>
                        <a:rPr lang="en-US" dirty="0" smtClean="0"/>
                        <a:t>Self-discipline</a:t>
                      </a:r>
                      <a:endParaRPr lang="en-US" dirty="0"/>
                    </a:p>
                  </a:txBody>
                  <a:tcPr/>
                </a:tc>
                <a:tc>
                  <a:txBody>
                    <a:bodyPr/>
                    <a:lstStyle/>
                    <a:p>
                      <a:pPr>
                        <a:buFontTx/>
                        <a:buNone/>
                      </a:pPr>
                      <a:r>
                        <a:rPr lang="en-US" dirty="0" smtClean="0"/>
                        <a:t>Doing what</a:t>
                      </a:r>
                      <a:r>
                        <a:rPr lang="en-US" baseline="0" dirty="0" smtClean="0"/>
                        <a:t> has been decided as a habit (conforming)</a:t>
                      </a:r>
                      <a:endParaRPr lang="en-US" dirty="0"/>
                    </a:p>
                  </a:txBody>
                  <a:tcPr/>
                </a:tc>
                <a:tc>
                  <a:txBody>
                    <a:bodyPr/>
                    <a:lstStyle/>
                    <a:p>
                      <a:r>
                        <a:rPr lang="en-US" b="1" dirty="0" smtClean="0"/>
                        <a:t>Self-discipline</a:t>
                      </a:r>
                    </a:p>
                    <a:p>
                      <a:endParaRPr lang="en-US" b="1" dirty="0"/>
                    </a:p>
                  </a:txBody>
                  <a:tcPr/>
                </a:tc>
              </a:tr>
            </a:tbl>
          </a:graphicData>
        </a:graphic>
      </p:graphicFrame>
      <p:sp>
        <p:nvSpPr>
          <p:cNvPr id="5" name="Title 4"/>
          <p:cNvSpPr>
            <a:spLocks noGrp="1"/>
          </p:cNvSpPr>
          <p:nvPr>
            <p:ph type="title"/>
          </p:nvPr>
        </p:nvSpPr>
        <p:spPr>
          <a:xfrm>
            <a:off x="0" y="938153"/>
            <a:ext cx="9144000" cy="708624"/>
          </a:xfr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dirty="0" smtClean="0">
                <a:solidFill>
                  <a:schemeClr val="bg1"/>
                </a:solidFill>
                <a:latin typeface="Arial Black" pitchFamily="34" charset="0"/>
              </a:rPr>
              <a:t>Meaning of 5S</a:t>
            </a:r>
            <a:endParaRPr lang="en-US" dirty="0">
              <a:solidFill>
                <a:schemeClr val="bg1"/>
              </a:solidFill>
              <a:latin typeface="Arial Black" pitchFamily="34" charset="0"/>
            </a:endParaRPr>
          </a:p>
        </p:txBody>
      </p:sp>
      <p:sp>
        <p:nvSpPr>
          <p:cNvPr id="6" name="Action Button: Forward or Next 5">
            <a:hlinkClick r:id="" action="ppaction://hlinkshowjump?jump=nextslide" highlightClick="1"/>
          </p:cNvPr>
          <p:cNvSpPr/>
          <p:nvPr/>
        </p:nvSpPr>
        <p:spPr>
          <a:xfrm>
            <a:off x="6709558" y="2802577"/>
            <a:ext cx="463137" cy="23750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ction Button: Forward or Next 6">
            <a:hlinkClick r:id="rId3" action="ppaction://hlinksldjump" highlightClick="1"/>
          </p:cNvPr>
          <p:cNvSpPr/>
          <p:nvPr/>
        </p:nvSpPr>
        <p:spPr>
          <a:xfrm>
            <a:off x="6707580" y="4095008"/>
            <a:ext cx="463137" cy="23750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ction Button: Forward or Next 7">
            <a:hlinkClick r:id="rId4" action="ppaction://hlinksldjump" highlightClick="1"/>
          </p:cNvPr>
          <p:cNvSpPr/>
          <p:nvPr/>
        </p:nvSpPr>
        <p:spPr>
          <a:xfrm>
            <a:off x="6729351" y="4769922"/>
            <a:ext cx="463137" cy="23750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ction Button: Forward or Next 8">
            <a:hlinkClick r:id="rId5" action="ppaction://hlinksldjump" highlightClick="1"/>
          </p:cNvPr>
          <p:cNvSpPr/>
          <p:nvPr/>
        </p:nvSpPr>
        <p:spPr>
          <a:xfrm>
            <a:off x="6715497" y="5444836"/>
            <a:ext cx="463137" cy="23750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ction Button: Forward or Next 9">
            <a:hlinkClick r:id="rId6" action="ppaction://hlinksldjump" highlightClick="1"/>
          </p:cNvPr>
          <p:cNvSpPr/>
          <p:nvPr/>
        </p:nvSpPr>
        <p:spPr>
          <a:xfrm>
            <a:off x="6725394" y="6179127"/>
            <a:ext cx="463137" cy="23750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What to look for:</a:t>
            </a:r>
          </a:p>
          <a:p>
            <a:pPr lvl="1"/>
            <a:r>
              <a:rPr lang="en-US" dirty="0" smtClean="0"/>
              <a:t>Unused/out dated/obsolete files, documents</a:t>
            </a:r>
          </a:p>
          <a:p>
            <a:pPr lvl="1"/>
            <a:r>
              <a:rPr lang="en-US" dirty="0" smtClean="0"/>
              <a:t>Damaged, defective machine</a:t>
            </a:r>
          </a:p>
          <a:p>
            <a:pPr lvl="1"/>
            <a:r>
              <a:rPr lang="en-US" dirty="0" smtClean="0"/>
              <a:t>Excess stocks</a:t>
            </a:r>
          </a:p>
          <a:p>
            <a:pPr lvl="1"/>
            <a:r>
              <a:rPr lang="en-US" dirty="0" smtClean="0"/>
              <a:t>Outdated notices, posters, forms, documents</a:t>
            </a:r>
          </a:p>
          <a:p>
            <a:pPr lvl="1"/>
            <a:r>
              <a:rPr lang="en-US" dirty="0" smtClean="0"/>
              <a:t>Junk mails</a:t>
            </a:r>
            <a:endParaRPr lang="en-US" dirty="0"/>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1S - SEIRI - Clearing	</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
        <p:nvSpPr>
          <p:cNvPr id="5" name="Action Button: Forward or Next 4">
            <a:hlinkClick r:id="rId2" action="ppaction://hlinksldjump" highlightClick="1"/>
          </p:cNvPr>
          <p:cNvSpPr/>
          <p:nvPr/>
        </p:nvSpPr>
        <p:spPr>
          <a:xfrm>
            <a:off x="8288977" y="6329548"/>
            <a:ext cx="558140" cy="23750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smtClean="0">
                <a:solidFill>
                  <a:srgbClr val="C00000"/>
                </a:solidFill>
              </a:rPr>
              <a:t>Do you experience: </a:t>
            </a:r>
          </a:p>
          <a:p>
            <a:pPr>
              <a:buNone/>
            </a:pPr>
            <a:r>
              <a:rPr lang="en-US" sz="2800" dirty="0" smtClean="0">
                <a:solidFill>
                  <a:srgbClr val="C00000"/>
                </a:solidFill>
              </a:rPr>
              <a:t>	- a lot of searching, delays</a:t>
            </a:r>
          </a:p>
          <a:p>
            <a:pPr>
              <a:buNone/>
            </a:pPr>
            <a:r>
              <a:rPr lang="en-US" sz="2800" dirty="0" smtClean="0">
                <a:solidFill>
                  <a:srgbClr val="C00000"/>
                </a:solidFill>
              </a:rPr>
              <a:t>	- things get mixed up</a:t>
            </a:r>
          </a:p>
          <a:p>
            <a:pPr>
              <a:buNone/>
            </a:pPr>
            <a:r>
              <a:rPr lang="en-US" sz="2800" dirty="0" smtClean="0">
                <a:solidFill>
                  <a:srgbClr val="C00000"/>
                </a:solidFill>
              </a:rPr>
              <a:t>	- missing items from shelves</a:t>
            </a:r>
          </a:p>
          <a:p>
            <a:r>
              <a:rPr lang="en-US" sz="2800" dirty="0" smtClean="0">
                <a:solidFill>
                  <a:srgbClr val="002060"/>
                </a:solidFill>
              </a:rPr>
              <a:t>Set-up a storage/filing system where things are:</a:t>
            </a:r>
          </a:p>
          <a:p>
            <a:pPr>
              <a:buNone/>
            </a:pPr>
            <a:r>
              <a:rPr lang="en-US" sz="2800" dirty="0" smtClean="0">
                <a:solidFill>
                  <a:srgbClr val="002060"/>
                </a:solidFill>
              </a:rPr>
              <a:t>	- Easy to see – proper labels and markings</a:t>
            </a:r>
          </a:p>
          <a:p>
            <a:pPr>
              <a:buNone/>
            </a:pPr>
            <a:r>
              <a:rPr lang="en-US" sz="2800" dirty="0" smtClean="0">
                <a:solidFill>
                  <a:srgbClr val="002060"/>
                </a:solidFill>
              </a:rPr>
              <a:t>	- Easy to take – neatly arranged &amp; stacked</a:t>
            </a:r>
          </a:p>
          <a:p>
            <a:pPr>
              <a:buNone/>
            </a:pPr>
            <a:r>
              <a:rPr lang="en-US" sz="2800" dirty="0" smtClean="0">
                <a:solidFill>
                  <a:srgbClr val="002060"/>
                </a:solidFill>
              </a:rPr>
              <a:t>	- Easy to return – no obstruction</a:t>
            </a:r>
          </a:p>
          <a:p>
            <a:pPr>
              <a:buNone/>
            </a:pPr>
            <a:endParaRPr lang="en-US" dirty="0" smtClean="0"/>
          </a:p>
          <a:p>
            <a:pPr>
              <a:buNone/>
            </a:pPr>
            <a:endParaRPr lang="en-US" dirty="0"/>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2S - SEITON	- Organizing	</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
        <p:nvSpPr>
          <p:cNvPr id="5" name="Action Button: Forward or Next 4">
            <a:hlinkClick r:id="rId2" action="ppaction://hlinksldjump" highlightClick="1"/>
          </p:cNvPr>
          <p:cNvSpPr/>
          <p:nvPr/>
        </p:nvSpPr>
        <p:spPr>
          <a:xfrm>
            <a:off x="8288977" y="6329548"/>
            <a:ext cx="558140" cy="23750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Floor is clean – litter, rubbish</a:t>
            </a:r>
          </a:p>
          <a:p>
            <a:r>
              <a:rPr lang="en-US" dirty="0" smtClean="0"/>
              <a:t>Storage areas – racks, cabinets, boxes</a:t>
            </a:r>
          </a:p>
          <a:p>
            <a:r>
              <a:rPr lang="en-US" dirty="0" smtClean="0"/>
              <a:t>Equipment – PC, workstation</a:t>
            </a:r>
          </a:p>
          <a:p>
            <a:r>
              <a:rPr lang="en-US" dirty="0" smtClean="0"/>
              <a:t>Documents – files, drawings, record books,</a:t>
            </a:r>
            <a:endParaRPr lang="en-US" dirty="0"/>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3S - SEISO - Cleaning		</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
        <p:nvSpPr>
          <p:cNvPr id="5" name="Action Button: Forward or Next 4">
            <a:hlinkClick r:id="rId2" action="ppaction://hlinksldjump" highlightClick="1"/>
          </p:cNvPr>
          <p:cNvSpPr/>
          <p:nvPr/>
        </p:nvSpPr>
        <p:spPr>
          <a:xfrm>
            <a:off x="8288977" y="6329548"/>
            <a:ext cx="558140" cy="23750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Develop a routine and practice it until it becomes a habit</a:t>
            </a:r>
          </a:p>
          <a:p>
            <a:pPr>
              <a:buNone/>
            </a:pPr>
            <a:r>
              <a:rPr lang="en-US" dirty="0" smtClean="0"/>
              <a:t>	- </a:t>
            </a:r>
            <a:r>
              <a:rPr lang="en-US" sz="2800" dirty="0" smtClean="0"/>
              <a:t>cleaning schedule (</a:t>
            </a:r>
            <a:r>
              <a:rPr lang="en-US" sz="2800" dirty="0" err="1" smtClean="0"/>
              <a:t>eg</a:t>
            </a:r>
            <a:r>
              <a:rPr lang="en-US" sz="2800" dirty="0" smtClean="0"/>
              <a:t>. every day 15 min clean up (before </a:t>
            </a:r>
            <a:r>
              <a:rPr lang="en-US" sz="2800" smtClean="0"/>
              <a:t>start work)</a:t>
            </a:r>
            <a:endParaRPr lang="en-US" sz="2800" dirty="0" smtClean="0"/>
          </a:p>
          <a:p>
            <a:pPr>
              <a:buNone/>
            </a:pPr>
            <a:r>
              <a:rPr lang="en-US" sz="2800" dirty="0" smtClean="0"/>
              <a:t>	- 5S corner in bulletin boards</a:t>
            </a:r>
          </a:p>
          <a:p>
            <a:pPr>
              <a:buNone/>
            </a:pPr>
            <a:r>
              <a:rPr lang="en-US" sz="2800" dirty="0" smtClean="0"/>
              <a:t>	- targets are set in the Department</a:t>
            </a:r>
          </a:p>
          <a:p>
            <a:pPr>
              <a:buNone/>
            </a:pPr>
            <a:r>
              <a:rPr lang="en-US" sz="2800" dirty="0" smtClean="0"/>
              <a:t>	</a:t>
            </a:r>
            <a:endParaRPr lang="en-US" sz="2800" dirty="0"/>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4S - SEIKETSU - Maintaining		</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
        <p:nvSpPr>
          <p:cNvPr id="5" name="Action Button: Forward or Next 4">
            <a:hlinkClick r:id="rId2" action="ppaction://hlinksldjump" highlightClick="1"/>
          </p:cNvPr>
          <p:cNvSpPr/>
          <p:nvPr/>
        </p:nvSpPr>
        <p:spPr>
          <a:xfrm>
            <a:off x="8288977" y="6329548"/>
            <a:ext cx="558140" cy="23750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Conforming to the 5S rules without being told </a:t>
            </a:r>
          </a:p>
          <a:p>
            <a:r>
              <a:rPr lang="en-US" dirty="0" smtClean="0"/>
              <a:t>Organizing own workstation daily</a:t>
            </a:r>
          </a:p>
          <a:p>
            <a:r>
              <a:rPr lang="en-US" dirty="0" smtClean="0"/>
              <a:t>Cleaning workstation habitually</a:t>
            </a:r>
          </a:p>
          <a:p>
            <a:r>
              <a:rPr lang="en-US" dirty="0" smtClean="0"/>
              <a:t>New files are being </a:t>
            </a:r>
            <a:r>
              <a:rPr lang="en-US" dirty="0" err="1" smtClean="0"/>
              <a:t>labelled</a:t>
            </a:r>
            <a:endParaRPr lang="en-US" dirty="0" smtClean="0"/>
          </a:p>
          <a:p>
            <a:r>
              <a:rPr lang="en-US" dirty="0" smtClean="0"/>
              <a:t>Being proactive when we see something not right</a:t>
            </a:r>
            <a:endParaRPr lang="en-US" dirty="0"/>
          </a:p>
        </p:txBody>
      </p:sp>
      <p:sp>
        <p:nvSpPr>
          <p:cNvPr id="4" name="Title 4"/>
          <p:cNvSpPr txBox="1">
            <a:spLocks/>
          </p:cNvSpPr>
          <p:nvPr/>
        </p:nvSpPr>
        <p:spPr bwMode="auto">
          <a:xfrm>
            <a:off x="0" y="843149"/>
            <a:ext cx="9144000" cy="64924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5S - SHITSUKE -  Self-discipline 		</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a:spLocks/>
          </p:cNvSpPr>
          <p:nvPr/>
        </p:nvSpPr>
        <p:spPr bwMode="auto">
          <a:xfrm>
            <a:off x="2741634" y="2284359"/>
            <a:ext cx="3636198" cy="3415086"/>
          </a:xfrm>
          <a:custGeom>
            <a:avLst/>
            <a:gdLst>
              <a:gd name="T0" fmla="*/ 1007 w 2505"/>
              <a:gd name="T1" fmla="*/ 403 h 2532"/>
              <a:gd name="T2" fmla="*/ 971 w 2505"/>
              <a:gd name="T3" fmla="*/ 193 h 2532"/>
              <a:gd name="T4" fmla="*/ 1094 w 2505"/>
              <a:gd name="T5" fmla="*/ 24 h 2532"/>
              <a:gd name="T6" fmla="*/ 1375 w 2505"/>
              <a:gd name="T7" fmla="*/ 6 h 2532"/>
              <a:gd name="T8" fmla="*/ 1514 w 2505"/>
              <a:gd name="T9" fmla="*/ 105 h 2532"/>
              <a:gd name="T10" fmla="*/ 1545 w 2505"/>
              <a:gd name="T11" fmla="*/ 277 h 2532"/>
              <a:gd name="T12" fmla="*/ 1518 w 2505"/>
              <a:gd name="T13" fmla="*/ 463 h 2532"/>
              <a:gd name="T14" fmla="*/ 1654 w 2505"/>
              <a:gd name="T15" fmla="*/ 573 h 2532"/>
              <a:gd name="T16" fmla="*/ 1861 w 2505"/>
              <a:gd name="T17" fmla="*/ 619 h 2532"/>
              <a:gd name="T18" fmla="*/ 1947 w 2505"/>
              <a:gd name="T19" fmla="*/ 706 h 2532"/>
              <a:gd name="T20" fmla="*/ 1951 w 2505"/>
              <a:gd name="T21" fmla="*/ 828 h 2532"/>
              <a:gd name="T22" fmla="*/ 2031 w 2505"/>
              <a:gd name="T23" fmla="*/ 938 h 2532"/>
              <a:gd name="T24" fmla="*/ 2195 w 2505"/>
              <a:gd name="T25" fmla="*/ 960 h 2532"/>
              <a:gd name="T26" fmla="*/ 2372 w 2505"/>
              <a:gd name="T27" fmla="*/ 951 h 2532"/>
              <a:gd name="T28" fmla="*/ 2478 w 2505"/>
              <a:gd name="T29" fmla="*/ 1005 h 2532"/>
              <a:gd name="T30" fmla="*/ 2503 w 2505"/>
              <a:gd name="T31" fmla="*/ 1197 h 2532"/>
              <a:gd name="T32" fmla="*/ 2478 w 2505"/>
              <a:gd name="T33" fmla="*/ 1454 h 2532"/>
              <a:gd name="T34" fmla="*/ 2370 w 2505"/>
              <a:gd name="T35" fmla="*/ 1516 h 2532"/>
              <a:gd name="T36" fmla="*/ 2177 w 2505"/>
              <a:gd name="T37" fmla="*/ 1507 h 2532"/>
              <a:gd name="T38" fmla="*/ 2035 w 2505"/>
              <a:gd name="T39" fmla="*/ 1526 h 2532"/>
              <a:gd name="T40" fmla="*/ 1955 w 2505"/>
              <a:gd name="T41" fmla="*/ 1602 h 2532"/>
              <a:gd name="T42" fmla="*/ 1947 w 2505"/>
              <a:gd name="T43" fmla="*/ 1748 h 2532"/>
              <a:gd name="T44" fmla="*/ 1855 w 2505"/>
              <a:gd name="T45" fmla="*/ 1849 h 2532"/>
              <a:gd name="T46" fmla="*/ 1689 w 2505"/>
              <a:gd name="T47" fmla="*/ 1883 h 2532"/>
              <a:gd name="T48" fmla="*/ 1545 w 2505"/>
              <a:gd name="T49" fmla="*/ 1953 h 2532"/>
              <a:gd name="T50" fmla="*/ 1514 w 2505"/>
              <a:gd name="T51" fmla="*/ 2095 h 2532"/>
              <a:gd name="T52" fmla="*/ 1545 w 2505"/>
              <a:gd name="T53" fmla="*/ 2270 h 2532"/>
              <a:gd name="T54" fmla="*/ 1477 w 2505"/>
              <a:gd name="T55" fmla="*/ 2435 h 2532"/>
              <a:gd name="T56" fmla="*/ 1356 w 2505"/>
              <a:gd name="T57" fmla="*/ 2522 h 2532"/>
              <a:gd name="T58" fmla="*/ 1169 w 2505"/>
              <a:gd name="T59" fmla="*/ 2531 h 2532"/>
              <a:gd name="T60" fmla="*/ 1028 w 2505"/>
              <a:gd name="T61" fmla="*/ 2466 h 2532"/>
              <a:gd name="T62" fmla="*/ 962 w 2505"/>
              <a:gd name="T63" fmla="*/ 2342 h 2532"/>
              <a:gd name="T64" fmla="*/ 979 w 2505"/>
              <a:gd name="T65" fmla="*/ 2196 h 2532"/>
              <a:gd name="T66" fmla="*/ 989 w 2505"/>
              <a:gd name="T67" fmla="*/ 2065 h 2532"/>
              <a:gd name="T68" fmla="*/ 895 w 2505"/>
              <a:gd name="T69" fmla="*/ 1971 h 2532"/>
              <a:gd name="T70" fmla="*/ 741 w 2505"/>
              <a:gd name="T71" fmla="*/ 1935 h 2532"/>
              <a:gd name="T72" fmla="*/ 593 w 2505"/>
              <a:gd name="T73" fmla="*/ 1881 h 2532"/>
              <a:gd name="T74" fmla="*/ 554 w 2505"/>
              <a:gd name="T75" fmla="*/ 1735 h 2532"/>
              <a:gd name="T76" fmla="*/ 509 w 2505"/>
              <a:gd name="T77" fmla="*/ 1615 h 2532"/>
              <a:gd name="T78" fmla="*/ 361 w 2505"/>
              <a:gd name="T79" fmla="*/ 1570 h 2532"/>
              <a:gd name="T80" fmla="*/ 210 w 2505"/>
              <a:gd name="T81" fmla="*/ 1582 h 2532"/>
              <a:gd name="T82" fmla="*/ 49 w 2505"/>
              <a:gd name="T83" fmla="*/ 1544 h 2532"/>
              <a:gd name="T84" fmla="*/ 2 w 2505"/>
              <a:gd name="T85" fmla="*/ 1375 h 2532"/>
              <a:gd name="T86" fmla="*/ 11 w 2505"/>
              <a:gd name="T87" fmla="*/ 1132 h 2532"/>
              <a:gd name="T88" fmla="*/ 60 w 2505"/>
              <a:gd name="T89" fmla="*/ 987 h 2532"/>
              <a:gd name="T90" fmla="*/ 185 w 2505"/>
              <a:gd name="T91" fmla="*/ 949 h 2532"/>
              <a:gd name="T92" fmla="*/ 370 w 2505"/>
              <a:gd name="T93" fmla="*/ 961 h 2532"/>
              <a:gd name="T94" fmla="*/ 534 w 2505"/>
              <a:gd name="T95" fmla="*/ 904 h 2532"/>
              <a:gd name="T96" fmla="*/ 564 w 2505"/>
              <a:gd name="T97" fmla="*/ 769 h 2532"/>
              <a:gd name="T98" fmla="*/ 624 w 2505"/>
              <a:gd name="T99" fmla="*/ 636 h 2532"/>
              <a:gd name="T100" fmla="*/ 798 w 2505"/>
              <a:gd name="T101" fmla="*/ 589 h 253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505"/>
              <a:gd name="T154" fmla="*/ 0 h 2532"/>
              <a:gd name="T155" fmla="*/ 2505 w 2505"/>
              <a:gd name="T156" fmla="*/ 2532 h 253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505" h="2532">
                <a:moveTo>
                  <a:pt x="954" y="529"/>
                </a:moveTo>
                <a:lnTo>
                  <a:pt x="979" y="501"/>
                </a:lnTo>
                <a:lnTo>
                  <a:pt x="997" y="474"/>
                </a:lnTo>
                <a:lnTo>
                  <a:pt x="1007" y="443"/>
                </a:lnTo>
                <a:lnTo>
                  <a:pt x="1007" y="403"/>
                </a:lnTo>
                <a:lnTo>
                  <a:pt x="995" y="358"/>
                </a:lnTo>
                <a:lnTo>
                  <a:pt x="985" y="321"/>
                </a:lnTo>
                <a:lnTo>
                  <a:pt x="971" y="274"/>
                </a:lnTo>
                <a:lnTo>
                  <a:pt x="966" y="223"/>
                </a:lnTo>
                <a:lnTo>
                  <a:pt x="971" y="193"/>
                </a:lnTo>
                <a:lnTo>
                  <a:pt x="981" y="155"/>
                </a:lnTo>
                <a:lnTo>
                  <a:pt x="1001" y="116"/>
                </a:lnTo>
                <a:lnTo>
                  <a:pt x="1028" y="78"/>
                </a:lnTo>
                <a:lnTo>
                  <a:pt x="1063" y="47"/>
                </a:lnTo>
                <a:lnTo>
                  <a:pt x="1094" y="24"/>
                </a:lnTo>
                <a:lnTo>
                  <a:pt x="1137" y="9"/>
                </a:lnTo>
                <a:lnTo>
                  <a:pt x="1188" y="2"/>
                </a:lnTo>
                <a:lnTo>
                  <a:pt x="1243" y="0"/>
                </a:lnTo>
                <a:lnTo>
                  <a:pt x="1317" y="0"/>
                </a:lnTo>
                <a:lnTo>
                  <a:pt x="1375" y="6"/>
                </a:lnTo>
                <a:lnTo>
                  <a:pt x="1409" y="17"/>
                </a:lnTo>
                <a:lnTo>
                  <a:pt x="1434" y="31"/>
                </a:lnTo>
                <a:lnTo>
                  <a:pt x="1461" y="47"/>
                </a:lnTo>
                <a:lnTo>
                  <a:pt x="1489" y="72"/>
                </a:lnTo>
                <a:lnTo>
                  <a:pt x="1514" y="105"/>
                </a:lnTo>
                <a:lnTo>
                  <a:pt x="1533" y="133"/>
                </a:lnTo>
                <a:lnTo>
                  <a:pt x="1543" y="159"/>
                </a:lnTo>
                <a:lnTo>
                  <a:pt x="1551" y="202"/>
                </a:lnTo>
                <a:lnTo>
                  <a:pt x="1551" y="240"/>
                </a:lnTo>
                <a:lnTo>
                  <a:pt x="1545" y="277"/>
                </a:lnTo>
                <a:lnTo>
                  <a:pt x="1537" y="306"/>
                </a:lnTo>
                <a:lnTo>
                  <a:pt x="1528" y="353"/>
                </a:lnTo>
                <a:lnTo>
                  <a:pt x="1514" y="402"/>
                </a:lnTo>
                <a:lnTo>
                  <a:pt x="1508" y="432"/>
                </a:lnTo>
                <a:lnTo>
                  <a:pt x="1518" y="463"/>
                </a:lnTo>
                <a:lnTo>
                  <a:pt x="1529" y="484"/>
                </a:lnTo>
                <a:lnTo>
                  <a:pt x="1551" y="513"/>
                </a:lnTo>
                <a:lnTo>
                  <a:pt x="1582" y="537"/>
                </a:lnTo>
                <a:lnTo>
                  <a:pt x="1611" y="556"/>
                </a:lnTo>
                <a:lnTo>
                  <a:pt x="1654" y="573"/>
                </a:lnTo>
                <a:lnTo>
                  <a:pt x="1697" y="583"/>
                </a:lnTo>
                <a:lnTo>
                  <a:pt x="1738" y="592"/>
                </a:lnTo>
                <a:lnTo>
                  <a:pt x="1781" y="598"/>
                </a:lnTo>
                <a:lnTo>
                  <a:pt x="1826" y="609"/>
                </a:lnTo>
                <a:lnTo>
                  <a:pt x="1861" y="619"/>
                </a:lnTo>
                <a:lnTo>
                  <a:pt x="1889" y="632"/>
                </a:lnTo>
                <a:lnTo>
                  <a:pt x="1910" y="646"/>
                </a:lnTo>
                <a:lnTo>
                  <a:pt x="1926" y="663"/>
                </a:lnTo>
                <a:lnTo>
                  <a:pt x="1937" y="682"/>
                </a:lnTo>
                <a:lnTo>
                  <a:pt x="1947" y="706"/>
                </a:lnTo>
                <a:lnTo>
                  <a:pt x="1951" y="727"/>
                </a:lnTo>
                <a:lnTo>
                  <a:pt x="1955" y="747"/>
                </a:lnTo>
                <a:lnTo>
                  <a:pt x="1955" y="774"/>
                </a:lnTo>
                <a:lnTo>
                  <a:pt x="1951" y="805"/>
                </a:lnTo>
                <a:lnTo>
                  <a:pt x="1951" y="828"/>
                </a:lnTo>
                <a:lnTo>
                  <a:pt x="1957" y="857"/>
                </a:lnTo>
                <a:lnTo>
                  <a:pt x="1970" y="882"/>
                </a:lnTo>
                <a:lnTo>
                  <a:pt x="1986" y="904"/>
                </a:lnTo>
                <a:lnTo>
                  <a:pt x="2006" y="920"/>
                </a:lnTo>
                <a:lnTo>
                  <a:pt x="2031" y="938"/>
                </a:lnTo>
                <a:lnTo>
                  <a:pt x="2056" y="949"/>
                </a:lnTo>
                <a:lnTo>
                  <a:pt x="2095" y="956"/>
                </a:lnTo>
                <a:lnTo>
                  <a:pt x="2129" y="960"/>
                </a:lnTo>
                <a:lnTo>
                  <a:pt x="2160" y="961"/>
                </a:lnTo>
                <a:lnTo>
                  <a:pt x="2195" y="960"/>
                </a:lnTo>
                <a:lnTo>
                  <a:pt x="2238" y="956"/>
                </a:lnTo>
                <a:lnTo>
                  <a:pt x="2271" y="954"/>
                </a:lnTo>
                <a:lnTo>
                  <a:pt x="2304" y="951"/>
                </a:lnTo>
                <a:lnTo>
                  <a:pt x="2335" y="949"/>
                </a:lnTo>
                <a:lnTo>
                  <a:pt x="2372" y="951"/>
                </a:lnTo>
                <a:lnTo>
                  <a:pt x="2392" y="954"/>
                </a:lnTo>
                <a:lnTo>
                  <a:pt x="2415" y="960"/>
                </a:lnTo>
                <a:lnTo>
                  <a:pt x="2437" y="970"/>
                </a:lnTo>
                <a:lnTo>
                  <a:pt x="2460" y="987"/>
                </a:lnTo>
                <a:lnTo>
                  <a:pt x="2478" y="1005"/>
                </a:lnTo>
                <a:lnTo>
                  <a:pt x="2491" y="1032"/>
                </a:lnTo>
                <a:lnTo>
                  <a:pt x="2497" y="1055"/>
                </a:lnTo>
                <a:lnTo>
                  <a:pt x="2501" y="1084"/>
                </a:lnTo>
                <a:lnTo>
                  <a:pt x="2505" y="1136"/>
                </a:lnTo>
                <a:lnTo>
                  <a:pt x="2503" y="1197"/>
                </a:lnTo>
                <a:lnTo>
                  <a:pt x="2505" y="1262"/>
                </a:lnTo>
                <a:lnTo>
                  <a:pt x="2499" y="1337"/>
                </a:lnTo>
                <a:lnTo>
                  <a:pt x="2493" y="1390"/>
                </a:lnTo>
                <a:lnTo>
                  <a:pt x="2488" y="1431"/>
                </a:lnTo>
                <a:lnTo>
                  <a:pt x="2478" y="1454"/>
                </a:lnTo>
                <a:lnTo>
                  <a:pt x="2462" y="1476"/>
                </a:lnTo>
                <a:lnTo>
                  <a:pt x="2445" y="1490"/>
                </a:lnTo>
                <a:lnTo>
                  <a:pt x="2421" y="1503"/>
                </a:lnTo>
                <a:lnTo>
                  <a:pt x="2394" y="1510"/>
                </a:lnTo>
                <a:lnTo>
                  <a:pt x="2370" y="1516"/>
                </a:lnTo>
                <a:lnTo>
                  <a:pt x="2322" y="1517"/>
                </a:lnTo>
                <a:lnTo>
                  <a:pt x="2279" y="1516"/>
                </a:lnTo>
                <a:lnTo>
                  <a:pt x="2244" y="1510"/>
                </a:lnTo>
                <a:lnTo>
                  <a:pt x="2212" y="1508"/>
                </a:lnTo>
                <a:lnTo>
                  <a:pt x="2177" y="1507"/>
                </a:lnTo>
                <a:lnTo>
                  <a:pt x="2146" y="1507"/>
                </a:lnTo>
                <a:lnTo>
                  <a:pt x="2119" y="1508"/>
                </a:lnTo>
                <a:lnTo>
                  <a:pt x="2089" y="1510"/>
                </a:lnTo>
                <a:lnTo>
                  <a:pt x="2054" y="1519"/>
                </a:lnTo>
                <a:lnTo>
                  <a:pt x="2035" y="1526"/>
                </a:lnTo>
                <a:lnTo>
                  <a:pt x="2017" y="1534"/>
                </a:lnTo>
                <a:lnTo>
                  <a:pt x="1994" y="1548"/>
                </a:lnTo>
                <a:lnTo>
                  <a:pt x="1978" y="1566"/>
                </a:lnTo>
                <a:lnTo>
                  <a:pt x="1967" y="1582"/>
                </a:lnTo>
                <a:lnTo>
                  <a:pt x="1955" y="1602"/>
                </a:lnTo>
                <a:lnTo>
                  <a:pt x="1949" y="1622"/>
                </a:lnTo>
                <a:lnTo>
                  <a:pt x="1947" y="1643"/>
                </a:lnTo>
                <a:lnTo>
                  <a:pt x="1949" y="1667"/>
                </a:lnTo>
                <a:lnTo>
                  <a:pt x="1949" y="1706"/>
                </a:lnTo>
                <a:lnTo>
                  <a:pt x="1947" y="1748"/>
                </a:lnTo>
                <a:lnTo>
                  <a:pt x="1935" y="1778"/>
                </a:lnTo>
                <a:lnTo>
                  <a:pt x="1924" y="1804"/>
                </a:lnTo>
                <a:lnTo>
                  <a:pt x="1906" y="1822"/>
                </a:lnTo>
                <a:lnTo>
                  <a:pt x="1881" y="1836"/>
                </a:lnTo>
                <a:lnTo>
                  <a:pt x="1855" y="1849"/>
                </a:lnTo>
                <a:lnTo>
                  <a:pt x="1826" y="1856"/>
                </a:lnTo>
                <a:lnTo>
                  <a:pt x="1789" y="1863"/>
                </a:lnTo>
                <a:lnTo>
                  <a:pt x="1758" y="1872"/>
                </a:lnTo>
                <a:lnTo>
                  <a:pt x="1721" y="1877"/>
                </a:lnTo>
                <a:lnTo>
                  <a:pt x="1689" y="1883"/>
                </a:lnTo>
                <a:lnTo>
                  <a:pt x="1654" y="1890"/>
                </a:lnTo>
                <a:lnTo>
                  <a:pt x="1627" y="1903"/>
                </a:lnTo>
                <a:lnTo>
                  <a:pt x="1596" y="1915"/>
                </a:lnTo>
                <a:lnTo>
                  <a:pt x="1567" y="1931"/>
                </a:lnTo>
                <a:lnTo>
                  <a:pt x="1545" y="1953"/>
                </a:lnTo>
                <a:lnTo>
                  <a:pt x="1526" y="1978"/>
                </a:lnTo>
                <a:lnTo>
                  <a:pt x="1510" y="2009"/>
                </a:lnTo>
                <a:lnTo>
                  <a:pt x="1506" y="2036"/>
                </a:lnTo>
                <a:lnTo>
                  <a:pt x="1508" y="2066"/>
                </a:lnTo>
                <a:lnTo>
                  <a:pt x="1514" y="2095"/>
                </a:lnTo>
                <a:lnTo>
                  <a:pt x="1524" y="2126"/>
                </a:lnTo>
                <a:lnTo>
                  <a:pt x="1531" y="2160"/>
                </a:lnTo>
                <a:lnTo>
                  <a:pt x="1537" y="2191"/>
                </a:lnTo>
                <a:lnTo>
                  <a:pt x="1545" y="2230"/>
                </a:lnTo>
                <a:lnTo>
                  <a:pt x="1545" y="2270"/>
                </a:lnTo>
                <a:lnTo>
                  <a:pt x="1535" y="2309"/>
                </a:lnTo>
                <a:lnTo>
                  <a:pt x="1526" y="2340"/>
                </a:lnTo>
                <a:lnTo>
                  <a:pt x="1514" y="2370"/>
                </a:lnTo>
                <a:lnTo>
                  <a:pt x="1498" y="2399"/>
                </a:lnTo>
                <a:lnTo>
                  <a:pt x="1477" y="2435"/>
                </a:lnTo>
                <a:lnTo>
                  <a:pt x="1453" y="2459"/>
                </a:lnTo>
                <a:lnTo>
                  <a:pt x="1434" y="2475"/>
                </a:lnTo>
                <a:lnTo>
                  <a:pt x="1409" y="2495"/>
                </a:lnTo>
                <a:lnTo>
                  <a:pt x="1381" y="2513"/>
                </a:lnTo>
                <a:lnTo>
                  <a:pt x="1356" y="2522"/>
                </a:lnTo>
                <a:lnTo>
                  <a:pt x="1332" y="2527"/>
                </a:lnTo>
                <a:lnTo>
                  <a:pt x="1293" y="2531"/>
                </a:lnTo>
                <a:lnTo>
                  <a:pt x="1249" y="2532"/>
                </a:lnTo>
                <a:lnTo>
                  <a:pt x="1194" y="2531"/>
                </a:lnTo>
                <a:lnTo>
                  <a:pt x="1169" y="2531"/>
                </a:lnTo>
                <a:lnTo>
                  <a:pt x="1135" y="2525"/>
                </a:lnTo>
                <a:lnTo>
                  <a:pt x="1100" y="2516"/>
                </a:lnTo>
                <a:lnTo>
                  <a:pt x="1069" y="2500"/>
                </a:lnTo>
                <a:lnTo>
                  <a:pt x="1049" y="2486"/>
                </a:lnTo>
                <a:lnTo>
                  <a:pt x="1028" y="2466"/>
                </a:lnTo>
                <a:lnTo>
                  <a:pt x="1010" y="2448"/>
                </a:lnTo>
                <a:lnTo>
                  <a:pt x="993" y="2424"/>
                </a:lnTo>
                <a:lnTo>
                  <a:pt x="979" y="2401"/>
                </a:lnTo>
                <a:lnTo>
                  <a:pt x="968" y="2372"/>
                </a:lnTo>
                <a:lnTo>
                  <a:pt x="962" y="2342"/>
                </a:lnTo>
                <a:lnTo>
                  <a:pt x="960" y="2318"/>
                </a:lnTo>
                <a:lnTo>
                  <a:pt x="960" y="2286"/>
                </a:lnTo>
                <a:lnTo>
                  <a:pt x="962" y="2259"/>
                </a:lnTo>
                <a:lnTo>
                  <a:pt x="971" y="2230"/>
                </a:lnTo>
                <a:lnTo>
                  <a:pt x="979" y="2196"/>
                </a:lnTo>
                <a:lnTo>
                  <a:pt x="989" y="2164"/>
                </a:lnTo>
                <a:lnTo>
                  <a:pt x="995" y="2135"/>
                </a:lnTo>
                <a:lnTo>
                  <a:pt x="997" y="2108"/>
                </a:lnTo>
                <a:lnTo>
                  <a:pt x="995" y="2086"/>
                </a:lnTo>
                <a:lnTo>
                  <a:pt x="989" y="2065"/>
                </a:lnTo>
                <a:lnTo>
                  <a:pt x="973" y="2038"/>
                </a:lnTo>
                <a:lnTo>
                  <a:pt x="958" y="2020"/>
                </a:lnTo>
                <a:lnTo>
                  <a:pt x="938" y="2000"/>
                </a:lnTo>
                <a:lnTo>
                  <a:pt x="917" y="1985"/>
                </a:lnTo>
                <a:lnTo>
                  <a:pt x="895" y="1971"/>
                </a:lnTo>
                <a:lnTo>
                  <a:pt x="864" y="1960"/>
                </a:lnTo>
                <a:lnTo>
                  <a:pt x="837" y="1953"/>
                </a:lnTo>
                <a:lnTo>
                  <a:pt x="802" y="1946"/>
                </a:lnTo>
                <a:lnTo>
                  <a:pt x="770" y="1942"/>
                </a:lnTo>
                <a:lnTo>
                  <a:pt x="741" y="1935"/>
                </a:lnTo>
                <a:lnTo>
                  <a:pt x="706" y="1928"/>
                </a:lnTo>
                <a:lnTo>
                  <a:pt x="677" y="1917"/>
                </a:lnTo>
                <a:lnTo>
                  <a:pt x="642" y="1908"/>
                </a:lnTo>
                <a:lnTo>
                  <a:pt x="614" y="1897"/>
                </a:lnTo>
                <a:lnTo>
                  <a:pt x="593" y="1881"/>
                </a:lnTo>
                <a:lnTo>
                  <a:pt x="575" y="1859"/>
                </a:lnTo>
                <a:lnTo>
                  <a:pt x="564" y="1832"/>
                </a:lnTo>
                <a:lnTo>
                  <a:pt x="554" y="1796"/>
                </a:lnTo>
                <a:lnTo>
                  <a:pt x="552" y="1768"/>
                </a:lnTo>
                <a:lnTo>
                  <a:pt x="554" y="1735"/>
                </a:lnTo>
                <a:lnTo>
                  <a:pt x="558" y="1710"/>
                </a:lnTo>
                <a:lnTo>
                  <a:pt x="554" y="1679"/>
                </a:lnTo>
                <a:lnTo>
                  <a:pt x="544" y="1656"/>
                </a:lnTo>
                <a:lnTo>
                  <a:pt x="527" y="1631"/>
                </a:lnTo>
                <a:lnTo>
                  <a:pt x="509" y="1615"/>
                </a:lnTo>
                <a:lnTo>
                  <a:pt x="488" y="1598"/>
                </a:lnTo>
                <a:lnTo>
                  <a:pt x="458" y="1588"/>
                </a:lnTo>
                <a:lnTo>
                  <a:pt x="425" y="1577"/>
                </a:lnTo>
                <a:lnTo>
                  <a:pt x="390" y="1573"/>
                </a:lnTo>
                <a:lnTo>
                  <a:pt x="361" y="1570"/>
                </a:lnTo>
                <a:lnTo>
                  <a:pt x="328" y="1570"/>
                </a:lnTo>
                <a:lnTo>
                  <a:pt x="298" y="1573"/>
                </a:lnTo>
                <a:lnTo>
                  <a:pt x="269" y="1575"/>
                </a:lnTo>
                <a:lnTo>
                  <a:pt x="240" y="1579"/>
                </a:lnTo>
                <a:lnTo>
                  <a:pt x="210" y="1582"/>
                </a:lnTo>
                <a:lnTo>
                  <a:pt x="162" y="1582"/>
                </a:lnTo>
                <a:lnTo>
                  <a:pt x="130" y="1580"/>
                </a:lnTo>
                <a:lnTo>
                  <a:pt x="97" y="1573"/>
                </a:lnTo>
                <a:lnTo>
                  <a:pt x="74" y="1562"/>
                </a:lnTo>
                <a:lnTo>
                  <a:pt x="49" y="1544"/>
                </a:lnTo>
                <a:lnTo>
                  <a:pt x="31" y="1525"/>
                </a:lnTo>
                <a:lnTo>
                  <a:pt x="19" y="1503"/>
                </a:lnTo>
                <a:lnTo>
                  <a:pt x="6" y="1462"/>
                </a:lnTo>
                <a:lnTo>
                  <a:pt x="4" y="1418"/>
                </a:lnTo>
                <a:lnTo>
                  <a:pt x="2" y="1375"/>
                </a:lnTo>
                <a:lnTo>
                  <a:pt x="0" y="1321"/>
                </a:lnTo>
                <a:lnTo>
                  <a:pt x="4" y="1274"/>
                </a:lnTo>
                <a:lnTo>
                  <a:pt x="6" y="1224"/>
                </a:lnTo>
                <a:lnTo>
                  <a:pt x="8" y="1179"/>
                </a:lnTo>
                <a:lnTo>
                  <a:pt x="11" y="1132"/>
                </a:lnTo>
                <a:lnTo>
                  <a:pt x="17" y="1096"/>
                </a:lnTo>
                <a:lnTo>
                  <a:pt x="23" y="1057"/>
                </a:lnTo>
                <a:lnTo>
                  <a:pt x="31" y="1026"/>
                </a:lnTo>
                <a:lnTo>
                  <a:pt x="43" y="1006"/>
                </a:lnTo>
                <a:lnTo>
                  <a:pt x="60" y="987"/>
                </a:lnTo>
                <a:lnTo>
                  <a:pt x="78" y="974"/>
                </a:lnTo>
                <a:lnTo>
                  <a:pt x="101" y="960"/>
                </a:lnTo>
                <a:lnTo>
                  <a:pt x="123" y="956"/>
                </a:lnTo>
                <a:lnTo>
                  <a:pt x="150" y="951"/>
                </a:lnTo>
                <a:lnTo>
                  <a:pt x="185" y="949"/>
                </a:lnTo>
                <a:lnTo>
                  <a:pt x="216" y="951"/>
                </a:lnTo>
                <a:lnTo>
                  <a:pt x="259" y="956"/>
                </a:lnTo>
                <a:lnTo>
                  <a:pt x="296" y="958"/>
                </a:lnTo>
                <a:lnTo>
                  <a:pt x="328" y="960"/>
                </a:lnTo>
                <a:lnTo>
                  <a:pt x="370" y="961"/>
                </a:lnTo>
                <a:lnTo>
                  <a:pt x="415" y="956"/>
                </a:lnTo>
                <a:lnTo>
                  <a:pt x="452" y="949"/>
                </a:lnTo>
                <a:lnTo>
                  <a:pt x="488" y="936"/>
                </a:lnTo>
                <a:lnTo>
                  <a:pt x="511" y="924"/>
                </a:lnTo>
                <a:lnTo>
                  <a:pt x="534" y="904"/>
                </a:lnTo>
                <a:lnTo>
                  <a:pt x="552" y="879"/>
                </a:lnTo>
                <a:lnTo>
                  <a:pt x="564" y="853"/>
                </a:lnTo>
                <a:lnTo>
                  <a:pt x="568" y="826"/>
                </a:lnTo>
                <a:lnTo>
                  <a:pt x="566" y="807"/>
                </a:lnTo>
                <a:lnTo>
                  <a:pt x="564" y="769"/>
                </a:lnTo>
                <a:lnTo>
                  <a:pt x="566" y="731"/>
                </a:lnTo>
                <a:lnTo>
                  <a:pt x="573" y="702"/>
                </a:lnTo>
                <a:lnTo>
                  <a:pt x="583" y="675"/>
                </a:lnTo>
                <a:lnTo>
                  <a:pt x="597" y="655"/>
                </a:lnTo>
                <a:lnTo>
                  <a:pt x="624" y="636"/>
                </a:lnTo>
                <a:lnTo>
                  <a:pt x="653" y="621"/>
                </a:lnTo>
                <a:lnTo>
                  <a:pt x="690" y="610"/>
                </a:lnTo>
                <a:lnTo>
                  <a:pt x="728" y="601"/>
                </a:lnTo>
                <a:lnTo>
                  <a:pt x="759" y="594"/>
                </a:lnTo>
                <a:lnTo>
                  <a:pt x="798" y="589"/>
                </a:lnTo>
                <a:lnTo>
                  <a:pt x="835" y="582"/>
                </a:lnTo>
                <a:lnTo>
                  <a:pt x="878" y="571"/>
                </a:lnTo>
                <a:lnTo>
                  <a:pt x="919" y="555"/>
                </a:lnTo>
                <a:lnTo>
                  <a:pt x="954" y="529"/>
                </a:lnTo>
                <a:close/>
              </a:path>
            </a:pathLst>
          </a:custGeom>
          <a:solidFill>
            <a:srgbClr val="002060"/>
          </a:solidFill>
          <a:ln w="25400">
            <a:solidFill>
              <a:srgbClr val="000000"/>
            </a:solidFill>
            <a:prstDash val="solid"/>
            <a:round/>
            <a:headEnd/>
            <a:tailEnd/>
          </a:ln>
        </p:spPr>
        <p:txBody>
          <a:bodyPr lIns="295232" tIns="147616" rIns="295232" bIns="147616"/>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grpSp>
        <p:nvGrpSpPr>
          <p:cNvPr id="6" name="Group 8"/>
          <p:cNvGrpSpPr>
            <a:grpSpLocks/>
          </p:cNvGrpSpPr>
          <p:nvPr/>
        </p:nvGrpSpPr>
        <p:grpSpPr bwMode="auto">
          <a:xfrm>
            <a:off x="1294412" y="1721922"/>
            <a:ext cx="3279111" cy="2280770"/>
            <a:chOff x="638" y="785"/>
            <a:chExt cx="2259" cy="1691"/>
          </a:xfrm>
        </p:grpSpPr>
        <p:sp>
          <p:nvSpPr>
            <p:cNvPr id="20" name="Freeform 19"/>
            <p:cNvSpPr>
              <a:spLocks/>
            </p:cNvSpPr>
            <p:nvPr/>
          </p:nvSpPr>
          <p:spPr bwMode="auto">
            <a:xfrm>
              <a:off x="638" y="785"/>
              <a:ext cx="2259" cy="1691"/>
            </a:xfrm>
            <a:custGeom>
              <a:avLst/>
              <a:gdLst>
                <a:gd name="T0" fmla="*/ 2259 w 2259"/>
                <a:gd name="T1" fmla="*/ 0 h 1691"/>
                <a:gd name="T2" fmla="*/ 2 w 2259"/>
                <a:gd name="T3" fmla="*/ 1691 h 1691"/>
                <a:gd name="T4" fmla="*/ 212 w 2259"/>
                <a:gd name="T5" fmla="*/ 1659 h 1691"/>
                <a:gd name="T6" fmla="*/ 206 w 2259"/>
                <a:gd name="T7" fmla="*/ 1603 h 1691"/>
                <a:gd name="T8" fmla="*/ 183 w 2259"/>
                <a:gd name="T9" fmla="*/ 1528 h 1691"/>
                <a:gd name="T10" fmla="*/ 175 w 2259"/>
                <a:gd name="T11" fmla="*/ 1467 h 1691"/>
                <a:gd name="T12" fmla="*/ 191 w 2259"/>
                <a:gd name="T13" fmla="*/ 1404 h 1691"/>
                <a:gd name="T14" fmla="*/ 238 w 2259"/>
                <a:gd name="T15" fmla="*/ 1350 h 1691"/>
                <a:gd name="T16" fmla="*/ 296 w 2259"/>
                <a:gd name="T17" fmla="*/ 1310 h 1691"/>
                <a:gd name="T18" fmla="*/ 366 w 2259"/>
                <a:gd name="T19" fmla="*/ 1290 h 1691"/>
                <a:gd name="T20" fmla="*/ 468 w 2259"/>
                <a:gd name="T21" fmla="*/ 1292 h 1691"/>
                <a:gd name="T22" fmla="*/ 534 w 2259"/>
                <a:gd name="T23" fmla="*/ 1305 h 1691"/>
                <a:gd name="T24" fmla="*/ 601 w 2259"/>
                <a:gd name="T25" fmla="*/ 1348 h 1691"/>
                <a:gd name="T26" fmla="*/ 646 w 2259"/>
                <a:gd name="T27" fmla="*/ 1400 h 1691"/>
                <a:gd name="T28" fmla="*/ 665 w 2259"/>
                <a:gd name="T29" fmla="*/ 1456 h 1691"/>
                <a:gd name="T30" fmla="*/ 661 w 2259"/>
                <a:gd name="T31" fmla="*/ 1517 h 1691"/>
                <a:gd name="T32" fmla="*/ 646 w 2259"/>
                <a:gd name="T33" fmla="*/ 1573 h 1691"/>
                <a:gd name="T34" fmla="*/ 630 w 2259"/>
                <a:gd name="T35" fmla="*/ 1630 h 1691"/>
                <a:gd name="T36" fmla="*/ 638 w 2259"/>
                <a:gd name="T37" fmla="*/ 1684 h 1691"/>
                <a:gd name="T38" fmla="*/ 1012 w 2259"/>
                <a:gd name="T39" fmla="*/ 1625 h 1691"/>
                <a:gd name="T40" fmla="*/ 1016 w 2259"/>
                <a:gd name="T41" fmla="*/ 1549 h 1691"/>
                <a:gd name="T42" fmla="*/ 1022 w 2259"/>
                <a:gd name="T43" fmla="*/ 1486 h 1691"/>
                <a:gd name="T44" fmla="*/ 1040 w 2259"/>
                <a:gd name="T45" fmla="*/ 1432 h 1691"/>
                <a:gd name="T46" fmla="*/ 1073 w 2259"/>
                <a:gd name="T47" fmla="*/ 1396 h 1691"/>
                <a:gd name="T48" fmla="*/ 1120 w 2259"/>
                <a:gd name="T49" fmla="*/ 1377 h 1691"/>
                <a:gd name="T50" fmla="*/ 1172 w 2259"/>
                <a:gd name="T51" fmla="*/ 1371 h 1691"/>
                <a:gd name="T52" fmla="*/ 1237 w 2259"/>
                <a:gd name="T53" fmla="*/ 1373 h 1691"/>
                <a:gd name="T54" fmla="*/ 1295 w 2259"/>
                <a:gd name="T55" fmla="*/ 1378 h 1691"/>
                <a:gd name="T56" fmla="*/ 1369 w 2259"/>
                <a:gd name="T57" fmla="*/ 1382 h 1691"/>
                <a:gd name="T58" fmla="*/ 1436 w 2259"/>
                <a:gd name="T59" fmla="*/ 1373 h 1691"/>
                <a:gd name="T60" fmla="*/ 1496 w 2259"/>
                <a:gd name="T61" fmla="*/ 1353 h 1691"/>
                <a:gd name="T62" fmla="*/ 1541 w 2259"/>
                <a:gd name="T63" fmla="*/ 1315 h 1691"/>
                <a:gd name="T64" fmla="*/ 1566 w 2259"/>
                <a:gd name="T65" fmla="*/ 1269 h 1691"/>
                <a:gd name="T66" fmla="*/ 1566 w 2259"/>
                <a:gd name="T67" fmla="*/ 1215 h 1691"/>
                <a:gd name="T68" fmla="*/ 1566 w 2259"/>
                <a:gd name="T69" fmla="*/ 1155 h 1691"/>
                <a:gd name="T70" fmla="*/ 1580 w 2259"/>
                <a:gd name="T71" fmla="*/ 1107 h 1691"/>
                <a:gd name="T72" fmla="*/ 1607 w 2259"/>
                <a:gd name="T73" fmla="*/ 1067 h 1691"/>
                <a:gd name="T74" fmla="*/ 1664 w 2259"/>
                <a:gd name="T75" fmla="*/ 1040 h 1691"/>
                <a:gd name="T76" fmla="*/ 1725 w 2259"/>
                <a:gd name="T77" fmla="*/ 1024 h 1691"/>
                <a:gd name="T78" fmla="*/ 1797 w 2259"/>
                <a:gd name="T79" fmla="*/ 1009 h 1691"/>
                <a:gd name="T80" fmla="*/ 1861 w 2259"/>
                <a:gd name="T81" fmla="*/ 995 h 1691"/>
                <a:gd name="T82" fmla="*/ 1916 w 2259"/>
                <a:gd name="T83" fmla="*/ 975 h 1691"/>
                <a:gd name="T84" fmla="*/ 1957 w 2259"/>
                <a:gd name="T85" fmla="*/ 946 h 1691"/>
                <a:gd name="T86" fmla="*/ 1992 w 2259"/>
                <a:gd name="T87" fmla="*/ 901 h 1691"/>
                <a:gd name="T88" fmla="*/ 2009 w 2259"/>
                <a:gd name="T89" fmla="*/ 844 h 1691"/>
                <a:gd name="T90" fmla="*/ 2002 w 2259"/>
                <a:gd name="T91" fmla="*/ 788 h 1691"/>
                <a:gd name="T92" fmla="*/ 1982 w 2259"/>
                <a:gd name="T93" fmla="*/ 716 h 1691"/>
                <a:gd name="T94" fmla="*/ 1970 w 2259"/>
                <a:gd name="T95" fmla="*/ 655 h 1691"/>
                <a:gd name="T96" fmla="*/ 1974 w 2259"/>
                <a:gd name="T97" fmla="*/ 595 h 1691"/>
                <a:gd name="T98" fmla="*/ 1994 w 2259"/>
                <a:gd name="T99" fmla="*/ 545 h 1691"/>
                <a:gd name="T100" fmla="*/ 2027 w 2259"/>
                <a:gd name="T101" fmla="*/ 500 h 1691"/>
                <a:gd name="T102" fmla="*/ 2076 w 2259"/>
                <a:gd name="T103" fmla="*/ 457 h 1691"/>
                <a:gd name="T104" fmla="*/ 2132 w 2259"/>
                <a:gd name="T105" fmla="*/ 432 h 1691"/>
                <a:gd name="T106" fmla="*/ 2189 w 2259"/>
                <a:gd name="T107" fmla="*/ 421 h 1691"/>
                <a:gd name="T108" fmla="*/ 2259 w 2259"/>
                <a:gd name="T109" fmla="*/ 421 h 16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59"/>
                <a:gd name="T166" fmla="*/ 0 h 1691"/>
                <a:gd name="T167" fmla="*/ 2259 w 2259"/>
                <a:gd name="T168" fmla="*/ 1691 h 169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59" h="1691">
                  <a:moveTo>
                    <a:pt x="2259" y="421"/>
                  </a:moveTo>
                  <a:lnTo>
                    <a:pt x="2259" y="0"/>
                  </a:lnTo>
                  <a:lnTo>
                    <a:pt x="0" y="0"/>
                  </a:lnTo>
                  <a:lnTo>
                    <a:pt x="2" y="1691"/>
                  </a:lnTo>
                  <a:lnTo>
                    <a:pt x="203" y="1691"/>
                  </a:lnTo>
                  <a:lnTo>
                    <a:pt x="212" y="1659"/>
                  </a:lnTo>
                  <a:lnTo>
                    <a:pt x="212" y="1636"/>
                  </a:lnTo>
                  <a:lnTo>
                    <a:pt x="206" y="1603"/>
                  </a:lnTo>
                  <a:lnTo>
                    <a:pt x="195" y="1569"/>
                  </a:lnTo>
                  <a:lnTo>
                    <a:pt x="183" y="1528"/>
                  </a:lnTo>
                  <a:lnTo>
                    <a:pt x="177" y="1495"/>
                  </a:lnTo>
                  <a:lnTo>
                    <a:pt x="175" y="1467"/>
                  </a:lnTo>
                  <a:lnTo>
                    <a:pt x="181" y="1434"/>
                  </a:lnTo>
                  <a:lnTo>
                    <a:pt x="191" y="1404"/>
                  </a:lnTo>
                  <a:lnTo>
                    <a:pt x="212" y="1373"/>
                  </a:lnTo>
                  <a:lnTo>
                    <a:pt x="238" y="1350"/>
                  </a:lnTo>
                  <a:lnTo>
                    <a:pt x="265" y="1326"/>
                  </a:lnTo>
                  <a:lnTo>
                    <a:pt x="296" y="1310"/>
                  </a:lnTo>
                  <a:lnTo>
                    <a:pt x="333" y="1296"/>
                  </a:lnTo>
                  <a:lnTo>
                    <a:pt x="366" y="1290"/>
                  </a:lnTo>
                  <a:lnTo>
                    <a:pt x="413" y="1288"/>
                  </a:lnTo>
                  <a:lnTo>
                    <a:pt x="468" y="1292"/>
                  </a:lnTo>
                  <a:lnTo>
                    <a:pt x="503" y="1296"/>
                  </a:lnTo>
                  <a:lnTo>
                    <a:pt x="534" y="1305"/>
                  </a:lnTo>
                  <a:lnTo>
                    <a:pt x="564" y="1321"/>
                  </a:lnTo>
                  <a:lnTo>
                    <a:pt x="601" y="1348"/>
                  </a:lnTo>
                  <a:lnTo>
                    <a:pt x="624" y="1373"/>
                  </a:lnTo>
                  <a:lnTo>
                    <a:pt x="646" y="1400"/>
                  </a:lnTo>
                  <a:lnTo>
                    <a:pt x="657" y="1429"/>
                  </a:lnTo>
                  <a:lnTo>
                    <a:pt x="665" y="1456"/>
                  </a:lnTo>
                  <a:lnTo>
                    <a:pt x="665" y="1486"/>
                  </a:lnTo>
                  <a:lnTo>
                    <a:pt x="661" y="1517"/>
                  </a:lnTo>
                  <a:lnTo>
                    <a:pt x="653" y="1546"/>
                  </a:lnTo>
                  <a:lnTo>
                    <a:pt x="646" y="1573"/>
                  </a:lnTo>
                  <a:lnTo>
                    <a:pt x="636" y="1602"/>
                  </a:lnTo>
                  <a:lnTo>
                    <a:pt x="630" y="1630"/>
                  </a:lnTo>
                  <a:lnTo>
                    <a:pt x="630" y="1656"/>
                  </a:lnTo>
                  <a:lnTo>
                    <a:pt x="638" y="1684"/>
                  </a:lnTo>
                  <a:lnTo>
                    <a:pt x="1016" y="1684"/>
                  </a:lnTo>
                  <a:lnTo>
                    <a:pt x="1012" y="1625"/>
                  </a:lnTo>
                  <a:lnTo>
                    <a:pt x="1016" y="1582"/>
                  </a:lnTo>
                  <a:lnTo>
                    <a:pt x="1016" y="1549"/>
                  </a:lnTo>
                  <a:lnTo>
                    <a:pt x="1018" y="1519"/>
                  </a:lnTo>
                  <a:lnTo>
                    <a:pt x="1022" y="1486"/>
                  </a:lnTo>
                  <a:lnTo>
                    <a:pt x="1030" y="1454"/>
                  </a:lnTo>
                  <a:lnTo>
                    <a:pt x="1040" y="1432"/>
                  </a:lnTo>
                  <a:lnTo>
                    <a:pt x="1053" y="1413"/>
                  </a:lnTo>
                  <a:lnTo>
                    <a:pt x="1073" y="1396"/>
                  </a:lnTo>
                  <a:lnTo>
                    <a:pt x="1094" y="1384"/>
                  </a:lnTo>
                  <a:lnTo>
                    <a:pt x="1120" y="1377"/>
                  </a:lnTo>
                  <a:lnTo>
                    <a:pt x="1147" y="1373"/>
                  </a:lnTo>
                  <a:lnTo>
                    <a:pt x="1172" y="1371"/>
                  </a:lnTo>
                  <a:lnTo>
                    <a:pt x="1206" y="1371"/>
                  </a:lnTo>
                  <a:lnTo>
                    <a:pt x="1237" y="1373"/>
                  </a:lnTo>
                  <a:lnTo>
                    <a:pt x="1262" y="1377"/>
                  </a:lnTo>
                  <a:lnTo>
                    <a:pt x="1295" y="1378"/>
                  </a:lnTo>
                  <a:lnTo>
                    <a:pt x="1330" y="1382"/>
                  </a:lnTo>
                  <a:lnTo>
                    <a:pt x="1369" y="1382"/>
                  </a:lnTo>
                  <a:lnTo>
                    <a:pt x="1403" y="1378"/>
                  </a:lnTo>
                  <a:lnTo>
                    <a:pt x="1436" y="1373"/>
                  </a:lnTo>
                  <a:lnTo>
                    <a:pt x="1471" y="1366"/>
                  </a:lnTo>
                  <a:lnTo>
                    <a:pt x="1496" y="1353"/>
                  </a:lnTo>
                  <a:lnTo>
                    <a:pt x="1524" y="1337"/>
                  </a:lnTo>
                  <a:lnTo>
                    <a:pt x="1541" y="1315"/>
                  </a:lnTo>
                  <a:lnTo>
                    <a:pt x="1559" y="1292"/>
                  </a:lnTo>
                  <a:lnTo>
                    <a:pt x="1566" y="1269"/>
                  </a:lnTo>
                  <a:lnTo>
                    <a:pt x="1570" y="1242"/>
                  </a:lnTo>
                  <a:lnTo>
                    <a:pt x="1566" y="1215"/>
                  </a:lnTo>
                  <a:lnTo>
                    <a:pt x="1565" y="1186"/>
                  </a:lnTo>
                  <a:lnTo>
                    <a:pt x="1566" y="1155"/>
                  </a:lnTo>
                  <a:lnTo>
                    <a:pt x="1572" y="1132"/>
                  </a:lnTo>
                  <a:lnTo>
                    <a:pt x="1580" y="1107"/>
                  </a:lnTo>
                  <a:lnTo>
                    <a:pt x="1592" y="1083"/>
                  </a:lnTo>
                  <a:lnTo>
                    <a:pt x="1607" y="1067"/>
                  </a:lnTo>
                  <a:lnTo>
                    <a:pt x="1633" y="1051"/>
                  </a:lnTo>
                  <a:lnTo>
                    <a:pt x="1664" y="1040"/>
                  </a:lnTo>
                  <a:lnTo>
                    <a:pt x="1695" y="1031"/>
                  </a:lnTo>
                  <a:lnTo>
                    <a:pt x="1725" y="1024"/>
                  </a:lnTo>
                  <a:lnTo>
                    <a:pt x="1756" y="1017"/>
                  </a:lnTo>
                  <a:lnTo>
                    <a:pt x="1797" y="1009"/>
                  </a:lnTo>
                  <a:lnTo>
                    <a:pt x="1828" y="1004"/>
                  </a:lnTo>
                  <a:lnTo>
                    <a:pt x="1861" y="995"/>
                  </a:lnTo>
                  <a:lnTo>
                    <a:pt x="1888" y="986"/>
                  </a:lnTo>
                  <a:lnTo>
                    <a:pt x="1916" y="975"/>
                  </a:lnTo>
                  <a:lnTo>
                    <a:pt x="1937" y="961"/>
                  </a:lnTo>
                  <a:lnTo>
                    <a:pt x="1957" y="946"/>
                  </a:lnTo>
                  <a:lnTo>
                    <a:pt x="1978" y="923"/>
                  </a:lnTo>
                  <a:lnTo>
                    <a:pt x="1992" y="901"/>
                  </a:lnTo>
                  <a:lnTo>
                    <a:pt x="2004" y="876"/>
                  </a:lnTo>
                  <a:lnTo>
                    <a:pt x="2009" y="844"/>
                  </a:lnTo>
                  <a:lnTo>
                    <a:pt x="2006" y="817"/>
                  </a:lnTo>
                  <a:lnTo>
                    <a:pt x="2002" y="788"/>
                  </a:lnTo>
                  <a:lnTo>
                    <a:pt x="1992" y="754"/>
                  </a:lnTo>
                  <a:lnTo>
                    <a:pt x="1982" y="716"/>
                  </a:lnTo>
                  <a:lnTo>
                    <a:pt x="1972" y="682"/>
                  </a:lnTo>
                  <a:lnTo>
                    <a:pt x="1970" y="655"/>
                  </a:lnTo>
                  <a:lnTo>
                    <a:pt x="1970" y="630"/>
                  </a:lnTo>
                  <a:lnTo>
                    <a:pt x="1974" y="595"/>
                  </a:lnTo>
                  <a:lnTo>
                    <a:pt x="1984" y="567"/>
                  </a:lnTo>
                  <a:lnTo>
                    <a:pt x="1994" y="545"/>
                  </a:lnTo>
                  <a:lnTo>
                    <a:pt x="2007" y="524"/>
                  </a:lnTo>
                  <a:lnTo>
                    <a:pt x="2027" y="500"/>
                  </a:lnTo>
                  <a:lnTo>
                    <a:pt x="2048" y="477"/>
                  </a:lnTo>
                  <a:lnTo>
                    <a:pt x="2076" y="457"/>
                  </a:lnTo>
                  <a:lnTo>
                    <a:pt x="2105" y="441"/>
                  </a:lnTo>
                  <a:lnTo>
                    <a:pt x="2132" y="432"/>
                  </a:lnTo>
                  <a:lnTo>
                    <a:pt x="2160" y="425"/>
                  </a:lnTo>
                  <a:lnTo>
                    <a:pt x="2189" y="421"/>
                  </a:lnTo>
                  <a:lnTo>
                    <a:pt x="2224" y="421"/>
                  </a:lnTo>
                  <a:lnTo>
                    <a:pt x="2259" y="421"/>
                  </a:lnTo>
                  <a:close/>
                </a:path>
              </a:pathLst>
            </a:custGeom>
            <a:solidFill>
              <a:srgbClr val="008080"/>
            </a:solidFill>
            <a:ln w="25400">
              <a:solidFill>
                <a:srgbClr val="000000"/>
              </a:solidFill>
              <a:prstDash val="solid"/>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21" name="Text Box 5"/>
            <p:cNvSpPr txBox="1">
              <a:spLocks noChangeArrowheads="1"/>
            </p:cNvSpPr>
            <p:nvPr/>
          </p:nvSpPr>
          <p:spPr bwMode="auto">
            <a:xfrm>
              <a:off x="1086" y="915"/>
              <a:ext cx="944" cy="1002"/>
            </a:xfrm>
            <a:prstGeom prst="rect">
              <a:avLst/>
            </a:prstGeom>
            <a:noFill/>
            <a:ln w="9525">
              <a:noFill/>
              <a:miter lim="800000"/>
              <a:headEnd/>
              <a:tailEnd/>
            </a:ln>
          </p:spPr>
          <p:txBody>
            <a:bodyPr wrap="none" lIns="28313" tIns="14157" rIns="28313" bIns="14157">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300" b="1" dirty="0">
                  <a:solidFill>
                    <a:srgbClr val="FFFFFF"/>
                  </a:solidFill>
                  <a:latin typeface="Century Gothic" pitchFamily="34" charset="0"/>
                  <a:cs typeface="Arial" charset="0"/>
                </a:rPr>
                <a:t>Safety</a:t>
              </a:r>
            </a:p>
            <a:p>
              <a:pPr algn="ctr"/>
              <a:endParaRPr lang="en-US" sz="2300" b="1" dirty="0">
                <a:solidFill>
                  <a:srgbClr val="FFFFFF"/>
                </a:solidFill>
                <a:latin typeface="Century Gothic" pitchFamily="34" charset="0"/>
                <a:cs typeface="Arial" charset="0"/>
              </a:endParaRPr>
            </a:p>
            <a:p>
              <a:pPr algn="ctr"/>
              <a:r>
                <a:rPr lang="en-US" sz="2000" b="1" dirty="0">
                  <a:latin typeface="Century Gothic" pitchFamily="34" charset="0"/>
                  <a:cs typeface="Arial" charset="0"/>
                </a:rPr>
                <a:t>Preventing</a:t>
              </a:r>
            </a:p>
            <a:p>
              <a:pPr algn="ctr"/>
              <a:r>
                <a:rPr lang="en-US" sz="2000" b="1" dirty="0">
                  <a:latin typeface="Century Gothic" pitchFamily="34" charset="0"/>
                  <a:cs typeface="Arial" charset="0"/>
                </a:rPr>
                <a:t>Accidents</a:t>
              </a:r>
            </a:p>
          </p:txBody>
        </p:sp>
      </p:grpSp>
      <p:grpSp>
        <p:nvGrpSpPr>
          <p:cNvPr id="7" name="Group 9"/>
          <p:cNvGrpSpPr>
            <a:grpSpLocks/>
          </p:cNvGrpSpPr>
          <p:nvPr/>
        </p:nvGrpSpPr>
        <p:grpSpPr bwMode="auto">
          <a:xfrm>
            <a:off x="4573523" y="1721922"/>
            <a:ext cx="3266046" cy="2723166"/>
            <a:chOff x="2897" y="785"/>
            <a:chExt cx="2250" cy="2019"/>
          </a:xfrm>
        </p:grpSpPr>
        <p:sp>
          <p:nvSpPr>
            <p:cNvPr id="17" name="Freeform 16"/>
            <p:cNvSpPr>
              <a:spLocks/>
            </p:cNvSpPr>
            <p:nvPr/>
          </p:nvSpPr>
          <p:spPr bwMode="auto">
            <a:xfrm>
              <a:off x="2897" y="785"/>
              <a:ext cx="2250" cy="2019"/>
            </a:xfrm>
            <a:custGeom>
              <a:avLst/>
              <a:gdLst>
                <a:gd name="T0" fmla="*/ 0 w 2250"/>
                <a:gd name="T1" fmla="*/ 0 h 2019"/>
                <a:gd name="T2" fmla="*/ 2250 w 2250"/>
                <a:gd name="T3" fmla="*/ 1612 h 2019"/>
                <a:gd name="T4" fmla="*/ 2047 w 2250"/>
                <a:gd name="T5" fmla="*/ 1627 h 2019"/>
                <a:gd name="T6" fmla="*/ 2041 w 2250"/>
                <a:gd name="T7" fmla="*/ 1663 h 2019"/>
                <a:gd name="T8" fmla="*/ 2051 w 2250"/>
                <a:gd name="T9" fmla="*/ 1708 h 2019"/>
                <a:gd name="T10" fmla="*/ 2067 w 2250"/>
                <a:gd name="T11" fmla="*/ 1762 h 2019"/>
                <a:gd name="T12" fmla="*/ 2076 w 2250"/>
                <a:gd name="T13" fmla="*/ 1814 h 2019"/>
                <a:gd name="T14" fmla="*/ 2072 w 2250"/>
                <a:gd name="T15" fmla="*/ 1862 h 2019"/>
                <a:gd name="T16" fmla="*/ 2057 w 2250"/>
                <a:gd name="T17" fmla="*/ 1911 h 2019"/>
                <a:gd name="T18" fmla="*/ 2020 w 2250"/>
                <a:gd name="T19" fmla="*/ 1951 h 2019"/>
                <a:gd name="T20" fmla="*/ 1979 w 2250"/>
                <a:gd name="T21" fmla="*/ 1983 h 2019"/>
                <a:gd name="T22" fmla="*/ 1928 w 2250"/>
                <a:gd name="T23" fmla="*/ 2005 h 2019"/>
                <a:gd name="T24" fmla="*/ 1864 w 2250"/>
                <a:gd name="T25" fmla="*/ 2017 h 2019"/>
                <a:gd name="T26" fmla="*/ 1807 w 2250"/>
                <a:gd name="T27" fmla="*/ 2019 h 2019"/>
                <a:gd name="T28" fmla="*/ 1758 w 2250"/>
                <a:gd name="T29" fmla="*/ 2014 h 2019"/>
                <a:gd name="T30" fmla="*/ 1707 w 2250"/>
                <a:gd name="T31" fmla="*/ 1999 h 2019"/>
                <a:gd name="T32" fmla="*/ 1667 w 2250"/>
                <a:gd name="T33" fmla="*/ 1974 h 2019"/>
                <a:gd name="T34" fmla="*/ 1627 w 2250"/>
                <a:gd name="T35" fmla="*/ 1936 h 2019"/>
                <a:gd name="T36" fmla="*/ 1596 w 2250"/>
                <a:gd name="T37" fmla="*/ 1895 h 2019"/>
                <a:gd name="T38" fmla="*/ 1579 w 2250"/>
                <a:gd name="T39" fmla="*/ 1837 h 2019"/>
                <a:gd name="T40" fmla="*/ 1587 w 2250"/>
                <a:gd name="T41" fmla="*/ 1780 h 2019"/>
                <a:gd name="T42" fmla="*/ 1602 w 2250"/>
                <a:gd name="T43" fmla="*/ 1722 h 2019"/>
                <a:gd name="T44" fmla="*/ 1616 w 2250"/>
                <a:gd name="T45" fmla="*/ 1664 h 2019"/>
                <a:gd name="T46" fmla="*/ 1614 w 2250"/>
                <a:gd name="T47" fmla="*/ 1638 h 2019"/>
                <a:gd name="T48" fmla="*/ 1233 w 2250"/>
                <a:gd name="T49" fmla="*/ 1623 h 2019"/>
                <a:gd name="T50" fmla="*/ 1237 w 2250"/>
                <a:gd name="T51" fmla="*/ 1528 h 2019"/>
                <a:gd name="T52" fmla="*/ 1229 w 2250"/>
                <a:gd name="T53" fmla="*/ 1465 h 2019"/>
                <a:gd name="T54" fmla="*/ 1214 w 2250"/>
                <a:gd name="T55" fmla="*/ 1427 h 2019"/>
                <a:gd name="T56" fmla="*/ 1183 w 2250"/>
                <a:gd name="T57" fmla="*/ 1396 h 2019"/>
                <a:gd name="T58" fmla="*/ 1140 w 2250"/>
                <a:gd name="T59" fmla="*/ 1377 h 2019"/>
                <a:gd name="T60" fmla="*/ 1087 w 2250"/>
                <a:gd name="T61" fmla="*/ 1371 h 2019"/>
                <a:gd name="T62" fmla="*/ 1011 w 2250"/>
                <a:gd name="T63" fmla="*/ 1375 h 2019"/>
                <a:gd name="T64" fmla="*/ 939 w 2250"/>
                <a:gd name="T65" fmla="*/ 1380 h 2019"/>
                <a:gd name="T66" fmla="*/ 865 w 2250"/>
                <a:gd name="T67" fmla="*/ 1380 h 2019"/>
                <a:gd name="T68" fmla="*/ 790 w 2250"/>
                <a:gd name="T69" fmla="*/ 1368 h 2019"/>
                <a:gd name="T70" fmla="*/ 734 w 2250"/>
                <a:gd name="T71" fmla="*/ 1337 h 2019"/>
                <a:gd name="T72" fmla="*/ 701 w 2250"/>
                <a:gd name="T73" fmla="*/ 1296 h 2019"/>
                <a:gd name="T74" fmla="*/ 687 w 2250"/>
                <a:gd name="T75" fmla="*/ 1240 h 2019"/>
                <a:gd name="T76" fmla="*/ 689 w 2250"/>
                <a:gd name="T77" fmla="*/ 1177 h 2019"/>
                <a:gd name="T78" fmla="*/ 679 w 2250"/>
                <a:gd name="T79" fmla="*/ 1119 h 2019"/>
                <a:gd name="T80" fmla="*/ 664 w 2250"/>
                <a:gd name="T81" fmla="*/ 1083 h 2019"/>
                <a:gd name="T82" fmla="*/ 640 w 2250"/>
                <a:gd name="T83" fmla="*/ 1060 h 2019"/>
                <a:gd name="T84" fmla="*/ 586 w 2250"/>
                <a:gd name="T85" fmla="*/ 1036 h 2019"/>
                <a:gd name="T86" fmla="*/ 513 w 2250"/>
                <a:gd name="T87" fmla="*/ 1018 h 2019"/>
                <a:gd name="T88" fmla="*/ 433 w 2250"/>
                <a:gd name="T89" fmla="*/ 1006 h 2019"/>
                <a:gd name="T90" fmla="*/ 373 w 2250"/>
                <a:gd name="T91" fmla="*/ 988 h 2019"/>
                <a:gd name="T92" fmla="*/ 320 w 2250"/>
                <a:gd name="T93" fmla="*/ 961 h 2019"/>
                <a:gd name="T94" fmla="*/ 277 w 2250"/>
                <a:gd name="T95" fmla="*/ 923 h 2019"/>
                <a:gd name="T96" fmla="*/ 250 w 2250"/>
                <a:gd name="T97" fmla="*/ 876 h 2019"/>
                <a:gd name="T98" fmla="*/ 246 w 2250"/>
                <a:gd name="T99" fmla="*/ 824 h 2019"/>
                <a:gd name="T100" fmla="*/ 262 w 2250"/>
                <a:gd name="T101" fmla="*/ 766 h 2019"/>
                <a:gd name="T102" fmla="*/ 275 w 2250"/>
                <a:gd name="T103" fmla="*/ 702 h 2019"/>
                <a:gd name="T104" fmla="*/ 287 w 2250"/>
                <a:gd name="T105" fmla="*/ 640 h 2019"/>
                <a:gd name="T106" fmla="*/ 275 w 2250"/>
                <a:gd name="T107" fmla="*/ 579 h 2019"/>
                <a:gd name="T108" fmla="*/ 248 w 2250"/>
                <a:gd name="T109" fmla="*/ 524 h 2019"/>
                <a:gd name="T110" fmla="*/ 221 w 2250"/>
                <a:gd name="T111" fmla="*/ 489 h 2019"/>
                <a:gd name="T112" fmla="*/ 186 w 2250"/>
                <a:gd name="T113" fmla="*/ 459 h 2019"/>
                <a:gd name="T114" fmla="*/ 145 w 2250"/>
                <a:gd name="T115" fmla="*/ 437 h 2019"/>
                <a:gd name="T116" fmla="*/ 92 w 2250"/>
                <a:gd name="T117" fmla="*/ 423 h 2019"/>
                <a:gd name="T118" fmla="*/ 29 w 2250"/>
                <a:gd name="T119" fmla="*/ 421 h 201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50"/>
                <a:gd name="T181" fmla="*/ 0 h 2019"/>
                <a:gd name="T182" fmla="*/ 2250 w 2250"/>
                <a:gd name="T183" fmla="*/ 2019 h 201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50" h="2019">
                  <a:moveTo>
                    <a:pt x="0" y="421"/>
                  </a:moveTo>
                  <a:lnTo>
                    <a:pt x="0" y="0"/>
                  </a:lnTo>
                  <a:lnTo>
                    <a:pt x="2248" y="0"/>
                  </a:lnTo>
                  <a:lnTo>
                    <a:pt x="2250" y="1612"/>
                  </a:lnTo>
                  <a:lnTo>
                    <a:pt x="2055" y="1612"/>
                  </a:lnTo>
                  <a:lnTo>
                    <a:pt x="2047" y="1627"/>
                  </a:lnTo>
                  <a:lnTo>
                    <a:pt x="2041" y="1647"/>
                  </a:lnTo>
                  <a:lnTo>
                    <a:pt x="2041" y="1663"/>
                  </a:lnTo>
                  <a:lnTo>
                    <a:pt x="2043" y="1682"/>
                  </a:lnTo>
                  <a:lnTo>
                    <a:pt x="2051" y="1708"/>
                  </a:lnTo>
                  <a:lnTo>
                    <a:pt x="2059" y="1740"/>
                  </a:lnTo>
                  <a:lnTo>
                    <a:pt x="2067" y="1762"/>
                  </a:lnTo>
                  <a:lnTo>
                    <a:pt x="2072" y="1789"/>
                  </a:lnTo>
                  <a:lnTo>
                    <a:pt x="2076" y="1814"/>
                  </a:lnTo>
                  <a:lnTo>
                    <a:pt x="2076" y="1839"/>
                  </a:lnTo>
                  <a:lnTo>
                    <a:pt x="2072" y="1862"/>
                  </a:lnTo>
                  <a:lnTo>
                    <a:pt x="2067" y="1888"/>
                  </a:lnTo>
                  <a:lnTo>
                    <a:pt x="2057" y="1911"/>
                  </a:lnTo>
                  <a:lnTo>
                    <a:pt x="2041" y="1929"/>
                  </a:lnTo>
                  <a:lnTo>
                    <a:pt x="2020" y="1951"/>
                  </a:lnTo>
                  <a:lnTo>
                    <a:pt x="1998" y="1967"/>
                  </a:lnTo>
                  <a:lnTo>
                    <a:pt x="1979" y="1983"/>
                  </a:lnTo>
                  <a:lnTo>
                    <a:pt x="1955" y="1996"/>
                  </a:lnTo>
                  <a:lnTo>
                    <a:pt x="1928" y="2005"/>
                  </a:lnTo>
                  <a:lnTo>
                    <a:pt x="1895" y="2014"/>
                  </a:lnTo>
                  <a:lnTo>
                    <a:pt x="1864" y="2017"/>
                  </a:lnTo>
                  <a:lnTo>
                    <a:pt x="1836" y="2019"/>
                  </a:lnTo>
                  <a:lnTo>
                    <a:pt x="1807" y="2019"/>
                  </a:lnTo>
                  <a:lnTo>
                    <a:pt x="1780" y="2017"/>
                  </a:lnTo>
                  <a:lnTo>
                    <a:pt x="1758" y="2014"/>
                  </a:lnTo>
                  <a:lnTo>
                    <a:pt x="1733" y="2006"/>
                  </a:lnTo>
                  <a:lnTo>
                    <a:pt x="1707" y="1999"/>
                  </a:lnTo>
                  <a:lnTo>
                    <a:pt x="1688" y="1988"/>
                  </a:lnTo>
                  <a:lnTo>
                    <a:pt x="1667" y="1974"/>
                  </a:lnTo>
                  <a:lnTo>
                    <a:pt x="1647" y="1956"/>
                  </a:lnTo>
                  <a:lnTo>
                    <a:pt x="1627" y="1936"/>
                  </a:lnTo>
                  <a:lnTo>
                    <a:pt x="1610" y="1916"/>
                  </a:lnTo>
                  <a:lnTo>
                    <a:pt x="1596" y="1895"/>
                  </a:lnTo>
                  <a:lnTo>
                    <a:pt x="1587" y="1868"/>
                  </a:lnTo>
                  <a:lnTo>
                    <a:pt x="1579" y="1837"/>
                  </a:lnTo>
                  <a:lnTo>
                    <a:pt x="1579" y="1808"/>
                  </a:lnTo>
                  <a:lnTo>
                    <a:pt x="1587" y="1780"/>
                  </a:lnTo>
                  <a:lnTo>
                    <a:pt x="1594" y="1751"/>
                  </a:lnTo>
                  <a:lnTo>
                    <a:pt x="1602" y="1722"/>
                  </a:lnTo>
                  <a:lnTo>
                    <a:pt x="1612" y="1690"/>
                  </a:lnTo>
                  <a:lnTo>
                    <a:pt x="1616" y="1664"/>
                  </a:lnTo>
                  <a:lnTo>
                    <a:pt x="1616" y="1650"/>
                  </a:lnTo>
                  <a:lnTo>
                    <a:pt x="1614" y="1638"/>
                  </a:lnTo>
                  <a:lnTo>
                    <a:pt x="1608" y="1623"/>
                  </a:lnTo>
                  <a:lnTo>
                    <a:pt x="1233" y="1623"/>
                  </a:lnTo>
                  <a:lnTo>
                    <a:pt x="1239" y="1562"/>
                  </a:lnTo>
                  <a:lnTo>
                    <a:pt x="1237" y="1528"/>
                  </a:lnTo>
                  <a:lnTo>
                    <a:pt x="1233" y="1495"/>
                  </a:lnTo>
                  <a:lnTo>
                    <a:pt x="1229" y="1465"/>
                  </a:lnTo>
                  <a:lnTo>
                    <a:pt x="1224" y="1445"/>
                  </a:lnTo>
                  <a:lnTo>
                    <a:pt x="1214" y="1427"/>
                  </a:lnTo>
                  <a:lnTo>
                    <a:pt x="1202" y="1411"/>
                  </a:lnTo>
                  <a:lnTo>
                    <a:pt x="1183" y="1396"/>
                  </a:lnTo>
                  <a:lnTo>
                    <a:pt x="1161" y="1384"/>
                  </a:lnTo>
                  <a:lnTo>
                    <a:pt x="1140" y="1377"/>
                  </a:lnTo>
                  <a:lnTo>
                    <a:pt x="1120" y="1373"/>
                  </a:lnTo>
                  <a:lnTo>
                    <a:pt x="1087" y="1371"/>
                  </a:lnTo>
                  <a:lnTo>
                    <a:pt x="1048" y="1371"/>
                  </a:lnTo>
                  <a:lnTo>
                    <a:pt x="1011" y="1375"/>
                  </a:lnTo>
                  <a:lnTo>
                    <a:pt x="970" y="1377"/>
                  </a:lnTo>
                  <a:lnTo>
                    <a:pt x="939" y="1380"/>
                  </a:lnTo>
                  <a:lnTo>
                    <a:pt x="898" y="1382"/>
                  </a:lnTo>
                  <a:lnTo>
                    <a:pt x="865" y="1380"/>
                  </a:lnTo>
                  <a:lnTo>
                    <a:pt x="835" y="1377"/>
                  </a:lnTo>
                  <a:lnTo>
                    <a:pt x="790" y="1368"/>
                  </a:lnTo>
                  <a:lnTo>
                    <a:pt x="761" y="1355"/>
                  </a:lnTo>
                  <a:lnTo>
                    <a:pt x="734" y="1337"/>
                  </a:lnTo>
                  <a:lnTo>
                    <a:pt x="716" y="1317"/>
                  </a:lnTo>
                  <a:lnTo>
                    <a:pt x="701" y="1296"/>
                  </a:lnTo>
                  <a:lnTo>
                    <a:pt x="689" y="1269"/>
                  </a:lnTo>
                  <a:lnTo>
                    <a:pt x="687" y="1240"/>
                  </a:lnTo>
                  <a:lnTo>
                    <a:pt x="687" y="1204"/>
                  </a:lnTo>
                  <a:lnTo>
                    <a:pt x="689" y="1177"/>
                  </a:lnTo>
                  <a:lnTo>
                    <a:pt x="687" y="1150"/>
                  </a:lnTo>
                  <a:lnTo>
                    <a:pt x="679" y="1119"/>
                  </a:lnTo>
                  <a:lnTo>
                    <a:pt x="673" y="1101"/>
                  </a:lnTo>
                  <a:lnTo>
                    <a:pt x="664" y="1083"/>
                  </a:lnTo>
                  <a:lnTo>
                    <a:pt x="652" y="1071"/>
                  </a:lnTo>
                  <a:lnTo>
                    <a:pt x="640" y="1060"/>
                  </a:lnTo>
                  <a:lnTo>
                    <a:pt x="615" y="1049"/>
                  </a:lnTo>
                  <a:lnTo>
                    <a:pt x="586" y="1036"/>
                  </a:lnTo>
                  <a:lnTo>
                    <a:pt x="552" y="1027"/>
                  </a:lnTo>
                  <a:lnTo>
                    <a:pt x="513" y="1018"/>
                  </a:lnTo>
                  <a:lnTo>
                    <a:pt x="474" y="1011"/>
                  </a:lnTo>
                  <a:lnTo>
                    <a:pt x="433" y="1006"/>
                  </a:lnTo>
                  <a:lnTo>
                    <a:pt x="404" y="997"/>
                  </a:lnTo>
                  <a:lnTo>
                    <a:pt x="373" y="988"/>
                  </a:lnTo>
                  <a:lnTo>
                    <a:pt x="342" y="977"/>
                  </a:lnTo>
                  <a:lnTo>
                    <a:pt x="320" y="961"/>
                  </a:lnTo>
                  <a:lnTo>
                    <a:pt x="295" y="941"/>
                  </a:lnTo>
                  <a:lnTo>
                    <a:pt x="277" y="923"/>
                  </a:lnTo>
                  <a:lnTo>
                    <a:pt x="262" y="901"/>
                  </a:lnTo>
                  <a:lnTo>
                    <a:pt x="250" y="876"/>
                  </a:lnTo>
                  <a:lnTo>
                    <a:pt x="246" y="849"/>
                  </a:lnTo>
                  <a:lnTo>
                    <a:pt x="246" y="824"/>
                  </a:lnTo>
                  <a:lnTo>
                    <a:pt x="252" y="801"/>
                  </a:lnTo>
                  <a:lnTo>
                    <a:pt x="262" y="766"/>
                  </a:lnTo>
                  <a:lnTo>
                    <a:pt x="271" y="732"/>
                  </a:lnTo>
                  <a:lnTo>
                    <a:pt x="275" y="702"/>
                  </a:lnTo>
                  <a:lnTo>
                    <a:pt x="283" y="671"/>
                  </a:lnTo>
                  <a:lnTo>
                    <a:pt x="287" y="640"/>
                  </a:lnTo>
                  <a:lnTo>
                    <a:pt x="283" y="608"/>
                  </a:lnTo>
                  <a:lnTo>
                    <a:pt x="275" y="579"/>
                  </a:lnTo>
                  <a:lnTo>
                    <a:pt x="264" y="550"/>
                  </a:lnTo>
                  <a:lnTo>
                    <a:pt x="248" y="524"/>
                  </a:lnTo>
                  <a:lnTo>
                    <a:pt x="230" y="502"/>
                  </a:lnTo>
                  <a:lnTo>
                    <a:pt x="221" y="489"/>
                  </a:lnTo>
                  <a:lnTo>
                    <a:pt x="203" y="473"/>
                  </a:lnTo>
                  <a:lnTo>
                    <a:pt x="186" y="459"/>
                  </a:lnTo>
                  <a:lnTo>
                    <a:pt x="168" y="448"/>
                  </a:lnTo>
                  <a:lnTo>
                    <a:pt x="145" y="437"/>
                  </a:lnTo>
                  <a:lnTo>
                    <a:pt x="121" y="430"/>
                  </a:lnTo>
                  <a:lnTo>
                    <a:pt x="92" y="423"/>
                  </a:lnTo>
                  <a:lnTo>
                    <a:pt x="59" y="421"/>
                  </a:lnTo>
                  <a:lnTo>
                    <a:pt x="29" y="421"/>
                  </a:lnTo>
                  <a:lnTo>
                    <a:pt x="0" y="421"/>
                  </a:lnTo>
                  <a:close/>
                </a:path>
              </a:pathLst>
            </a:custGeom>
            <a:solidFill>
              <a:srgbClr val="7030A0"/>
            </a:solidFill>
            <a:ln w="25400">
              <a:solidFill>
                <a:srgbClr val="000000"/>
              </a:solidFill>
              <a:prstDash val="solid"/>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18" name="Text Box 9"/>
            <p:cNvSpPr txBox="1">
              <a:spLocks noChangeArrowheads="1"/>
            </p:cNvSpPr>
            <p:nvPr/>
          </p:nvSpPr>
          <p:spPr bwMode="auto">
            <a:xfrm>
              <a:off x="3573" y="915"/>
              <a:ext cx="1155" cy="1002"/>
            </a:xfrm>
            <a:prstGeom prst="rect">
              <a:avLst/>
            </a:prstGeom>
            <a:noFill/>
            <a:ln w="9525">
              <a:noFill/>
              <a:miter lim="800000"/>
              <a:headEnd/>
              <a:tailEnd/>
            </a:ln>
          </p:spPr>
          <p:txBody>
            <a:bodyPr wrap="none" lIns="28313" tIns="14157" rIns="28313" bIns="14157">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300" b="1" dirty="0">
                  <a:solidFill>
                    <a:srgbClr val="FFFFFF"/>
                  </a:solidFill>
                  <a:latin typeface="Century Gothic" pitchFamily="34" charset="0"/>
                  <a:cs typeface="Arial" charset="0"/>
                </a:rPr>
                <a:t>Quality</a:t>
              </a:r>
            </a:p>
            <a:p>
              <a:pPr algn="ctr"/>
              <a:endParaRPr lang="en-US" sz="2300" b="1" dirty="0">
                <a:solidFill>
                  <a:srgbClr val="FFFFFF"/>
                </a:solidFill>
                <a:latin typeface="Century Gothic" pitchFamily="34" charset="0"/>
                <a:cs typeface="Arial" charset="0"/>
              </a:endParaRPr>
            </a:p>
            <a:p>
              <a:pPr algn="ctr"/>
              <a:r>
                <a:rPr lang="en-US" sz="2000" b="1" dirty="0">
                  <a:latin typeface="Century Gothic" pitchFamily="34" charset="0"/>
                  <a:cs typeface="Arial" charset="0"/>
                </a:rPr>
                <a:t>Preventing</a:t>
              </a:r>
            </a:p>
            <a:p>
              <a:pPr algn="ctr"/>
              <a:r>
                <a:rPr lang="en-US" sz="2000" b="1" dirty="0" smtClean="0">
                  <a:latin typeface="Century Gothic" pitchFamily="34" charset="0"/>
                  <a:cs typeface="Arial" charset="0"/>
                </a:rPr>
                <a:t>Human Errors</a:t>
              </a:r>
              <a:endParaRPr lang="en-US" sz="2000" b="1" dirty="0">
                <a:latin typeface="Century Gothic" pitchFamily="34" charset="0"/>
                <a:cs typeface="Arial" charset="0"/>
              </a:endParaRPr>
            </a:p>
          </p:txBody>
        </p:sp>
      </p:grpSp>
      <p:sp>
        <p:nvSpPr>
          <p:cNvPr id="14" name="Freeform 13"/>
          <p:cNvSpPr>
            <a:spLocks/>
          </p:cNvSpPr>
          <p:nvPr/>
        </p:nvSpPr>
        <p:spPr bwMode="auto">
          <a:xfrm>
            <a:off x="1294411" y="3452394"/>
            <a:ext cx="3264595" cy="2723167"/>
          </a:xfrm>
          <a:custGeom>
            <a:avLst/>
            <a:gdLst>
              <a:gd name="T0" fmla="*/ 2249 w 2249"/>
              <a:gd name="T1" fmla="*/ 2019 h 2019"/>
              <a:gd name="T2" fmla="*/ 0 w 2249"/>
              <a:gd name="T3" fmla="*/ 407 h 2019"/>
              <a:gd name="T4" fmla="*/ 203 w 2249"/>
              <a:gd name="T5" fmla="*/ 392 h 2019"/>
              <a:gd name="T6" fmla="*/ 208 w 2249"/>
              <a:gd name="T7" fmla="*/ 356 h 2019"/>
              <a:gd name="T8" fmla="*/ 199 w 2249"/>
              <a:gd name="T9" fmla="*/ 311 h 2019"/>
              <a:gd name="T10" fmla="*/ 183 w 2249"/>
              <a:gd name="T11" fmla="*/ 257 h 2019"/>
              <a:gd name="T12" fmla="*/ 173 w 2249"/>
              <a:gd name="T13" fmla="*/ 205 h 2019"/>
              <a:gd name="T14" fmla="*/ 175 w 2249"/>
              <a:gd name="T15" fmla="*/ 157 h 2019"/>
              <a:gd name="T16" fmla="*/ 193 w 2249"/>
              <a:gd name="T17" fmla="*/ 108 h 2019"/>
              <a:gd name="T18" fmla="*/ 230 w 2249"/>
              <a:gd name="T19" fmla="*/ 68 h 2019"/>
              <a:gd name="T20" fmla="*/ 271 w 2249"/>
              <a:gd name="T21" fmla="*/ 36 h 2019"/>
              <a:gd name="T22" fmla="*/ 322 w 2249"/>
              <a:gd name="T23" fmla="*/ 13 h 2019"/>
              <a:gd name="T24" fmla="*/ 386 w 2249"/>
              <a:gd name="T25" fmla="*/ 2 h 2019"/>
              <a:gd name="T26" fmla="*/ 443 w 2249"/>
              <a:gd name="T27" fmla="*/ 0 h 2019"/>
              <a:gd name="T28" fmla="*/ 491 w 2249"/>
              <a:gd name="T29" fmla="*/ 5 h 2019"/>
              <a:gd name="T30" fmla="*/ 542 w 2249"/>
              <a:gd name="T31" fmla="*/ 20 h 2019"/>
              <a:gd name="T32" fmla="*/ 583 w 2249"/>
              <a:gd name="T33" fmla="*/ 45 h 2019"/>
              <a:gd name="T34" fmla="*/ 622 w 2249"/>
              <a:gd name="T35" fmla="*/ 83 h 2019"/>
              <a:gd name="T36" fmla="*/ 653 w 2249"/>
              <a:gd name="T37" fmla="*/ 124 h 2019"/>
              <a:gd name="T38" fmla="*/ 671 w 2249"/>
              <a:gd name="T39" fmla="*/ 182 h 2019"/>
              <a:gd name="T40" fmla="*/ 663 w 2249"/>
              <a:gd name="T41" fmla="*/ 239 h 2019"/>
              <a:gd name="T42" fmla="*/ 647 w 2249"/>
              <a:gd name="T43" fmla="*/ 297 h 2019"/>
              <a:gd name="T44" fmla="*/ 632 w 2249"/>
              <a:gd name="T45" fmla="*/ 355 h 2019"/>
              <a:gd name="T46" fmla="*/ 636 w 2249"/>
              <a:gd name="T47" fmla="*/ 381 h 2019"/>
              <a:gd name="T48" fmla="*/ 1014 w 2249"/>
              <a:gd name="T49" fmla="*/ 396 h 2019"/>
              <a:gd name="T50" fmla="*/ 1005 w 2249"/>
              <a:gd name="T51" fmla="*/ 502 h 2019"/>
              <a:gd name="T52" fmla="*/ 1008 w 2249"/>
              <a:gd name="T53" fmla="*/ 565 h 2019"/>
              <a:gd name="T54" fmla="*/ 1018 w 2249"/>
              <a:gd name="T55" fmla="*/ 630 h 2019"/>
              <a:gd name="T56" fmla="*/ 1044 w 2249"/>
              <a:gd name="T57" fmla="*/ 669 h 2019"/>
              <a:gd name="T58" fmla="*/ 1085 w 2249"/>
              <a:gd name="T59" fmla="*/ 698 h 2019"/>
              <a:gd name="T60" fmla="*/ 1135 w 2249"/>
              <a:gd name="T61" fmla="*/ 711 h 2019"/>
              <a:gd name="T62" fmla="*/ 1194 w 2249"/>
              <a:gd name="T63" fmla="*/ 713 h 2019"/>
              <a:gd name="T64" fmla="*/ 1250 w 2249"/>
              <a:gd name="T65" fmla="*/ 707 h 2019"/>
              <a:gd name="T66" fmla="*/ 1321 w 2249"/>
              <a:gd name="T67" fmla="*/ 700 h 2019"/>
              <a:gd name="T68" fmla="*/ 1393 w 2249"/>
              <a:gd name="T69" fmla="*/ 704 h 2019"/>
              <a:gd name="T70" fmla="*/ 1459 w 2249"/>
              <a:gd name="T71" fmla="*/ 720 h 2019"/>
              <a:gd name="T72" fmla="*/ 1514 w 2249"/>
              <a:gd name="T73" fmla="*/ 749 h 2019"/>
              <a:gd name="T74" fmla="*/ 1547 w 2249"/>
              <a:gd name="T75" fmla="*/ 792 h 2019"/>
              <a:gd name="T76" fmla="*/ 1561 w 2249"/>
              <a:gd name="T77" fmla="*/ 842 h 2019"/>
              <a:gd name="T78" fmla="*/ 1555 w 2249"/>
              <a:gd name="T79" fmla="*/ 900 h 2019"/>
              <a:gd name="T80" fmla="*/ 1561 w 2249"/>
              <a:gd name="T81" fmla="*/ 954 h 2019"/>
              <a:gd name="T82" fmla="*/ 1582 w 2249"/>
              <a:gd name="T83" fmla="*/ 1001 h 2019"/>
              <a:gd name="T84" fmla="*/ 1621 w 2249"/>
              <a:gd name="T85" fmla="*/ 1033 h 2019"/>
              <a:gd name="T86" fmla="*/ 1686 w 2249"/>
              <a:gd name="T87" fmla="*/ 1053 h 2019"/>
              <a:gd name="T88" fmla="*/ 1746 w 2249"/>
              <a:gd name="T89" fmla="*/ 1067 h 2019"/>
              <a:gd name="T90" fmla="*/ 1818 w 2249"/>
              <a:gd name="T91" fmla="*/ 1080 h 2019"/>
              <a:gd name="T92" fmla="*/ 1879 w 2249"/>
              <a:gd name="T93" fmla="*/ 1098 h 2019"/>
              <a:gd name="T94" fmla="*/ 1927 w 2249"/>
              <a:gd name="T95" fmla="*/ 1123 h 2019"/>
              <a:gd name="T96" fmla="*/ 1968 w 2249"/>
              <a:gd name="T97" fmla="*/ 1161 h 2019"/>
              <a:gd name="T98" fmla="*/ 1994 w 2249"/>
              <a:gd name="T99" fmla="*/ 1206 h 2019"/>
              <a:gd name="T100" fmla="*/ 1996 w 2249"/>
              <a:gd name="T101" fmla="*/ 1269 h 2019"/>
              <a:gd name="T102" fmla="*/ 1982 w 2249"/>
              <a:gd name="T103" fmla="*/ 1330 h 2019"/>
              <a:gd name="T104" fmla="*/ 1963 w 2249"/>
              <a:gd name="T105" fmla="*/ 1402 h 2019"/>
              <a:gd name="T106" fmla="*/ 1959 w 2249"/>
              <a:gd name="T107" fmla="*/ 1454 h 2019"/>
              <a:gd name="T108" fmla="*/ 1972 w 2249"/>
              <a:gd name="T109" fmla="*/ 1517 h 2019"/>
              <a:gd name="T110" fmla="*/ 1998 w 2249"/>
              <a:gd name="T111" fmla="*/ 1560 h 2019"/>
              <a:gd name="T112" fmla="*/ 2039 w 2249"/>
              <a:gd name="T113" fmla="*/ 1607 h 2019"/>
              <a:gd name="T114" fmla="*/ 2093 w 2249"/>
              <a:gd name="T115" fmla="*/ 1643 h 2019"/>
              <a:gd name="T116" fmla="*/ 2150 w 2249"/>
              <a:gd name="T117" fmla="*/ 1659 h 2019"/>
              <a:gd name="T118" fmla="*/ 2214 w 2249"/>
              <a:gd name="T119" fmla="*/ 1665 h 201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49"/>
              <a:gd name="T181" fmla="*/ 0 h 2019"/>
              <a:gd name="T182" fmla="*/ 2249 w 2249"/>
              <a:gd name="T183" fmla="*/ 2019 h 201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49" h="2019">
                <a:moveTo>
                  <a:pt x="2249" y="1663"/>
                </a:moveTo>
                <a:lnTo>
                  <a:pt x="2249" y="2019"/>
                </a:lnTo>
                <a:lnTo>
                  <a:pt x="2" y="2019"/>
                </a:lnTo>
                <a:lnTo>
                  <a:pt x="0" y="407"/>
                </a:lnTo>
                <a:lnTo>
                  <a:pt x="195" y="407"/>
                </a:lnTo>
                <a:lnTo>
                  <a:pt x="203" y="392"/>
                </a:lnTo>
                <a:lnTo>
                  <a:pt x="208" y="373"/>
                </a:lnTo>
                <a:lnTo>
                  <a:pt x="208" y="356"/>
                </a:lnTo>
                <a:lnTo>
                  <a:pt x="206" y="337"/>
                </a:lnTo>
                <a:lnTo>
                  <a:pt x="199" y="311"/>
                </a:lnTo>
                <a:lnTo>
                  <a:pt x="191" y="279"/>
                </a:lnTo>
                <a:lnTo>
                  <a:pt x="183" y="257"/>
                </a:lnTo>
                <a:lnTo>
                  <a:pt x="175" y="230"/>
                </a:lnTo>
                <a:lnTo>
                  <a:pt x="173" y="205"/>
                </a:lnTo>
                <a:lnTo>
                  <a:pt x="173" y="180"/>
                </a:lnTo>
                <a:lnTo>
                  <a:pt x="175" y="157"/>
                </a:lnTo>
                <a:lnTo>
                  <a:pt x="183" y="131"/>
                </a:lnTo>
                <a:lnTo>
                  <a:pt x="193" y="108"/>
                </a:lnTo>
                <a:lnTo>
                  <a:pt x="208" y="90"/>
                </a:lnTo>
                <a:lnTo>
                  <a:pt x="230" y="68"/>
                </a:lnTo>
                <a:lnTo>
                  <a:pt x="249" y="52"/>
                </a:lnTo>
                <a:lnTo>
                  <a:pt x="271" y="36"/>
                </a:lnTo>
                <a:lnTo>
                  <a:pt x="294" y="23"/>
                </a:lnTo>
                <a:lnTo>
                  <a:pt x="322" y="13"/>
                </a:lnTo>
                <a:lnTo>
                  <a:pt x="353" y="5"/>
                </a:lnTo>
                <a:lnTo>
                  <a:pt x="386" y="2"/>
                </a:lnTo>
                <a:lnTo>
                  <a:pt x="413" y="0"/>
                </a:lnTo>
                <a:lnTo>
                  <a:pt x="443" y="0"/>
                </a:lnTo>
                <a:lnTo>
                  <a:pt x="470" y="2"/>
                </a:lnTo>
                <a:lnTo>
                  <a:pt x="491" y="5"/>
                </a:lnTo>
                <a:lnTo>
                  <a:pt x="517" y="13"/>
                </a:lnTo>
                <a:lnTo>
                  <a:pt x="542" y="20"/>
                </a:lnTo>
                <a:lnTo>
                  <a:pt x="562" y="31"/>
                </a:lnTo>
                <a:lnTo>
                  <a:pt x="583" y="45"/>
                </a:lnTo>
                <a:lnTo>
                  <a:pt x="603" y="63"/>
                </a:lnTo>
                <a:lnTo>
                  <a:pt x="622" y="83"/>
                </a:lnTo>
                <a:lnTo>
                  <a:pt x="640" y="103"/>
                </a:lnTo>
                <a:lnTo>
                  <a:pt x="653" y="124"/>
                </a:lnTo>
                <a:lnTo>
                  <a:pt x="663" y="151"/>
                </a:lnTo>
                <a:lnTo>
                  <a:pt x="671" y="182"/>
                </a:lnTo>
                <a:lnTo>
                  <a:pt x="671" y="211"/>
                </a:lnTo>
                <a:lnTo>
                  <a:pt x="663" y="239"/>
                </a:lnTo>
                <a:lnTo>
                  <a:pt x="655" y="268"/>
                </a:lnTo>
                <a:lnTo>
                  <a:pt x="647" y="297"/>
                </a:lnTo>
                <a:lnTo>
                  <a:pt x="638" y="329"/>
                </a:lnTo>
                <a:lnTo>
                  <a:pt x="632" y="355"/>
                </a:lnTo>
                <a:lnTo>
                  <a:pt x="632" y="369"/>
                </a:lnTo>
                <a:lnTo>
                  <a:pt x="636" y="381"/>
                </a:lnTo>
                <a:lnTo>
                  <a:pt x="642" y="396"/>
                </a:lnTo>
                <a:lnTo>
                  <a:pt x="1014" y="396"/>
                </a:lnTo>
                <a:lnTo>
                  <a:pt x="1006" y="462"/>
                </a:lnTo>
                <a:lnTo>
                  <a:pt x="1005" y="502"/>
                </a:lnTo>
                <a:lnTo>
                  <a:pt x="1006" y="534"/>
                </a:lnTo>
                <a:lnTo>
                  <a:pt x="1008" y="565"/>
                </a:lnTo>
                <a:lnTo>
                  <a:pt x="1012" y="597"/>
                </a:lnTo>
                <a:lnTo>
                  <a:pt x="1018" y="630"/>
                </a:lnTo>
                <a:lnTo>
                  <a:pt x="1030" y="651"/>
                </a:lnTo>
                <a:lnTo>
                  <a:pt x="1044" y="669"/>
                </a:lnTo>
                <a:lnTo>
                  <a:pt x="1061" y="686"/>
                </a:lnTo>
                <a:lnTo>
                  <a:pt x="1085" y="698"/>
                </a:lnTo>
                <a:lnTo>
                  <a:pt x="1110" y="707"/>
                </a:lnTo>
                <a:lnTo>
                  <a:pt x="1135" y="711"/>
                </a:lnTo>
                <a:lnTo>
                  <a:pt x="1163" y="713"/>
                </a:lnTo>
                <a:lnTo>
                  <a:pt x="1194" y="713"/>
                </a:lnTo>
                <a:lnTo>
                  <a:pt x="1227" y="709"/>
                </a:lnTo>
                <a:lnTo>
                  <a:pt x="1250" y="707"/>
                </a:lnTo>
                <a:lnTo>
                  <a:pt x="1286" y="704"/>
                </a:lnTo>
                <a:lnTo>
                  <a:pt x="1321" y="700"/>
                </a:lnTo>
                <a:lnTo>
                  <a:pt x="1360" y="700"/>
                </a:lnTo>
                <a:lnTo>
                  <a:pt x="1393" y="704"/>
                </a:lnTo>
                <a:lnTo>
                  <a:pt x="1426" y="709"/>
                </a:lnTo>
                <a:lnTo>
                  <a:pt x="1459" y="720"/>
                </a:lnTo>
                <a:lnTo>
                  <a:pt x="1486" y="731"/>
                </a:lnTo>
                <a:lnTo>
                  <a:pt x="1514" y="749"/>
                </a:lnTo>
                <a:lnTo>
                  <a:pt x="1531" y="768"/>
                </a:lnTo>
                <a:lnTo>
                  <a:pt x="1547" y="792"/>
                </a:lnTo>
                <a:lnTo>
                  <a:pt x="1557" y="817"/>
                </a:lnTo>
                <a:lnTo>
                  <a:pt x="1561" y="842"/>
                </a:lnTo>
                <a:lnTo>
                  <a:pt x="1557" y="871"/>
                </a:lnTo>
                <a:lnTo>
                  <a:pt x="1555" y="900"/>
                </a:lnTo>
                <a:lnTo>
                  <a:pt x="1557" y="929"/>
                </a:lnTo>
                <a:lnTo>
                  <a:pt x="1561" y="954"/>
                </a:lnTo>
                <a:lnTo>
                  <a:pt x="1570" y="977"/>
                </a:lnTo>
                <a:lnTo>
                  <a:pt x="1582" y="1001"/>
                </a:lnTo>
                <a:lnTo>
                  <a:pt x="1598" y="1017"/>
                </a:lnTo>
                <a:lnTo>
                  <a:pt x="1621" y="1033"/>
                </a:lnTo>
                <a:lnTo>
                  <a:pt x="1652" y="1044"/>
                </a:lnTo>
                <a:lnTo>
                  <a:pt x="1686" y="1053"/>
                </a:lnTo>
                <a:lnTo>
                  <a:pt x="1713" y="1060"/>
                </a:lnTo>
                <a:lnTo>
                  <a:pt x="1746" y="1067"/>
                </a:lnTo>
                <a:lnTo>
                  <a:pt x="1785" y="1074"/>
                </a:lnTo>
                <a:lnTo>
                  <a:pt x="1818" y="1080"/>
                </a:lnTo>
                <a:lnTo>
                  <a:pt x="1851" y="1089"/>
                </a:lnTo>
                <a:lnTo>
                  <a:pt x="1879" y="1098"/>
                </a:lnTo>
                <a:lnTo>
                  <a:pt x="1906" y="1109"/>
                </a:lnTo>
                <a:lnTo>
                  <a:pt x="1927" y="1123"/>
                </a:lnTo>
                <a:lnTo>
                  <a:pt x="1945" y="1137"/>
                </a:lnTo>
                <a:lnTo>
                  <a:pt x="1968" y="1161"/>
                </a:lnTo>
                <a:lnTo>
                  <a:pt x="1982" y="1182"/>
                </a:lnTo>
                <a:lnTo>
                  <a:pt x="1994" y="1206"/>
                </a:lnTo>
                <a:lnTo>
                  <a:pt x="2000" y="1238"/>
                </a:lnTo>
                <a:lnTo>
                  <a:pt x="1996" y="1269"/>
                </a:lnTo>
                <a:lnTo>
                  <a:pt x="1990" y="1296"/>
                </a:lnTo>
                <a:lnTo>
                  <a:pt x="1982" y="1330"/>
                </a:lnTo>
                <a:lnTo>
                  <a:pt x="1972" y="1368"/>
                </a:lnTo>
                <a:lnTo>
                  <a:pt x="1963" y="1402"/>
                </a:lnTo>
                <a:lnTo>
                  <a:pt x="1959" y="1431"/>
                </a:lnTo>
                <a:lnTo>
                  <a:pt x="1959" y="1454"/>
                </a:lnTo>
                <a:lnTo>
                  <a:pt x="1965" y="1488"/>
                </a:lnTo>
                <a:lnTo>
                  <a:pt x="1972" y="1517"/>
                </a:lnTo>
                <a:lnTo>
                  <a:pt x="1984" y="1539"/>
                </a:lnTo>
                <a:lnTo>
                  <a:pt x="1998" y="1560"/>
                </a:lnTo>
                <a:lnTo>
                  <a:pt x="2017" y="1584"/>
                </a:lnTo>
                <a:lnTo>
                  <a:pt x="2039" y="1607"/>
                </a:lnTo>
                <a:lnTo>
                  <a:pt x="2064" y="1627"/>
                </a:lnTo>
                <a:lnTo>
                  <a:pt x="2093" y="1643"/>
                </a:lnTo>
                <a:lnTo>
                  <a:pt x="2121" y="1652"/>
                </a:lnTo>
                <a:lnTo>
                  <a:pt x="2150" y="1659"/>
                </a:lnTo>
                <a:lnTo>
                  <a:pt x="2179" y="1663"/>
                </a:lnTo>
                <a:lnTo>
                  <a:pt x="2214" y="1665"/>
                </a:lnTo>
                <a:lnTo>
                  <a:pt x="2249" y="1663"/>
                </a:lnTo>
                <a:close/>
              </a:path>
            </a:pathLst>
          </a:custGeom>
          <a:solidFill>
            <a:srgbClr val="FFC000"/>
          </a:solidFill>
          <a:ln w="25400">
            <a:solidFill>
              <a:srgbClr val="000000"/>
            </a:solidFill>
            <a:prstDash val="solid"/>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15" name="Text Box 13"/>
          <p:cNvSpPr txBox="1">
            <a:spLocks noChangeArrowheads="1"/>
          </p:cNvSpPr>
          <p:nvPr/>
        </p:nvSpPr>
        <p:spPr bwMode="auto">
          <a:xfrm>
            <a:off x="1634392" y="4486901"/>
            <a:ext cx="1719494" cy="1444363"/>
          </a:xfrm>
          <a:prstGeom prst="rect">
            <a:avLst/>
          </a:prstGeom>
          <a:noFill/>
          <a:ln w="9525">
            <a:noFill/>
            <a:miter lim="800000"/>
            <a:headEnd/>
            <a:tailEnd/>
          </a:ln>
        </p:spPr>
        <p:txBody>
          <a:bodyPr wrap="none" lIns="28313" tIns="14157" rIns="28313" bIns="14157">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300" b="1" dirty="0">
                <a:solidFill>
                  <a:srgbClr val="FFFFFF"/>
                </a:solidFill>
                <a:latin typeface="Century Gothic" pitchFamily="34" charset="0"/>
                <a:cs typeface="Arial" charset="0"/>
              </a:rPr>
              <a:t>Productivity</a:t>
            </a:r>
          </a:p>
          <a:p>
            <a:pPr algn="ctr"/>
            <a:endParaRPr lang="en-US" sz="2300" b="1" dirty="0">
              <a:solidFill>
                <a:srgbClr val="FFFFFF"/>
              </a:solidFill>
              <a:latin typeface="Century Gothic" pitchFamily="34" charset="0"/>
              <a:cs typeface="Arial" charset="0"/>
            </a:endParaRPr>
          </a:p>
          <a:p>
            <a:pPr algn="ctr"/>
            <a:r>
              <a:rPr lang="en-US" sz="2300" b="1" dirty="0">
                <a:latin typeface="Century Gothic" pitchFamily="34" charset="0"/>
                <a:cs typeface="Arial" charset="0"/>
              </a:rPr>
              <a:t>Eliminating</a:t>
            </a:r>
          </a:p>
          <a:p>
            <a:pPr algn="ctr"/>
            <a:r>
              <a:rPr lang="en-US" sz="2300" b="1" dirty="0">
                <a:latin typeface="Century Gothic" pitchFamily="34" charset="0"/>
                <a:cs typeface="Arial" charset="0"/>
              </a:rPr>
              <a:t>Waste</a:t>
            </a:r>
          </a:p>
        </p:txBody>
      </p:sp>
      <p:grpSp>
        <p:nvGrpSpPr>
          <p:cNvPr id="9" name="Group 11"/>
          <p:cNvGrpSpPr>
            <a:grpSpLocks/>
          </p:cNvGrpSpPr>
          <p:nvPr/>
        </p:nvGrpSpPr>
        <p:grpSpPr bwMode="auto">
          <a:xfrm>
            <a:off x="4559006" y="3894790"/>
            <a:ext cx="3280562" cy="2280771"/>
            <a:chOff x="2887" y="2396"/>
            <a:chExt cx="2260" cy="1691"/>
          </a:xfrm>
        </p:grpSpPr>
        <p:sp>
          <p:nvSpPr>
            <p:cNvPr id="11" name="Freeform 10"/>
            <p:cNvSpPr>
              <a:spLocks/>
            </p:cNvSpPr>
            <p:nvPr/>
          </p:nvSpPr>
          <p:spPr bwMode="auto">
            <a:xfrm>
              <a:off x="2887" y="2396"/>
              <a:ext cx="2260" cy="1691"/>
            </a:xfrm>
            <a:custGeom>
              <a:avLst/>
              <a:gdLst>
                <a:gd name="T0" fmla="*/ 0 w 2260"/>
                <a:gd name="T1" fmla="*/ 1691 h 1691"/>
                <a:gd name="T2" fmla="*/ 2258 w 2260"/>
                <a:gd name="T3" fmla="*/ 0 h 1691"/>
                <a:gd name="T4" fmla="*/ 2047 w 2260"/>
                <a:gd name="T5" fmla="*/ 32 h 1691"/>
                <a:gd name="T6" fmla="*/ 2053 w 2260"/>
                <a:gd name="T7" fmla="*/ 88 h 1691"/>
                <a:gd name="T8" fmla="*/ 2077 w 2260"/>
                <a:gd name="T9" fmla="*/ 163 h 1691"/>
                <a:gd name="T10" fmla="*/ 2082 w 2260"/>
                <a:gd name="T11" fmla="*/ 224 h 1691"/>
                <a:gd name="T12" fmla="*/ 2069 w 2260"/>
                <a:gd name="T13" fmla="*/ 287 h 1691"/>
                <a:gd name="T14" fmla="*/ 2022 w 2260"/>
                <a:gd name="T15" fmla="*/ 341 h 1691"/>
                <a:gd name="T16" fmla="*/ 1963 w 2260"/>
                <a:gd name="T17" fmla="*/ 381 h 1691"/>
                <a:gd name="T18" fmla="*/ 1893 w 2260"/>
                <a:gd name="T19" fmla="*/ 401 h 1691"/>
                <a:gd name="T20" fmla="*/ 1792 w 2260"/>
                <a:gd name="T21" fmla="*/ 399 h 1691"/>
                <a:gd name="T22" fmla="*/ 1725 w 2260"/>
                <a:gd name="T23" fmla="*/ 386 h 1691"/>
                <a:gd name="T24" fmla="*/ 1659 w 2260"/>
                <a:gd name="T25" fmla="*/ 343 h 1691"/>
                <a:gd name="T26" fmla="*/ 1614 w 2260"/>
                <a:gd name="T27" fmla="*/ 291 h 1691"/>
                <a:gd name="T28" fmla="*/ 1595 w 2260"/>
                <a:gd name="T29" fmla="*/ 235 h 1691"/>
                <a:gd name="T30" fmla="*/ 1598 w 2260"/>
                <a:gd name="T31" fmla="*/ 174 h 1691"/>
                <a:gd name="T32" fmla="*/ 1614 w 2260"/>
                <a:gd name="T33" fmla="*/ 118 h 1691"/>
                <a:gd name="T34" fmla="*/ 1630 w 2260"/>
                <a:gd name="T35" fmla="*/ 61 h 1691"/>
                <a:gd name="T36" fmla="*/ 1622 w 2260"/>
                <a:gd name="T37" fmla="*/ 7 h 1691"/>
                <a:gd name="T38" fmla="*/ 1247 w 2260"/>
                <a:gd name="T39" fmla="*/ 66 h 1691"/>
                <a:gd name="T40" fmla="*/ 1241 w 2260"/>
                <a:gd name="T41" fmla="*/ 142 h 1691"/>
                <a:gd name="T42" fmla="*/ 1237 w 2260"/>
                <a:gd name="T43" fmla="*/ 205 h 1691"/>
                <a:gd name="T44" fmla="*/ 1220 w 2260"/>
                <a:gd name="T45" fmla="*/ 259 h 1691"/>
                <a:gd name="T46" fmla="*/ 1187 w 2260"/>
                <a:gd name="T47" fmla="*/ 295 h 1691"/>
                <a:gd name="T48" fmla="*/ 1140 w 2260"/>
                <a:gd name="T49" fmla="*/ 314 h 1691"/>
                <a:gd name="T50" fmla="*/ 1087 w 2260"/>
                <a:gd name="T51" fmla="*/ 320 h 1691"/>
                <a:gd name="T52" fmla="*/ 1023 w 2260"/>
                <a:gd name="T53" fmla="*/ 316 h 1691"/>
                <a:gd name="T54" fmla="*/ 964 w 2260"/>
                <a:gd name="T55" fmla="*/ 313 h 1691"/>
                <a:gd name="T56" fmla="*/ 890 w 2260"/>
                <a:gd name="T57" fmla="*/ 309 h 1691"/>
                <a:gd name="T58" fmla="*/ 824 w 2260"/>
                <a:gd name="T59" fmla="*/ 316 h 1691"/>
                <a:gd name="T60" fmla="*/ 763 w 2260"/>
                <a:gd name="T61" fmla="*/ 338 h 1691"/>
                <a:gd name="T62" fmla="*/ 718 w 2260"/>
                <a:gd name="T63" fmla="*/ 376 h 1691"/>
                <a:gd name="T64" fmla="*/ 693 w 2260"/>
                <a:gd name="T65" fmla="*/ 422 h 1691"/>
                <a:gd name="T66" fmla="*/ 693 w 2260"/>
                <a:gd name="T67" fmla="*/ 476 h 1691"/>
                <a:gd name="T68" fmla="*/ 693 w 2260"/>
                <a:gd name="T69" fmla="*/ 536 h 1691"/>
                <a:gd name="T70" fmla="*/ 679 w 2260"/>
                <a:gd name="T71" fmla="*/ 584 h 1691"/>
                <a:gd name="T72" fmla="*/ 652 w 2260"/>
                <a:gd name="T73" fmla="*/ 624 h 1691"/>
                <a:gd name="T74" fmla="*/ 596 w 2260"/>
                <a:gd name="T75" fmla="*/ 651 h 1691"/>
                <a:gd name="T76" fmla="*/ 535 w 2260"/>
                <a:gd name="T77" fmla="*/ 667 h 1691"/>
                <a:gd name="T78" fmla="*/ 463 w 2260"/>
                <a:gd name="T79" fmla="*/ 682 h 1691"/>
                <a:gd name="T80" fmla="*/ 398 w 2260"/>
                <a:gd name="T81" fmla="*/ 696 h 1691"/>
                <a:gd name="T82" fmla="*/ 344 w 2260"/>
                <a:gd name="T83" fmla="*/ 716 h 1691"/>
                <a:gd name="T84" fmla="*/ 303 w 2260"/>
                <a:gd name="T85" fmla="*/ 745 h 1691"/>
                <a:gd name="T86" fmla="*/ 268 w 2260"/>
                <a:gd name="T87" fmla="*/ 790 h 1691"/>
                <a:gd name="T88" fmla="*/ 250 w 2260"/>
                <a:gd name="T89" fmla="*/ 845 h 1691"/>
                <a:gd name="T90" fmla="*/ 258 w 2260"/>
                <a:gd name="T91" fmla="*/ 903 h 1691"/>
                <a:gd name="T92" fmla="*/ 277 w 2260"/>
                <a:gd name="T93" fmla="*/ 975 h 1691"/>
                <a:gd name="T94" fmla="*/ 289 w 2260"/>
                <a:gd name="T95" fmla="*/ 1036 h 1691"/>
                <a:gd name="T96" fmla="*/ 285 w 2260"/>
                <a:gd name="T97" fmla="*/ 1096 h 1691"/>
                <a:gd name="T98" fmla="*/ 268 w 2260"/>
                <a:gd name="T99" fmla="*/ 1150 h 1691"/>
                <a:gd name="T100" fmla="*/ 240 w 2260"/>
                <a:gd name="T101" fmla="*/ 1203 h 1691"/>
                <a:gd name="T102" fmla="*/ 196 w 2260"/>
                <a:gd name="T103" fmla="*/ 1263 h 1691"/>
                <a:gd name="T104" fmla="*/ 151 w 2260"/>
                <a:gd name="T105" fmla="*/ 1301 h 1691"/>
                <a:gd name="T106" fmla="*/ 104 w 2260"/>
                <a:gd name="T107" fmla="*/ 1324 h 1691"/>
                <a:gd name="T108" fmla="*/ 34 w 2260"/>
                <a:gd name="T109" fmla="*/ 1337 h 16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60"/>
                <a:gd name="T166" fmla="*/ 0 h 1691"/>
                <a:gd name="T167" fmla="*/ 2260 w 2260"/>
                <a:gd name="T168" fmla="*/ 1691 h 169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60" h="1691">
                  <a:moveTo>
                    <a:pt x="0" y="1337"/>
                  </a:moveTo>
                  <a:lnTo>
                    <a:pt x="0" y="1691"/>
                  </a:lnTo>
                  <a:lnTo>
                    <a:pt x="2260" y="1691"/>
                  </a:lnTo>
                  <a:lnTo>
                    <a:pt x="2258" y="0"/>
                  </a:lnTo>
                  <a:lnTo>
                    <a:pt x="2057" y="0"/>
                  </a:lnTo>
                  <a:lnTo>
                    <a:pt x="2047" y="32"/>
                  </a:lnTo>
                  <a:lnTo>
                    <a:pt x="2047" y="55"/>
                  </a:lnTo>
                  <a:lnTo>
                    <a:pt x="2053" y="88"/>
                  </a:lnTo>
                  <a:lnTo>
                    <a:pt x="2065" y="122"/>
                  </a:lnTo>
                  <a:lnTo>
                    <a:pt x="2077" y="163"/>
                  </a:lnTo>
                  <a:lnTo>
                    <a:pt x="2082" y="196"/>
                  </a:lnTo>
                  <a:lnTo>
                    <a:pt x="2082" y="224"/>
                  </a:lnTo>
                  <a:lnTo>
                    <a:pt x="2078" y="257"/>
                  </a:lnTo>
                  <a:lnTo>
                    <a:pt x="2069" y="287"/>
                  </a:lnTo>
                  <a:lnTo>
                    <a:pt x="2047" y="316"/>
                  </a:lnTo>
                  <a:lnTo>
                    <a:pt x="2022" y="341"/>
                  </a:lnTo>
                  <a:lnTo>
                    <a:pt x="1995" y="365"/>
                  </a:lnTo>
                  <a:lnTo>
                    <a:pt x="1963" y="381"/>
                  </a:lnTo>
                  <a:lnTo>
                    <a:pt x="1926" y="394"/>
                  </a:lnTo>
                  <a:lnTo>
                    <a:pt x="1893" y="401"/>
                  </a:lnTo>
                  <a:lnTo>
                    <a:pt x="1846" y="403"/>
                  </a:lnTo>
                  <a:lnTo>
                    <a:pt x="1792" y="399"/>
                  </a:lnTo>
                  <a:lnTo>
                    <a:pt x="1757" y="394"/>
                  </a:lnTo>
                  <a:lnTo>
                    <a:pt x="1725" y="386"/>
                  </a:lnTo>
                  <a:lnTo>
                    <a:pt x="1696" y="370"/>
                  </a:lnTo>
                  <a:lnTo>
                    <a:pt x="1659" y="343"/>
                  </a:lnTo>
                  <a:lnTo>
                    <a:pt x="1636" y="318"/>
                  </a:lnTo>
                  <a:lnTo>
                    <a:pt x="1614" y="291"/>
                  </a:lnTo>
                  <a:lnTo>
                    <a:pt x="1602" y="262"/>
                  </a:lnTo>
                  <a:lnTo>
                    <a:pt x="1595" y="235"/>
                  </a:lnTo>
                  <a:lnTo>
                    <a:pt x="1595" y="205"/>
                  </a:lnTo>
                  <a:lnTo>
                    <a:pt x="1598" y="174"/>
                  </a:lnTo>
                  <a:lnTo>
                    <a:pt x="1606" y="145"/>
                  </a:lnTo>
                  <a:lnTo>
                    <a:pt x="1614" y="118"/>
                  </a:lnTo>
                  <a:lnTo>
                    <a:pt x="1624" y="89"/>
                  </a:lnTo>
                  <a:lnTo>
                    <a:pt x="1630" y="61"/>
                  </a:lnTo>
                  <a:lnTo>
                    <a:pt x="1630" y="36"/>
                  </a:lnTo>
                  <a:lnTo>
                    <a:pt x="1622" y="7"/>
                  </a:lnTo>
                  <a:lnTo>
                    <a:pt x="1243" y="7"/>
                  </a:lnTo>
                  <a:lnTo>
                    <a:pt x="1247" y="66"/>
                  </a:lnTo>
                  <a:lnTo>
                    <a:pt x="1243" y="107"/>
                  </a:lnTo>
                  <a:lnTo>
                    <a:pt x="1241" y="142"/>
                  </a:lnTo>
                  <a:lnTo>
                    <a:pt x="1241" y="172"/>
                  </a:lnTo>
                  <a:lnTo>
                    <a:pt x="1237" y="205"/>
                  </a:lnTo>
                  <a:lnTo>
                    <a:pt x="1230" y="237"/>
                  </a:lnTo>
                  <a:lnTo>
                    <a:pt x="1220" y="259"/>
                  </a:lnTo>
                  <a:lnTo>
                    <a:pt x="1206" y="278"/>
                  </a:lnTo>
                  <a:lnTo>
                    <a:pt x="1187" y="295"/>
                  </a:lnTo>
                  <a:lnTo>
                    <a:pt x="1165" y="307"/>
                  </a:lnTo>
                  <a:lnTo>
                    <a:pt x="1140" y="314"/>
                  </a:lnTo>
                  <a:lnTo>
                    <a:pt x="1113" y="318"/>
                  </a:lnTo>
                  <a:lnTo>
                    <a:pt x="1087" y="320"/>
                  </a:lnTo>
                  <a:lnTo>
                    <a:pt x="1054" y="320"/>
                  </a:lnTo>
                  <a:lnTo>
                    <a:pt x="1023" y="316"/>
                  </a:lnTo>
                  <a:lnTo>
                    <a:pt x="997" y="314"/>
                  </a:lnTo>
                  <a:lnTo>
                    <a:pt x="964" y="313"/>
                  </a:lnTo>
                  <a:lnTo>
                    <a:pt x="929" y="309"/>
                  </a:lnTo>
                  <a:lnTo>
                    <a:pt x="890" y="309"/>
                  </a:lnTo>
                  <a:lnTo>
                    <a:pt x="857" y="313"/>
                  </a:lnTo>
                  <a:lnTo>
                    <a:pt x="824" y="316"/>
                  </a:lnTo>
                  <a:lnTo>
                    <a:pt x="789" y="325"/>
                  </a:lnTo>
                  <a:lnTo>
                    <a:pt x="763" y="338"/>
                  </a:lnTo>
                  <a:lnTo>
                    <a:pt x="736" y="354"/>
                  </a:lnTo>
                  <a:lnTo>
                    <a:pt x="718" y="376"/>
                  </a:lnTo>
                  <a:lnTo>
                    <a:pt x="701" y="399"/>
                  </a:lnTo>
                  <a:lnTo>
                    <a:pt x="693" y="422"/>
                  </a:lnTo>
                  <a:lnTo>
                    <a:pt x="689" y="449"/>
                  </a:lnTo>
                  <a:lnTo>
                    <a:pt x="693" y="476"/>
                  </a:lnTo>
                  <a:lnTo>
                    <a:pt x="695" y="505"/>
                  </a:lnTo>
                  <a:lnTo>
                    <a:pt x="693" y="536"/>
                  </a:lnTo>
                  <a:lnTo>
                    <a:pt x="687" y="559"/>
                  </a:lnTo>
                  <a:lnTo>
                    <a:pt x="679" y="584"/>
                  </a:lnTo>
                  <a:lnTo>
                    <a:pt x="668" y="608"/>
                  </a:lnTo>
                  <a:lnTo>
                    <a:pt x="652" y="624"/>
                  </a:lnTo>
                  <a:lnTo>
                    <a:pt x="627" y="640"/>
                  </a:lnTo>
                  <a:lnTo>
                    <a:pt x="596" y="651"/>
                  </a:lnTo>
                  <a:lnTo>
                    <a:pt x="564" y="660"/>
                  </a:lnTo>
                  <a:lnTo>
                    <a:pt x="535" y="667"/>
                  </a:lnTo>
                  <a:lnTo>
                    <a:pt x="504" y="674"/>
                  </a:lnTo>
                  <a:lnTo>
                    <a:pt x="463" y="682"/>
                  </a:lnTo>
                  <a:lnTo>
                    <a:pt x="432" y="687"/>
                  </a:lnTo>
                  <a:lnTo>
                    <a:pt x="398" y="696"/>
                  </a:lnTo>
                  <a:lnTo>
                    <a:pt x="371" y="705"/>
                  </a:lnTo>
                  <a:lnTo>
                    <a:pt x="344" y="716"/>
                  </a:lnTo>
                  <a:lnTo>
                    <a:pt x="322" y="730"/>
                  </a:lnTo>
                  <a:lnTo>
                    <a:pt x="303" y="745"/>
                  </a:lnTo>
                  <a:lnTo>
                    <a:pt x="281" y="768"/>
                  </a:lnTo>
                  <a:lnTo>
                    <a:pt x="268" y="790"/>
                  </a:lnTo>
                  <a:lnTo>
                    <a:pt x="256" y="815"/>
                  </a:lnTo>
                  <a:lnTo>
                    <a:pt x="250" y="845"/>
                  </a:lnTo>
                  <a:lnTo>
                    <a:pt x="254" y="874"/>
                  </a:lnTo>
                  <a:lnTo>
                    <a:pt x="258" y="903"/>
                  </a:lnTo>
                  <a:lnTo>
                    <a:pt x="268" y="937"/>
                  </a:lnTo>
                  <a:lnTo>
                    <a:pt x="277" y="975"/>
                  </a:lnTo>
                  <a:lnTo>
                    <a:pt x="285" y="1009"/>
                  </a:lnTo>
                  <a:lnTo>
                    <a:pt x="289" y="1036"/>
                  </a:lnTo>
                  <a:lnTo>
                    <a:pt x="289" y="1061"/>
                  </a:lnTo>
                  <a:lnTo>
                    <a:pt x="285" y="1096"/>
                  </a:lnTo>
                  <a:lnTo>
                    <a:pt x="276" y="1124"/>
                  </a:lnTo>
                  <a:lnTo>
                    <a:pt x="268" y="1150"/>
                  </a:lnTo>
                  <a:lnTo>
                    <a:pt x="256" y="1173"/>
                  </a:lnTo>
                  <a:lnTo>
                    <a:pt x="240" y="1203"/>
                  </a:lnTo>
                  <a:lnTo>
                    <a:pt x="219" y="1238"/>
                  </a:lnTo>
                  <a:lnTo>
                    <a:pt x="196" y="1263"/>
                  </a:lnTo>
                  <a:lnTo>
                    <a:pt x="172" y="1283"/>
                  </a:lnTo>
                  <a:lnTo>
                    <a:pt x="151" y="1301"/>
                  </a:lnTo>
                  <a:lnTo>
                    <a:pt x="127" y="1315"/>
                  </a:lnTo>
                  <a:lnTo>
                    <a:pt x="104" y="1324"/>
                  </a:lnTo>
                  <a:lnTo>
                    <a:pt x="71" y="1331"/>
                  </a:lnTo>
                  <a:lnTo>
                    <a:pt x="34" y="1337"/>
                  </a:lnTo>
                  <a:lnTo>
                    <a:pt x="0" y="1337"/>
                  </a:lnTo>
                  <a:close/>
                </a:path>
              </a:pathLst>
            </a:custGeom>
            <a:solidFill>
              <a:srgbClr val="0000FF"/>
            </a:solidFill>
            <a:ln w="25400">
              <a:solidFill>
                <a:srgbClr val="000000"/>
              </a:solidFill>
              <a:prstDash val="solid"/>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12" name="Text Box 17"/>
            <p:cNvSpPr txBox="1">
              <a:spLocks noChangeArrowheads="1"/>
            </p:cNvSpPr>
            <p:nvPr/>
          </p:nvSpPr>
          <p:spPr bwMode="auto">
            <a:xfrm>
              <a:off x="3652" y="2738"/>
              <a:ext cx="1307" cy="1265"/>
            </a:xfrm>
            <a:prstGeom prst="rect">
              <a:avLst/>
            </a:prstGeom>
            <a:noFill/>
            <a:ln w="9525">
              <a:noFill/>
              <a:miter lim="800000"/>
              <a:headEnd/>
              <a:tailEnd/>
            </a:ln>
          </p:spPr>
          <p:txBody>
            <a:bodyPr wrap="none" lIns="28313" tIns="14157" rIns="28313" bIns="14157">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300" b="1" dirty="0">
                  <a:solidFill>
                    <a:srgbClr val="FFFFFF"/>
                  </a:solidFill>
                  <a:latin typeface="Century Gothic" pitchFamily="34" charset="0"/>
                  <a:cs typeface="Arial" charset="0"/>
                </a:rPr>
                <a:t>Equipment</a:t>
              </a:r>
            </a:p>
            <a:p>
              <a:pPr algn="ctr"/>
              <a:r>
                <a:rPr lang="en-US" sz="2300" b="1" dirty="0">
                  <a:solidFill>
                    <a:srgbClr val="FFFFFF"/>
                  </a:solidFill>
                  <a:latin typeface="Century Gothic" pitchFamily="34" charset="0"/>
                  <a:cs typeface="Arial" charset="0"/>
                </a:rPr>
                <a:t>Performance</a:t>
              </a:r>
            </a:p>
            <a:p>
              <a:pPr algn="ctr"/>
              <a:endParaRPr lang="en-US" sz="2300" b="1" dirty="0">
                <a:solidFill>
                  <a:srgbClr val="FFFFFF"/>
                </a:solidFill>
                <a:latin typeface="Century Gothic" pitchFamily="34" charset="0"/>
                <a:cs typeface="Arial" charset="0"/>
              </a:endParaRPr>
            </a:p>
            <a:p>
              <a:pPr algn="ctr"/>
              <a:r>
                <a:rPr lang="en-US" sz="2000" b="1" dirty="0">
                  <a:latin typeface="Century Gothic" pitchFamily="34" charset="0"/>
                  <a:cs typeface="Arial" charset="0"/>
                </a:rPr>
                <a:t>Reducing</a:t>
              </a:r>
            </a:p>
            <a:p>
              <a:pPr algn="ctr"/>
              <a:r>
                <a:rPr lang="en-US" sz="2000" b="1" dirty="0">
                  <a:latin typeface="Century Gothic" pitchFamily="34" charset="0"/>
                  <a:cs typeface="Arial" charset="0"/>
                </a:rPr>
                <a:t>Downtime</a:t>
              </a:r>
              <a:endParaRPr lang="en-US" sz="2000" b="1" dirty="0">
                <a:latin typeface="Times New Roman" pitchFamily="18" charset="0"/>
                <a:cs typeface="Arial" charset="0"/>
              </a:endParaRPr>
            </a:p>
          </p:txBody>
        </p:sp>
      </p:grpSp>
      <p:sp>
        <p:nvSpPr>
          <p:cNvPr id="10" name="Text Box 19"/>
          <p:cNvSpPr txBox="1">
            <a:spLocks noChangeArrowheads="1"/>
          </p:cNvSpPr>
          <p:nvPr/>
        </p:nvSpPr>
        <p:spPr bwMode="auto">
          <a:xfrm>
            <a:off x="3542361" y="2894238"/>
            <a:ext cx="2016125" cy="2110412"/>
          </a:xfrm>
          <a:prstGeom prst="rect">
            <a:avLst/>
          </a:prstGeom>
          <a:noFill/>
          <a:ln w="9525">
            <a:noFill/>
            <a:miter lim="800000"/>
            <a:headEnd/>
            <a:tailEnd/>
          </a:ln>
        </p:spPr>
        <p:txBody>
          <a:bodyPr wrap="none" lIns="91415" tIns="45708" rIns="91415" bIns="45708">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3000" b="1" dirty="0">
                <a:solidFill>
                  <a:schemeClr val="bg1"/>
                </a:solidFill>
                <a:latin typeface="Century Gothic" pitchFamily="34" charset="0"/>
                <a:cs typeface="Arial" charset="0"/>
              </a:rPr>
              <a:t>5S</a:t>
            </a:r>
            <a:endParaRPr lang="en-US" sz="13000" b="1" dirty="0">
              <a:solidFill>
                <a:schemeClr val="bg1"/>
              </a:solidFill>
              <a:latin typeface="Times New Roman" pitchFamily="18" charset="0"/>
              <a:cs typeface="Arial" charset="0"/>
            </a:endParaRPr>
          </a:p>
        </p:txBody>
      </p:sp>
      <p:sp>
        <p:nvSpPr>
          <p:cNvPr id="23" name="Title 4"/>
          <p:cNvSpPr>
            <a:spLocks noGrp="1"/>
          </p:cNvSpPr>
          <p:nvPr>
            <p:ph type="title"/>
          </p:nvPr>
        </p:nvSpPr>
        <p:spPr>
          <a:xfrm>
            <a:off x="0" y="938152"/>
            <a:ext cx="9144000" cy="661121"/>
          </a:xfr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r>
              <a:rPr lang="en-US" dirty="0" smtClean="0">
                <a:solidFill>
                  <a:schemeClr val="bg1"/>
                </a:solidFill>
                <a:latin typeface="Arial Black" pitchFamily="34" charset="0"/>
              </a:rPr>
              <a:t>Benefits of 5S</a:t>
            </a:r>
            <a:endParaRPr lang="en-US" dirty="0">
              <a:solidFill>
                <a:schemeClr val="bg1"/>
              </a:solidFill>
              <a:latin typeface="Arial Black"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1816919"/>
            <a:ext cx="8229600" cy="4392366"/>
          </a:xfrm>
        </p:spPr>
        <p:txBody>
          <a:bodyPr/>
          <a:lstStyle/>
          <a:p>
            <a:pPr marL="0" lvl="0" indent="0">
              <a:spcBef>
                <a:spcPct val="0"/>
              </a:spcBef>
              <a:buNone/>
              <a:tabLst>
                <a:tab pos="457200" algn="l"/>
              </a:tabLst>
            </a:pPr>
            <a:r>
              <a:rPr kumimoji="0" lang="en-GB" altLang="zh-CN" sz="2000" b="1" i="0" u="sng" strike="noStrike" cap="none" normalizeH="0" baseline="0" dirty="0" smtClean="0">
                <a:ln>
                  <a:noFill/>
                </a:ln>
                <a:solidFill>
                  <a:srgbClr val="0000FF"/>
                </a:solidFill>
                <a:effectLst/>
                <a:latin typeface="Arial Black" pitchFamily="34" charset="0"/>
                <a:ea typeface="宋体" pitchFamily="2" charset="-122"/>
                <a:cs typeface="Arial" pitchFamily="34" charset="0"/>
              </a:rPr>
              <a:t>Vision</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buNone/>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To create a 5S culture in our organization which we can call our workplace, our home.</a:t>
            </a:r>
          </a:p>
          <a:p>
            <a:pPr marL="0" lvl="0" indent="0" eaLnBrk="0" hangingPunct="0">
              <a:spcBef>
                <a:spcPct val="0"/>
              </a:spcBef>
              <a:buNone/>
              <a:tabLst>
                <a:tab pos="457200" algn="l"/>
              </a:tabLst>
            </a:pP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buNone/>
              <a:tabLst>
                <a:tab pos="457200" algn="l"/>
              </a:tabLst>
            </a:pPr>
            <a:r>
              <a:rPr kumimoji="0" lang="en-GB" altLang="zh-CN" sz="2000" b="1" i="0" u="sng" strike="noStrike" cap="none" normalizeH="0" baseline="0" dirty="0" smtClean="0">
                <a:ln>
                  <a:noFill/>
                </a:ln>
                <a:solidFill>
                  <a:srgbClr val="0000FF"/>
                </a:solidFill>
                <a:effectLst/>
                <a:latin typeface="Arial Black" pitchFamily="34" charset="0"/>
                <a:ea typeface="宋体" pitchFamily="2" charset="-122"/>
                <a:cs typeface="Arial" pitchFamily="34" charset="0"/>
              </a:rPr>
              <a:t>Mission</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buNone/>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To achieve a clean, neat and safe workplace by adopting 5S practices at all levels at all times.</a:t>
            </a:r>
          </a:p>
          <a:p>
            <a:pPr marL="0" lvl="0" indent="0" eaLnBrk="0" hangingPunct="0">
              <a:spcBef>
                <a:spcPct val="0"/>
              </a:spcBef>
              <a:buNone/>
              <a:tabLst>
                <a:tab pos="457200" algn="l"/>
              </a:tabLst>
            </a:pP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buNone/>
              <a:tabLst>
                <a:tab pos="457200" algn="l"/>
              </a:tabLst>
            </a:pPr>
            <a:r>
              <a:rPr kumimoji="0" lang="en-GB" altLang="zh-CN" sz="2000" b="1" i="0" u="sng" strike="noStrike" cap="none" normalizeH="0" baseline="0" dirty="0" smtClean="0">
                <a:ln>
                  <a:noFill/>
                </a:ln>
                <a:solidFill>
                  <a:srgbClr val="0000FF"/>
                </a:solidFill>
                <a:effectLst/>
                <a:latin typeface="Arial Black" pitchFamily="34" charset="0"/>
                <a:ea typeface="宋体" pitchFamily="2" charset="-122"/>
                <a:cs typeface="Arial" pitchFamily="34" charset="0"/>
              </a:rPr>
              <a:t>Performance Measures</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Measure 5S performance in each work area</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Set up measurement and reward system to reward team</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Carry out quarterly audit using checklist and score sheet</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pPr marL="0" lvl="0" indent="0" eaLnBrk="0" hangingPunct="0">
              <a:spcBef>
                <a:spcPct val="0"/>
              </a:spcBef>
              <a:tabLst>
                <a:tab pos="457200" algn="l"/>
              </a:tabLst>
            </a:pPr>
            <a:r>
              <a:rPr kumimoji="0" lang="en-GB" altLang="zh-CN" sz="2000" b="1" i="0" u="none" strike="noStrike" cap="none" normalizeH="0" baseline="0" dirty="0" smtClean="0">
                <a:ln>
                  <a:noFill/>
                </a:ln>
                <a:solidFill>
                  <a:schemeClr val="tx1"/>
                </a:solidFill>
                <a:effectLst/>
                <a:latin typeface="Arial Black" pitchFamily="34" charset="0"/>
                <a:ea typeface="宋体" pitchFamily="2" charset="-122"/>
                <a:cs typeface="Arial" pitchFamily="34" charset="0"/>
              </a:rPr>
              <a:t>Create friendly competition with reward and recognition </a:t>
            </a:r>
            <a:endParaRPr kumimoji="0" lang="en-US" altLang="zh-CN" sz="2000" b="0" i="0" u="none" strike="noStrike" cap="none" normalizeH="0" baseline="0" dirty="0" smtClean="0">
              <a:ln>
                <a:noFill/>
              </a:ln>
              <a:solidFill>
                <a:schemeClr val="tx1"/>
              </a:solidFill>
              <a:effectLst/>
              <a:latin typeface="Arial Black" pitchFamily="34" charset="0"/>
              <a:ea typeface="宋体" pitchFamily="2" charset="-122"/>
            </a:endParaRPr>
          </a:p>
          <a:p>
            <a:endParaRPr lang="en-US" sz="2000" dirty="0"/>
          </a:p>
        </p:txBody>
      </p:sp>
      <p:sp>
        <p:nvSpPr>
          <p:cNvPr id="5" name="Title 4"/>
          <p:cNvSpPr txBox="1">
            <a:spLocks/>
          </p:cNvSpPr>
          <p:nvPr/>
        </p:nvSpPr>
        <p:spPr bwMode="auto">
          <a:xfrm>
            <a:off x="0" y="938152"/>
            <a:ext cx="9144000" cy="661121"/>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3200" kern="0" dirty="0" smtClean="0">
                <a:solidFill>
                  <a:schemeClr val="bg1"/>
                </a:solidFill>
                <a:latin typeface="Arial Black" pitchFamily="34" charset="0"/>
                <a:ea typeface="+mj-ea"/>
                <a:cs typeface="+mj-cs"/>
              </a:rPr>
              <a:t>NatSteel Goals</a:t>
            </a:r>
            <a:endParaRPr kumimoji="0" lang="en-US" sz="32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7458" name="Group 2"/>
          <p:cNvGraphicFramePr>
            <a:graphicFrameLocks noGrp="1"/>
          </p:cNvGraphicFramePr>
          <p:nvPr/>
        </p:nvGraphicFramePr>
        <p:xfrm>
          <a:off x="0" y="1143000"/>
          <a:ext cx="9144000" cy="5394842"/>
        </p:xfrm>
        <a:graphic>
          <a:graphicData uri="http://schemas.openxmlformats.org/drawingml/2006/table">
            <a:tbl>
              <a:tblPr/>
              <a:tblGrid>
                <a:gridCol w="2971800"/>
                <a:gridCol w="3048000"/>
                <a:gridCol w="3124200"/>
              </a:tblGrid>
              <a:tr h="914292">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2"/>
                          </a:solidFill>
                          <a:effectLst/>
                          <a:latin typeface="Times New Roman" pitchFamily="18" charset="0"/>
                        </a:rPr>
                        <a:t>1</a:t>
                      </a:r>
                      <a:r>
                        <a:rPr kumimoji="1" lang="en-US" sz="3600" b="0" i="0" u="none" strike="noStrike" cap="none" normalizeH="0" baseline="30000" smtClean="0">
                          <a:ln>
                            <a:noFill/>
                          </a:ln>
                          <a:solidFill>
                            <a:schemeClr val="tx2"/>
                          </a:solidFill>
                          <a:effectLst/>
                          <a:latin typeface="Times New Roman" pitchFamily="18" charset="0"/>
                        </a:rPr>
                        <a:t>st</a:t>
                      </a:r>
                      <a:r>
                        <a:rPr kumimoji="1" lang="en-US" sz="3600" b="0" i="0" u="none" strike="noStrike" cap="none" normalizeH="0" baseline="0" smtClean="0">
                          <a:ln>
                            <a:noFill/>
                          </a:ln>
                          <a:solidFill>
                            <a:schemeClr val="tx2"/>
                          </a:solidFill>
                          <a:effectLst/>
                          <a:latin typeface="Times New Roman" pitchFamily="18" charset="0"/>
                        </a:rPr>
                        <a:t> Class</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1"/>
                          </a:solidFill>
                          <a:effectLst/>
                          <a:latin typeface="Times New Roman" pitchFamily="18" charset="0"/>
                        </a:rPr>
                        <a:t>2</a:t>
                      </a:r>
                      <a:r>
                        <a:rPr kumimoji="1" lang="en-US" sz="3600" b="0" i="0" u="none" strike="noStrike" cap="none" normalizeH="0" baseline="30000" smtClean="0">
                          <a:ln>
                            <a:noFill/>
                          </a:ln>
                          <a:solidFill>
                            <a:schemeClr val="tx1"/>
                          </a:solidFill>
                          <a:effectLst/>
                          <a:latin typeface="Times New Roman" pitchFamily="18" charset="0"/>
                        </a:rPr>
                        <a:t>nd</a:t>
                      </a:r>
                      <a:r>
                        <a:rPr kumimoji="1" lang="en-US" sz="3600" b="0" i="0" u="none" strike="noStrike" cap="none" normalizeH="0" baseline="0" smtClean="0">
                          <a:ln>
                            <a:noFill/>
                          </a:ln>
                          <a:solidFill>
                            <a:schemeClr val="tx1"/>
                          </a:solidFill>
                          <a:effectLst/>
                          <a:latin typeface="Times New Roman" pitchFamily="18" charset="0"/>
                        </a:rPr>
                        <a:t> Class</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1"/>
                          </a:solidFill>
                          <a:effectLst/>
                          <a:latin typeface="Times New Roman" pitchFamily="18" charset="0"/>
                        </a:rPr>
                        <a:t>3</a:t>
                      </a:r>
                      <a:r>
                        <a:rPr kumimoji="1" lang="en-US" sz="3600" b="0" i="0" u="none" strike="noStrike" cap="none" normalizeH="0" baseline="30000" smtClean="0">
                          <a:ln>
                            <a:noFill/>
                          </a:ln>
                          <a:solidFill>
                            <a:schemeClr val="tx1"/>
                          </a:solidFill>
                          <a:effectLst/>
                          <a:latin typeface="Times New Roman" pitchFamily="18" charset="0"/>
                        </a:rPr>
                        <a:t>rd</a:t>
                      </a:r>
                      <a:r>
                        <a:rPr kumimoji="1" lang="en-US" sz="3600" b="0" i="0" u="none" strike="noStrike" cap="none" normalizeH="0" baseline="0" smtClean="0">
                          <a:ln>
                            <a:noFill/>
                          </a:ln>
                          <a:solidFill>
                            <a:schemeClr val="tx1"/>
                          </a:solidFill>
                          <a:effectLst/>
                          <a:latin typeface="Times New Roman" pitchFamily="18" charset="0"/>
                        </a:rPr>
                        <a:t> Class</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80033">
                <a:tc>
                  <a:txBody>
                    <a:bodyPr/>
                    <a:lstStyle/>
                    <a:p>
                      <a:pPr marL="0" marR="0" lvl="0" indent="0" algn="l"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2"/>
                          </a:solidFill>
                          <a:effectLst/>
                          <a:latin typeface="Times New Roman" pitchFamily="18" charset="0"/>
                        </a:rPr>
                        <a:t>Nobody makes a mess or throws things around, yet everyone helps to keep the place clean.</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1"/>
                          </a:solidFill>
                          <a:effectLst/>
                          <a:latin typeface="Times New Roman" pitchFamily="18" charset="0"/>
                        </a:rPr>
                        <a:t>Some people make a mess and throw things around, but there are office cleaners who tidy up the place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Tx/>
                        <a:buFont typeface="Monotype Sorts" pitchFamily="2" charset="2"/>
                        <a:buNone/>
                        <a:tabLst/>
                      </a:pPr>
                      <a:r>
                        <a:rPr kumimoji="1" lang="en-US" sz="3600" b="0" i="0" u="none" strike="noStrike" cap="none" normalizeH="0" baseline="0" smtClean="0">
                          <a:ln>
                            <a:noFill/>
                          </a:ln>
                          <a:solidFill>
                            <a:schemeClr val="tx1"/>
                          </a:solidFill>
                          <a:effectLst/>
                          <a:latin typeface="Times New Roman" pitchFamily="18" charset="0"/>
                        </a:rPr>
                        <a:t>Everyone makes a mess, throws things around and nobody bothers to clean the place up</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472" name="Text Box 16"/>
          <p:cNvSpPr txBox="1">
            <a:spLocks noChangeArrowheads="1"/>
          </p:cNvSpPr>
          <p:nvPr/>
        </p:nvSpPr>
        <p:spPr bwMode="auto">
          <a:xfrm>
            <a:off x="1219200" y="304800"/>
            <a:ext cx="71628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sz="2000">
                <a:solidFill>
                  <a:schemeClr val="tx1"/>
                </a:solidFill>
                <a:latin typeface="News Gothic" pitchFamily="34" charset="0"/>
              </a:defRPr>
            </a:lvl1pPr>
            <a:lvl2pPr marL="742950" indent="-285750">
              <a:defRPr sz="2000">
                <a:solidFill>
                  <a:schemeClr val="tx1"/>
                </a:solidFill>
                <a:latin typeface="News Gothic" pitchFamily="34" charset="0"/>
              </a:defRPr>
            </a:lvl2pPr>
            <a:lvl3pPr marL="1143000" indent="-228600">
              <a:defRPr sz="2000">
                <a:solidFill>
                  <a:schemeClr val="tx1"/>
                </a:solidFill>
                <a:latin typeface="News Gothic" pitchFamily="34" charset="0"/>
              </a:defRPr>
            </a:lvl3pPr>
            <a:lvl4pPr marL="1600200" indent="-228600">
              <a:defRPr sz="2000">
                <a:solidFill>
                  <a:schemeClr val="tx1"/>
                </a:solidFill>
                <a:latin typeface="News Gothic" pitchFamily="34" charset="0"/>
              </a:defRPr>
            </a:lvl4pPr>
            <a:lvl5pPr marL="2057400" indent="-228600">
              <a:defRPr sz="2000">
                <a:solidFill>
                  <a:schemeClr val="tx1"/>
                </a:solidFill>
                <a:latin typeface="News Gothic" pitchFamily="34" charset="0"/>
              </a:defRPr>
            </a:lvl5pPr>
            <a:lvl6pPr marL="2514600" indent="-228600" algn="ctr" eaLnBrk="0" fontAlgn="base" hangingPunct="0">
              <a:spcBef>
                <a:spcPct val="0"/>
              </a:spcBef>
              <a:spcAft>
                <a:spcPct val="0"/>
              </a:spcAft>
              <a:defRPr sz="2000">
                <a:solidFill>
                  <a:schemeClr val="tx1"/>
                </a:solidFill>
                <a:latin typeface="News Gothic" pitchFamily="34" charset="0"/>
              </a:defRPr>
            </a:lvl6pPr>
            <a:lvl7pPr marL="2971800" indent="-228600" algn="ctr" eaLnBrk="0" fontAlgn="base" hangingPunct="0">
              <a:spcBef>
                <a:spcPct val="0"/>
              </a:spcBef>
              <a:spcAft>
                <a:spcPct val="0"/>
              </a:spcAft>
              <a:defRPr sz="2000">
                <a:solidFill>
                  <a:schemeClr val="tx1"/>
                </a:solidFill>
                <a:latin typeface="News Gothic" pitchFamily="34" charset="0"/>
              </a:defRPr>
            </a:lvl7pPr>
            <a:lvl8pPr marL="3429000" indent="-228600" algn="ctr" eaLnBrk="0" fontAlgn="base" hangingPunct="0">
              <a:spcBef>
                <a:spcPct val="0"/>
              </a:spcBef>
              <a:spcAft>
                <a:spcPct val="0"/>
              </a:spcAft>
              <a:defRPr sz="2000">
                <a:solidFill>
                  <a:schemeClr val="tx1"/>
                </a:solidFill>
                <a:latin typeface="News Gothic" pitchFamily="34" charset="0"/>
              </a:defRPr>
            </a:lvl8pPr>
            <a:lvl9pPr marL="3886200" indent="-228600" algn="ctr" eaLnBrk="0" fontAlgn="base" hangingPunct="0">
              <a:spcBef>
                <a:spcPct val="0"/>
              </a:spcBef>
              <a:spcAft>
                <a:spcPct val="0"/>
              </a:spcAft>
              <a:defRPr sz="2000">
                <a:solidFill>
                  <a:schemeClr val="tx1"/>
                </a:solidFill>
                <a:latin typeface="News Gothic" pitchFamily="34" charset="0"/>
              </a:defRPr>
            </a:lvl9pPr>
          </a:lstStyle>
          <a:p>
            <a:pPr algn="l" eaLnBrk="1" hangingPunct="1">
              <a:spcBef>
                <a:spcPct val="50000"/>
              </a:spcBef>
            </a:pPr>
            <a:r>
              <a:rPr lang="en-US" sz="4400" b="1">
                <a:latin typeface="Times New Roman" pitchFamily="18" charset="0"/>
              </a:rPr>
              <a:t>Three Classes of workplace</a:t>
            </a:r>
          </a:p>
        </p:txBody>
      </p:sp>
      <p:pic>
        <p:nvPicPr>
          <p:cNvPr id="19473" name="Picture 17" descr="NSL-logo"/>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39075" y="6600825"/>
            <a:ext cx="1304925" cy="257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5297342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381000" y="609600"/>
            <a:ext cx="8534400" cy="5486400"/>
          </a:xfrm>
        </p:spPr>
        <p:txBody>
          <a:bodyPr/>
          <a:lstStyle/>
          <a:p>
            <a:pPr>
              <a:lnSpc>
                <a:spcPct val="90000"/>
              </a:lnSpc>
            </a:pPr>
            <a:r>
              <a:rPr lang="en-US" sz="4000" b="1" smtClean="0">
                <a:solidFill>
                  <a:schemeClr val="tx2"/>
                </a:solidFill>
              </a:rPr>
              <a:t>If workplace is classified under either 2</a:t>
            </a:r>
            <a:r>
              <a:rPr lang="en-US" sz="4000" b="1" baseline="30000" smtClean="0">
                <a:solidFill>
                  <a:schemeClr val="tx2"/>
                </a:solidFill>
              </a:rPr>
              <a:t>nd</a:t>
            </a:r>
            <a:r>
              <a:rPr lang="en-US" sz="4000" b="1" smtClean="0">
                <a:solidFill>
                  <a:schemeClr val="tx2"/>
                </a:solidFill>
              </a:rPr>
              <a:t> class or 3</a:t>
            </a:r>
            <a:r>
              <a:rPr lang="en-US" sz="4000" b="1" baseline="30000" smtClean="0">
                <a:solidFill>
                  <a:schemeClr val="tx2"/>
                </a:solidFill>
              </a:rPr>
              <a:t>rd</a:t>
            </a:r>
            <a:r>
              <a:rPr lang="en-US" sz="4000" b="1" smtClean="0">
                <a:solidFill>
                  <a:schemeClr val="tx2"/>
                </a:solidFill>
              </a:rPr>
              <a:t> class – it is time to put 5S into action.</a:t>
            </a:r>
          </a:p>
          <a:p>
            <a:pPr>
              <a:lnSpc>
                <a:spcPct val="90000"/>
              </a:lnSpc>
            </a:pPr>
            <a:r>
              <a:rPr lang="en-US" sz="4000" b="1" smtClean="0"/>
              <a:t>On the other hand, even if your workplace has already achieved first-class status, you could still consider ways to further improve your work environment.</a:t>
            </a:r>
          </a:p>
          <a:p>
            <a:pPr>
              <a:lnSpc>
                <a:spcPct val="90000"/>
              </a:lnSpc>
            </a:pPr>
            <a:endParaRPr lang="en-US" sz="4000" smtClean="0"/>
          </a:p>
        </p:txBody>
      </p:sp>
      <p:pic>
        <p:nvPicPr>
          <p:cNvPr id="20483" name="Picture 3" descr="NSL-logo"/>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39075" y="6600825"/>
            <a:ext cx="1304925" cy="257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9372626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body" idx="1"/>
          </p:nvPr>
        </p:nvSpPr>
        <p:spPr>
          <a:xfrm>
            <a:off x="304800" y="762000"/>
            <a:ext cx="8839200" cy="5334000"/>
          </a:xfrm>
        </p:spPr>
        <p:txBody>
          <a:bodyPr/>
          <a:lstStyle/>
          <a:p>
            <a:pPr indent="3175">
              <a:buFont typeface="Monotype Sorts" pitchFamily="2" charset="2"/>
              <a:buNone/>
              <a:defRPr/>
            </a:pPr>
            <a:r>
              <a:rPr lang="en-US" sz="5300" b="1" smtClean="0">
                <a:solidFill>
                  <a:schemeClr val="tx2"/>
                </a:solidFill>
                <a:effectLst>
                  <a:outerShdw blurRad="38100" dist="38100" dir="2700000" algn="tl">
                    <a:srgbClr val="000000"/>
                  </a:outerShdw>
                </a:effectLst>
              </a:rPr>
              <a:t>A first-class workplace could be achieved ……</a:t>
            </a:r>
            <a:r>
              <a:rPr lang="en-US" sz="5300" b="1" smtClean="0">
                <a:solidFill>
                  <a:schemeClr val="tx2"/>
                </a:solidFill>
              </a:rPr>
              <a:t/>
            </a:r>
            <a:br>
              <a:rPr lang="en-US" sz="5300" b="1" smtClean="0">
                <a:solidFill>
                  <a:schemeClr val="tx2"/>
                </a:solidFill>
              </a:rPr>
            </a:br>
            <a:r>
              <a:rPr lang="en-US" sz="3500" b="1" smtClean="0">
                <a:solidFill>
                  <a:schemeClr val="tx2"/>
                </a:solidFill>
              </a:rPr>
              <a:t/>
            </a:r>
            <a:br>
              <a:rPr lang="en-US" sz="3500" b="1" smtClean="0">
                <a:solidFill>
                  <a:schemeClr val="tx2"/>
                </a:solidFill>
              </a:rPr>
            </a:br>
            <a:r>
              <a:rPr lang="en-US" sz="4900" b="1" i="1" smtClean="0">
                <a:solidFill>
                  <a:srgbClr val="0000FF"/>
                </a:solidFill>
              </a:rPr>
              <a:t>If </a:t>
            </a:r>
            <a:r>
              <a:rPr lang="en-US" sz="4900" b="1" i="1" u="sng" smtClean="0">
                <a:solidFill>
                  <a:srgbClr val="0000FF"/>
                </a:solidFill>
              </a:rPr>
              <a:t>all employees</a:t>
            </a:r>
            <a:r>
              <a:rPr lang="en-US" sz="4900" b="1" i="1" smtClean="0">
                <a:solidFill>
                  <a:srgbClr val="0000FF"/>
                </a:solidFill>
              </a:rPr>
              <a:t> are involved and </a:t>
            </a:r>
            <a:r>
              <a:rPr lang="en-US" sz="4900" b="1" i="1" u="sng" smtClean="0">
                <a:solidFill>
                  <a:srgbClr val="0000FF"/>
                </a:solidFill>
              </a:rPr>
              <a:t>everyone</a:t>
            </a:r>
            <a:r>
              <a:rPr lang="en-US" sz="4900" b="1" i="1" smtClean="0">
                <a:solidFill>
                  <a:srgbClr val="0000FF"/>
                </a:solidFill>
              </a:rPr>
              <a:t> strives towards a clean, organized workplace.</a:t>
            </a:r>
          </a:p>
        </p:txBody>
      </p:sp>
      <p:pic>
        <p:nvPicPr>
          <p:cNvPr id="21507" name="Picture 3" descr="NSL-logo"/>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39075" y="6600825"/>
            <a:ext cx="1304925" cy="257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1508" name="Group 8"/>
          <p:cNvGrpSpPr>
            <a:grpSpLocks/>
          </p:cNvGrpSpPr>
          <p:nvPr/>
        </p:nvGrpSpPr>
        <p:grpSpPr bwMode="auto">
          <a:xfrm>
            <a:off x="4114800" y="5791200"/>
            <a:ext cx="914400" cy="533400"/>
            <a:chOff x="4512" y="3504"/>
            <a:chExt cx="576" cy="336"/>
          </a:xfrm>
        </p:grpSpPr>
        <p:sp>
          <p:nvSpPr>
            <p:cNvPr id="21509" name="AutoShape 6">
              <a:hlinkClick r:id="rId3" action="ppaction://hlinkpres?slideindex=1&amp;slidetitle="/>
            </p:cNvPr>
            <p:cNvSpPr>
              <a:spLocks noChangeArrowheads="1"/>
            </p:cNvSpPr>
            <p:nvPr/>
          </p:nvSpPr>
          <p:spPr bwMode="auto">
            <a:xfrm>
              <a:off x="4512" y="3504"/>
              <a:ext cx="576" cy="336"/>
            </a:xfrm>
            <a:prstGeom prst="actionButtonBlank">
              <a:avLst/>
            </a:prstGeom>
            <a:solidFill>
              <a:schemeClr val="accent1"/>
            </a:solidFill>
            <a:ln>
              <a:noFill/>
            </a:ln>
            <a:effectLst/>
            <a:extLs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SG"/>
            </a:p>
          </p:txBody>
        </p:sp>
        <p:sp>
          <p:nvSpPr>
            <p:cNvPr id="21510" name="Text Box 7"/>
            <p:cNvSpPr txBox="1">
              <a:spLocks noChangeArrowheads="1"/>
            </p:cNvSpPr>
            <p:nvPr/>
          </p:nvSpPr>
          <p:spPr bwMode="auto">
            <a:xfrm>
              <a:off x="4560" y="3600"/>
              <a:ext cx="52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lvl1pPr>
                <a:defRPr sz="2000">
                  <a:solidFill>
                    <a:schemeClr val="tx1"/>
                  </a:solidFill>
                  <a:latin typeface="News Gothic" pitchFamily="34" charset="0"/>
                </a:defRPr>
              </a:lvl1pPr>
              <a:lvl2pPr marL="742950" indent="-285750">
                <a:defRPr sz="2000">
                  <a:solidFill>
                    <a:schemeClr val="tx1"/>
                  </a:solidFill>
                  <a:latin typeface="News Gothic" pitchFamily="34" charset="0"/>
                </a:defRPr>
              </a:lvl2pPr>
              <a:lvl3pPr marL="1143000" indent="-228600">
                <a:defRPr sz="2000">
                  <a:solidFill>
                    <a:schemeClr val="tx1"/>
                  </a:solidFill>
                  <a:latin typeface="News Gothic" pitchFamily="34" charset="0"/>
                </a:defRPr>
              </a:lvl3pPr>
              <a:lvl4pPr marL="1600200" indent="-228600">
                <a:defRPr sz="2000">
                  <a:solidFill>
                    <a:schemeClr val="tx1"/>
                  </a:solidFill>
                  <a:latin typeface="News Gothic" pitchFamily="34" charset="0"/>
                </a:defRPr>
              </a:lvl4pPr>
              <a:lvl5pPr marL="2057400" indent="-228600">
                <a:defRPr sz="2000">
                  <a:solidFill>
                    <a:schemeClr val="tx1"/>
                  </a:solidFill>
                  <a:latin typeface="News Gothic" pitchFamily="34" charset="0"/>
                </a:defRPr>
              </a:lvl5pPr>
              <a:lvl6pPr marL="2514600" indent="-228600" algn="ctr" eaLnBrk="0" fontAlgn="base" hangingPunct="0">
                <a:spcBef>
                  <a:spcPct val="0"/>
                </a:spcBef>
                <a:spcAft>
                  <a:spcPct val="0"/>
                </a:spcAft>
                <a:defRPr sz="2000">
                  <a:solidFill>
                    <a:schemeClr val="tx1"/>
                  </a:solidFill>
                  <a:latin typeface="News Gothic" pitchFamily="34" charset="0"/>
                </a:defRPr>
              </a:lvl6pPr>
              <a:lvl7pPr marL="2971800" indent="-228600" algn="ctr" eaLnBrk="0" fontAlgn="base" hangingPunct="0">
                <a:spcBef>
                  <a:spcPct val="0"/>
                </a:spcBef>
                <a:spcAft>
                  <a:spcPct val="0"/>
                </a:spcAft>
                <a:defRPr sz="2000">
                  <a:solidFill>
                    <a:schemeClr val="tx1"/>
                  </a:solidFill>
                  <a:latin typeface="News Gothic" pitchFamily="34" charset="0"/>
                </a:defRPr>
              </a:lvl7pPr>
              <a:lvl8pPr marL="3429000" indent="-228600" algn="ctr" eaLnBrk="0" fontAlgn="base" hangingPunct="0">
                <a:spcBef>
                  <a:spcPct val="0"/>
                </a:spcBef>
                <a:spcAft>
                  <a:spcPct val="0"/>
                </a:spcAft>
                <a:defRPr sz="2000">
                  <a:solidFill>
                    <a:schemeClr val="tx1"/>
                  </a:solidFill>
                  <a:latin typeface="News Gothic" pitchFamily="34" charset="0"/>
                </a:defRPr>
              </a:lvl8pPr>
              <a:lvl9pPr marL="3886200" indent="-228600" algn="ctr" eaLnBrk="0" fontAlgn="base" hangingPunct="0">
                <a:spcBef>
                  <a:spcPct val="0"/>
                </a:spcBef>
                <a:spcAft>
                  <a:spcPct val="0"/>
                </a:spcAft>
                <a:defRPr sz="2000">
                  <a:solidFill>
                    <a:schemeClr val="tx1"/>
                  </a:solidFill>
                  <a:latin typeface="News Gothic" pitchFamily="34" charset="0"/>
                </a:defRPr>
              </a:lvl9pPr>
            </a:lstStyle>
            <a:p>
              <a:pPr>
                <a:spcBef>
                  <a:spcPct val="50000"/>
                </a:spcBef>
              </a:pPr>
              <a:r>
                <a:rPr lang="en-US" sz="1200" b="1">
                  <a:latin typeface="Comic Sans MS" pitchFamily="66" charset="0"/>
                </a:rPr>
                <a:t>Click me</a:t>
              </a:r>
            </a:p>
          </p:txBody>
        </p:sp>
      </p:grpSp>
    </p:spTree>
    <p:extLst>
      <p:ext uri="{BB962C8B-B14F-4D97-AF65-F5344CB8AC3E}">
        <p14:creationId xmlns:p14="http://schemas.microsoft.com/office/powerpoint/2010/main" xmlns="" val="22169294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4"/>
          <p:cNvSpPr txBox="1">
            <a:spLocks/>
          </p:cNvSpPr>
          <p:nvPr/>
        </p:nvSpPr>
        <p:spPr bwMode="auto">
          <a:xfrm>
            <a:off x="0" y="190500"/>
            <a:ext cx="9144000" cy="660400"/>
          </a:xfrm>
          <a:prstGeom prst="rect">
            <a:avLst/>
          </a:prstGeom>
          <a:solidFill>
            <a:srgbClr val="00206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b="1">
                <a:solidFill>
                  <a:schemeClr val="tx1"/>
                </a:solidFill>
                <a:latin typeface="Arial" pitchFamily="34" charset="0"/>
                <a:cs typeface="Arial" pitchFamily="34" charset="0"/>
              </a:defRPr>
            </a:lvl1pPr>
            <a:lvl2pPr marL="742950" indent="-285750" eaLnBrk="0" hangingPunct="0">
              <a:defRPr b="1">
                <a:solidFill>
                  <a:schemeClr val="tx1"/>
                </a:solidFill>
                <a:latin typeface="Arial" pitchFamily="34" charset="0"/>
                <a:cs typeface="Arial" pitchFamily="34" charset="0"/>
              </a:defRPr>
            </a:lvl2pPr>
            <a:lvl3pPr marL="1143000" indent="-228600" eaLnBrk="0" hangingPunct="0">
              <a:defRPr b="1">
                <a:solidFill>
                  <a:schemeClr val="tx1"/>
                </a:solidFill>
                <a:latin typeface="Arial" pitchFamily="34" charset="0"/>
                <a:cs typeface="Arial" pitchFamily="34" charset="0"/>
              </a:defRPr>
            </a:lvl3pPr>
            <a:lvl4pPr marL="1600200" indent="-228600" eaLnBrk="0" hangingPunct="0">
              <a:defRPr b="1">
                <a:solidFill>
                  <a:schemeClr val="tx1"/>
                </a:solidFill>
                <a:latin typeface="Arial" pitchFamily="34" charset="0"/>
                <a:cs typeface="Arial" pitchFamily="34" charset="0"/>
              </a:defRPr>
            </a:lvl4pPr>
            <a:lvl5pPr marL="2057400" indent="-228600" eaLnBrk="0" hangingPunct="0">
              <a:defRPr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b="1">
                <a:solidFill>
                  <a:schemeClr val="tx1"/>
                </a:solidFill>
                <a:latin typeface="Arial" pitchFamily="34" charset="0"/>
                <a:cs typeface="Arial" pitchFamily="34" charset="0"/>
              </a:defRPr>
            </a:lvl9pPr>
          </a:lstStyle>
          <a:p>
            <a:pPr eaLnBrk="1" hangingPunct="1"/>
            <a:r>
              <a:rPr lang="en-US" sz="3200">
                <a:solidFill>
                  <a:schemeClr val="bg1"/>
                </a:solidFill>
                <a:latin typeface="Arial Black" pitchFamily="34" charset="0"/>
              </a:rPr>
              <a:t>Production Scoring Sheet</a:t>
            </a:r>
            <a:endParaRPr lang="en-US" sz="3200" b="0">
              <a:solidFill>
                <a:schemeClr val="bg1"/>
              </a:solidFill>
              <a:latin typeface="Arial Black" pitchFamily="34" charset="0"/>
            </a:endParaRPr>
          </a:p>
        </p:txBody>
      </p:sp>
      <p:pic>
        <p:nvPicPr>
          <p:cNvPr id="4" name="Picture 3"/>
          <p:cNvPicPr/>
          <p:nvPr/>
        </p:nvPicPr>
        <p:blipFill rotWithShape="1">
          <a:blip r:embed="rId3" cstate="print"/>
          <a:srcRect l="1250" t="24556" r="52625" b="12889"/>
          <a:stretch/>
        </p:blipFill>
        <p:spPr bwMode="auto">
          <a:xfrm>
            <a:off x="161925" y="850900"/>
            <a:ext cx="8820150" cy="5476009"/>
          </a:xfrm>
          <a:prstGeom prst="rect">
            <a:avLst/>
          </a:prstGeom>
          <a:ln>
            <a:noFill/>
          </a:ln>
          <a:extLst>
            <a:ext uri="{53640926-AAD7-44D8-BBD7-CCE9431645EC}">
              <a14:shadowObscured xmlns:a14="http://schemas.microsoft.com/office/drawing/2010/main" xmlns=""/>
            </a:ext>
          </a:extLst>
        </p:spPr>
      </p:pic>
      <p:sp>
        <p:nvSpPr>
          <p:cNvPr id="5" name="Rectangle 4"/>
          <p:cNvSpPr/>
          <p:nvPr/>
        </p:nvSpPr>
        <p:spPr>
          <a:xfrm>
            <a:off x="175491" y="5772726"/>
            <a:ext cx="5394036" cy="58189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xmlns="" val="198053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p:cNvSpPr>
          <p:nvPr>
            <p:ph idx="1"/>
          </p:nvPr>
        </p:nvSpPr>
        <p:spPr/>
        <p:txBody>
          <a:bodyPr/>
          <a:lstStyle/>
          <a:p>
            <a:endParaRPr lang="en-US" dirty="0" smtClean="0"/>
          </a:p>
        </p:txBody>
      </p:sp>
      <p:graphicFrame>
        <p:nvGraphicFramePr>
          <p:cNvPr id="4" name="Group 15"/>
          <p:cNvGraphicFramePr>
            <a:graphicFrameLocks noGrp="1"/>
          </p:cNvGraphicFramePr>
          <p:nvPr/>
        </p:nvGraphicFramePr>
        <p:xfrm>
          <a:off x="1447800" y="5562600"/>
          <a:ext cx="5892800" cy="255588"/>
        </p:xfrm>
        <a:graphic>
          <a:graphicData uri="http://schemas.openxmlformats.org/drawingml/2006/table">
            <a:tbl>
              <a:tblPr/>
              <a:tblGrid>
                <a:gridCol w="841375"/>
                <a:gridCol w="842963"/>
                <a:gridCol w="841375"/>
                <a:gridCol w="841375"/>
                <a:gridCol w="841375"/>
                <a:gridCol w="842962"/>
                <a:gridCol w="841375"/>
              </a:tblGrid>
              <a:tr h="255588">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8" name="Rectangle 7"/>
          <p:cNvSpPr>
            <a:spLocks noChangeArrowheads="1"/>
          </p:cNvSpPr>
          <p:nvPr/>
        </p:nvSpPr>
        <p:spPr bwMode="auto">
          <a:xfrm>
            <a:off x="2295525" y="5384800"/>
            <a:ext cx="5243513"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6739" y="1981200"/>
            <a:ext cx="4043362" cy="3200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683125" y="1981200"/>
            <a:ext cx="3889375" cy="3200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56358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p:cNvSpPr>
            <a:spLocks noGrp="1"/>
          </p:cNvSpPr>
          <p:nvPr>
            <p:ph idx="1"/>
          </p:nvPr>
        </p:nvSpPr>
        <p:spPr/>
        <p:txBody>
          <a:bodyPr/>
          <a:lstStyle/>
          <a:p>
            <a:endParaRPr lang="en-US" dirty="0" smtClean="0"/>
          </a:p>
        </p:txBody>
      </p:sp>
      <p:graphicFrame>
        <p:nvGraphicFramePr>
          <p:cNvPr id="4" name="Group 14"/>
          <p:cNvGraphicFramePr>
            <a:graphicFrameLocks noGrp="1"/>
          </p:cNvGraphicFramePr>
          <p:nvPr/>
        </p:nvGraphicFramePr>
        <p:xfrm>
          <a:off x="1524000" y="5562600"/>
          <a:ext cx="6121400" cy="255588"/>
        </p:xfrm>
        <a:graphic>
          <a:graphicData uri="http://schemas.openxmlformats.org/drawingml/2006/table">
            <a:tbl>
              <a:tblPr/>
              <a:tblGrid>
                <a:gridCol w="874713"/>
                <a:gridCol w="873125"/>
                <a:gridCol w="874712"/>
                <a:gridCol w="876300"/>
                <a:gridCol w="874713"/>
                <a:gridCol w="873125"/>
                <a:gridCol w="874712"/>
              </a:tblGrid>
              <a:tr h="255588">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43031" name="Title 7"/>
          <p:cNvSpPr>
            <a:spLocks noGrp="1"/>
          </p:cNvSpPr>
          <p:nvPr>
            <p:ph type="title"/>
          </p:nvPr>
        </p:nvSpPr>
        <p:spPr/>
        <p:txBody>
          <a:bodyPr/>
          <a:lstStyle/>
          <a:p>
            <a:endParaRPr lang="en-US" smtClean="0"/>
          </a:p>
        </p:txBody>
      </p:sp>
      <p:sp>
        <p:nvSpPr>
          <p:cNvPr id="9" name="Rectangle 8"/>
          <p:cNvSpPr>
            <a:spLocks noChangeArrowheads="1"/>
          </p:cNvSpPr>
          <p:nvPr/>
        </p:nvSpPr>
        <p:spPr bwMode="auto">
          <a:xfrm>
            <a:off x="2295525" y="5384800"/>
            <a:ext cx="5243513"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304844" y="1987550"/>
            <a:ext cx="2621869" cy="24586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010274" y="1987550"/>
            <a:ext cx="2635961" cy="24586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08304" y="4466730"/>
            <a:ext cx="1353918" cy="18361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33400" y="2031965"/>
            <a:ext cx="2705100" cy="24142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410088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p:cNvSpPr>
            <a:spLocks noGrp="1"/>
          </p:cNvSpPr>
          <p:nvPr>
            <p:ph idx="1"/>
          </p:nvPr>
        </p:nvSpPr>
        <p:spPr/>
        <p:txBody>
          <a:bodyPr/>
          <a:lstStyle/>
          <a:p>
            <a:endParaRPr lang="en-US" dirty="0" smtClean="0"/>
          </a:p>
        </p:txBody>
      </p:sp>
      <p:graphicFrame>
        <p:nvGraphicFramePr>
          <p:cNvPr id="4" name="Group 14"/>
          <p:cNvGraphicFramePr>
            <a:graphicFrameLocks noGrp="1"/>
          </p:cNvGraphicFramePr>
          <p:nvPr/>
        </p:nvGraphicFramePr>
        <p:xfrm>
          <a:off x="1447800" y="5562600"/>
          <a:ext cx="6426200" cy="255588"/>
        </p:xfrm>
        <a:graphic>
          <a:graphicData uri="http://schemas.openxmlformats.org/drawingml/2006/table">
            <a:tbl>
              <a:tblPr/>
              <a:tblGrid>
                <a:gridCol w="919163"/>
                <a:gridCol w="915987"/>
                <a:gridCol w="919163"/>
                <a:gridCol w="917575"/>
                <a:gridCol w="919162"/>
                <a:gridCol w="915988"/>
                <a:gridCol w="919162"/>
              </a:tblGrid>
              <a:tr h="255588">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44055" name="Title 7"/>
          <p:cNvSpPr>
            <a:spLocks noGrp="1"/>
          </p:cNvSpPr>
          <p:nvPr>
            <p:ph type="title"/>
          </p:nvPr>
        </p:nvSpPr>
        <p:spPr/>
        <p:txBody>
          <a:bodyPr/>
          <a:lstStyle/>
          <a:p>
            <a:endParaRPr lang="en-US" smtClean="0"/>
          </a:p>
        </p:txBody>
      </p:sp>
      <p:sp>
        <p:nvSpPr>
          <p:cNvPr id="9" name="Rectangle 8"/>
          <p:cNvSpPr>
            <a:spLocks noChangeArrowheads="1"/>
          </p:cNvSpPr>
          <p:nvPr/>
        </p:nvSpPr>
        <p:spPr bwMode="auto">
          <a:xfrm>
            <a:off x="2430463" y="5384800"/>
            <a:ext cx="5576887"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1975" y="2039938"/>
            <a:ext cx="3362325" cy="3065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24300" y="2039938"/>
            <a:ext cx="2809875" cy="3065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734175" y="2039938"/>
            <a:ext cx="2303463" cy="3065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81342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p:cNvSpPr>
            <a:spLocks noGrp="1"/>
          </p:cNvSpPr>
          <p:nvPr>
            <p:ph idx="1"/>
          </p:nvPr>
        </p:nvSpPr>
        <p:spPr/>
        <p:txBody>
          <a:bodyPr/>
          <a:lstStyle/>
          <a:p>
            <a:endParaRPr lang="en-US" dirty="0" smtClean="0"/>
          </a:p>
        </p:txBody>
      </p:sp>
      <p:graphicFrame>
        <p:nvGraphicFramePr>
          <p:cNvPr id="4" name="Group 15"/>
          <p:cNvGraphicFramePr>
            <a:graphicFrameLocks noGrp="1"/>
          </p:cNvGraphicFramePr>
          <p:nvPr/>
        </p:nvGraphicFramePr>
        <p:xfrm>
          <a:off x="1143000" y="5535613"/>
          <a:ext cx="7010400" cy="255587"/>
        </p:xfrm>
        <a:graphic>
          <a:graphicData uri="http://schemas.openxmlformats.org/drawingml/2006/table">
            <a:tbl>
              <a:tblPr/>
              <a:tblGrid>
                <a:gridCol w="1001713"/>
                <a:gridCol w="1001712"/>
                <a:gridCol w="1001713"/>
                <a:gridCol w="1000125"/>
                <a:gridCol w="1001712"/>
                <a:gridCol w="1001713"/>
                <a:gridCol w="1001712"/>
              </a:tblGrid>
              <a:tr h="255587">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7" name="Rectangle 6"/>
          <p:cNvSpPr>
            <a:spLocks noChangeArrowheads="1"/>
          </p:cNvSpPr>
          <p:nvPr/>
        </p:nvSpPr>
        <p:spPr bwMode="auto">
          <a:xfrm>
            <a:off x="2295525" y="5384800"/>
            <a:ext cx="5978525"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5884" y="1958975"/>
            <a:ext cx="2798341" cy="2146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324225" y="1971675"/>
            <a:ext cx="2819400" cy="213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143625" y="1970087"/>
            <a:ext cx="2476499" cy="2124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885998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p:txBody>
          <a:bodyPr/>
          <a:lstStyle/>
          <a:p>
            <a:endParaRPr lang="en-US" dirty="0" smtClean="0"/>
          </a:p>
        </p:txBody>
      </p:sp>
      <p:graphicFrame>
        <p:nvGraphicFramePr>
          <p:cNvPr id="4" name="Group 15"/>
          <p:cNvGraphicFramePr>
            <a:graphicFrameLocks noGrp="1"/>
          </p:cNvGraphicFramePr>
          <p:nvPr/>
        </p:nvGraphicFramePr>
        <p:xfrm>
          <a:off x="1143000" y="5535613"/>
          <a:ext cx="6781800" cy="255587"/>
        </p:xfrm>
        <a:graphic>
          <a:graphicData uri="http://schemas.openxmlformats.org/drawingml/2006/table">
            <a:tbl>
              <a:tblPr/>
              <a:tblGrid>
                <a:gridCol w="968375"/>
                <a:gridCol w="969963"/>
                <a:gridCol w="968375"/>
                <a:gridCol w="968375"/>
                <a:gridCol w="968375"/>
                <a:gridCol w="969962"/>
                <a:gridCol w="968375"/>
              </a:tblGrid>
              <a:tr h="255587">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7" name="Rectangle 6"/>
          <p:cNvSpPr>
            <a:spLocks noChangeArrowheads="1"/>
          </p:cNvSpPr>
          <p:nvPr/>
        </p:nvSpPr>
        <p:spPr bwMode="auto">
          <a:xfrm>
            <a:off x="2295525" y="5384800"/>
            <a:ext cx="5778500"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6575" y="2019299"/>
            <a:ext cx="2720975" cy="25717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512426" y="2019299"/>
            <a:ext cx="3155323" cy="25717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257550" y="2019299"/>
            <a:ext cx="2264402" cy="25717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93332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p:txBody>
          <a:bodyPr/>
          <a:lstStyle/>
          <a:p>
            <a:endParaRPr lang="en-US" dirty="0" smtClean="0"/>
          </a:p>
        </p:txBody>
      </p:sp>
      <p:graphicFrame>
        <p:nvGraphicFramePr>
          <p:cNvPr id="4" name="Group 15"/>
          <p:cNvGraphicFramePr>
            <a:graphicFrameLocks noGrp="1"/>
          </p:cNvGraphicFramePr>
          <p:nvPr/>
        </p:nvGraphicFramePr>
        <p:xfrm>
          <a:off x="1270000" y="5562600"/>
          <a:ext cx="6578600" cy="255588"/>
        </p:xfrm>
        <a:graphic>
          <a:graphicData uri="http://schemas.openxmlformats.org/drawingml/2006/table">
            <a:tbl>
              <a:tblPr/>
              <a:tblGrid>
                <a:gridCol w="939800"/>
                <a:gridCol w="939800"/>
                <a:gridCol w="939800"/>
                <a:gridCol w="939800"/>
                <a:gridCol w="939800"/>
                <a:gridCol w="939800"/>
                <a:gridCol w="939800"/>
              </a:tblGrid>
              <a:tr h="255588">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Rating (pt)</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0</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1</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2</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3</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4</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 typeface="Times New Roman" pitchFamily="18" charset="0"/>
                        <a:buNone/>
                        <a:tabLst/>
                      </a:pPr>
                      <a:r>
                        <a:rPr kumimoji="0" lang="en-US" sz="1000" b="1" i="0" u="none" strike="noStrike" cap="none" normalizeH="0" baseline="0" smtClean="0">
                          <a:ln>
                            <a:noFill/>
                          </a:ln>
                          <a:solidFill>
                            <a:srgbClr val="000000"/>
                          </a:solidFill>
                          <a:effectLst/>
                          <a:latin typeface="Arial" pitchFamily="34" charset="0"/>
                          <a:cs typeface="Arial" pitchFamily="34" charset="0"/>
                        </a:rPr>
                        <a:t>5</a:t>
                      </a:r>
                      <a:endParaRPr kumimoji="0" lang="en-US" sz="2400" b="0" i="0" u="none" strike="noStrike" cap="none" normalizeH="0" baseline="0" smtClean="0">
                        <a:ln>
                          <a:noFill/>
                        </a:ln>
                        <a:solidFill>
                          <a:srgbClr val="000000"/>
                        </a:solidFill>
                        <a:effectLst/>
                        <a:latin typeface="Times New Roman" pitchFamily="18" charset="0"/>
                        <a:cs typeface="Arial"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bl>
          </a:graphicData>
        </a:graphic>
      </p:graphicFrame>
      <p:sp>
        <p:nvSpPr>
          <p:cNvPr id="8"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Workstation Scoring</a:t>
            </a:r>
          </a:p>
        </p:txBody>
      </p:sp>
      <p:sp>
        <p:nvSpPr>
          <p:cNvPr id="7" name="Rectangle 6"/>
          <p:cNvSpPr>
            <a:spLocks noChangeArrowheads="1"/>
          </p:cNvSpPr>
          <p:nvPr/>
        </p:nvSpPr>
        <p:spPr bwMode="auto">
          <a:xfrm>
            <a:off x="2295525" y="5384800"/>
            <a:ext cx="5711825" cy="549275"/>
          </a:xfrm>
          <a:prstGeom prst="rect">
            <a:avLst/>
          </a:prstGeom>
          <a:solidFill>
            <a:schemeClr val="bg1"/>
          </a:solidFill>
          <a:ln>
            <a:noFill/>
          </a:ln>
          <a:extLst>
            <a:ext uri="{91240B29-F687-4F45-9708-019B960494DF}">
              <a14:hiddenLine xmlns:a14="http://schemas.microsoft.com/office/drawing/2010/main" xmlns="" w="9525" algn="ctr">
                <a:solidFill>
                  <a:srgbClr val="000000"/>
                </a:solidFill>
                <a:round/>
                <a:headEnd/>
                <a:tailEnd/>
              </a14:hiddenLine>
            </a:ext>
          </a:extLst>
        </p:spPr>
        <p:txBody>
          <a:bodyPr/>
          <a:lstStyle/>
          <a:p>
            <a:endParaRPr lang="en-US"/>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8638" y="2030413"/>
            <a:ext cx="2828925" cy="2128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291263" y="2030412"/>
            <a:ext cx="2366962" cy="2128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357563" y="2036762"/>
            <a:ext cx="2933700" cy="21990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41032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kern="0" dirty="0">
                <a:solidFill>
                  <a:schemeClr val="bg1"/>
                </a:solidFill>
                <a:latin typeface="Arial Black" pitchFamily="34" charset="0"/>
              </a:rPr>
              <a:t>How much score do you give?</a:t>
            </a:r>
            <a:endParaRPr lang="en-US" sz="2800" b="0" kern="0" dirty="0">
              <a:solidFill>
                <a:schemeClr val="bg1"/>
              </a:solidFill>
              <a:latin typeface="Arial Black" pitchFamily="34" charset="0"/>
              <a:ea typeface="+mj-ea"/>
              <a:cs typeface="+mj-cs"/>
            </a:endParaRPr>
          </a:p>
        </p:txBody>
      </p:sp>
      <p:pic>
        <p:nvPicPr>
          <p:cNvPr id="4101"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2709" y="1811108"/>
            <a:ext cx="3415228" cy="2497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l="20940" t="14289" r="20615" b="8988"/>
          <a:stretch/>
        </p:blipFill>
        <p:spPr bwMode="auto">
          <a:xfrm>
            <a:off x="5310131" y="1811971"/>
            <a:ext cx="3380919" cy="24964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rotWithShape="1">
          <a:blip r:embed="rId5" cstate="print">
            <a:extLst>
              <a:ext uri="{28A0092B-C50C-407E-A947-70E740481C1C}">
                <a14:useLocalDpi xmlns:a14="http://schemas.microsoft.com/office/drawing/2010/main" xmlns="" val="0"/>
              </a:ext>
            </a:extLst>
          </a:blip>
          <a:srcRect l="20723" t="13903" r="20832" b="8410"/>
          <a:stretch/>
        </p:blipFill>
        <p:spPr bwMode="auto">
          <a:xfrm>
            <a:off x="2776251" y="4308458"/>
            <a:ext cx="3360146" cy="2512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203534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smtClean="0">
                <a:solidFill>
                  <a:schemeClr val="bg1"/>
                </a:solidFill>
                <a:latin typeface="Arial Black" pitchFamily="34" charset="0"/>
                <a:ea typeface="+mj-ea"/>
                <a:cs typeface="+mj-cs"/>
              </a:rPr>
              <a:t>How much score do you give?</a:t>
            </a:r>
            <a:endParaRPr lang="en-US" sz="2800" b="0" kern="0" dirty="0">
              <a:solidFill>
                <a:schemeClr val="bg1"/>
              </a:solidFill>
              <a:latin typeface="Arial Black" pitchFamily="34" charset="0"/>
              <a:ea typeface="+mj-ea"/>
              <a:cs typeface="+mj-cs"/>
            </a:endParaRPr>
          </a:p>
        </p:txBody>
      </p:sp>
      <p:pic>
        <p:nvPicPr>
          <p:cNvPr id="6147" name="Picture 3"/>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20830" t="13903" r="21049" b="8795"/>
          <a:stretch/>
        </p:blipFill>
        <p:spPr bwMode="auto">
          <a:xfrm>
            <a:off x="5407317" y="1598613"/>
            <a:ext cx="3186580" cy="24345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2355" y="1598613"/>
            <a:ext cx="3287436" cy="24345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5" name="Picture 3" descr="F:\DCIM\128___03\IMG_0519.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92355" y="4203017"/>
            <a:ext cx="3251200" cy="2438400"/>
          </a:xfrm>
          <a:prstGeom prst="rect">
            <a:avLst/>
          </a:prstGeom>
          <a:noFill/>
          <a:extLst>
            <a:ext uri="{909E8E84-426E-40DD-AFC4-6F175D3DCCD1}">
              <a14:hiddenFill xmlns:a14="http://schemas.microsoft.com/office/drawing/2010/main" xmlns="">
                <a:solidFill>
                  <a:srgbClr val="FFFFFF"/>
                </a:solidFill>
              </a14:hiddenFill>
            </a:ext>
          </a:extLst>
        </p:spPr>
      </p:pic>
      <p:pic>
        <p:nvPicPr>
          <p:cNvPr id="3076" name="Picture 4" descr="C:\Users\ikg\Desktop\Camera Photos\126___01\IMG_9961.JP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407317" y="4203017"/>
            <a:ext cx="3186580" cy="24384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857302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smtClean="0">
                <a:solidFill>
                  <a:schemeClr val="bg1"/>
                </a:solidFill>
                <a:latin typeface="Arial Black" pitchFamily="34" charset="0"/>
                <a:ea typeface="+mj-ea"/>
                <a:cs typeface="+mj-cs"/>
              </a:rPr>
              <a:t>How much score do you give?</a:t>
            </a:r>
            <a:endParaRPr lang="en-US" sz="2800" b="0" kern="0" dirty="0">
              <a:solidFill>
                <a:schemeClr val="bg1"/>
              </a:solidFill>
              <a:latin typeface="Arial Black" pitchFamily="34" charset="0"/>
              <a:ea typeface="+mj-ea"/>
              <a:cs typeface="+mj-cs"/>
            </a:endParaRPr>
          </a:p>
        </p:txBody>
      </p:sp>
      <p:pic>
        <p:nvPicPr>
          <p:cNvPr id="6"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8838" y="1598613"/>
            <a:ext cx="3546218" cy="26211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2"/>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l="21144" t="13903" r="20843" b="8795"/>
          <a:stretch/>
        </p:blipFill>
        <p:spPr bwMode="auto">
          <a:xfrm>
            <a:off x="5111826" y="1598613"/>
            <a:ext cx="3573548" cy="26784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rotWithShape="1">
          <a:blip r:embed="rId5" cstate="print">
            <a:extLst>
              <a:ext uri="{28A0092B-C50C-407E-A947-70E740481C1C}">
                <a14:useLocalDpi xmlns:a14="http://schemas.microsoft.com/office/drawing/2010/main" xmlns="" val="0"/>
              </a:ext>
            </a:extLst>
          </a:blip>
          <a:srcRect l="20940" t="14097" r="21157" b="8602"/>
          <a:stretch/>
        </p:blipFill>
        <p:spPr bwMode="auto">
          <a:xfrm>
            <a:off x="2733019" y="4135668"/>
            <a:ext cx="3677961" cy="2722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813711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p:cNvSpPr>
          <p:nvPr/>
        </p:nvSpPr>
        <p:spPr bwMode="auto">
          <a:xfrm>
            <a:off x="0" y="93821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smtClean="0">
                <a:solidFill>
                  <a:schemeClr val="bg1"/>
                </a:solidFill>
                <a:latin typeface="Arial Black" pitchFamily="34" charset="0"/>
                <a:ea typeface="+mj-ea"/>
                <a:cs typeface="+mj-cs"/>
              </a:rPr>
              <a:t>How much score do you give?</a:t>
            </a:r>
            <a:endParaRPr lang="en-US" sz="2800" b="0" kern="0" dirty="0">
              <a:solidFill>
                <a:schemeClr val="bg1"/>
              </a:solidFill>
              <a:latin typeface="Arial Black" pitchFamily="34" charset="0"/>
              <a:ea typeface="+mj-ea"/>
              <a:cs typeface="+mj-cs"/>
            </a:endParaRPr>
          </a:p>
        </p:txBody>
      </p:sp>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6982" y="1598613"/>
            <a:ext cx="3309853" cy="24402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069498" y="1598614"/>
            <a:ext cx="3545692" cy="24402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descr="C:\Users\ikg\Desktop\Camera Photos\127___02\IMG_0045.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66983" y="4126989"/>
            <a:ext cx="3309852" cy="2482389"/>
          </a:xfrm>
          <a:prstGeom prst="rect">
            <a:avLst/>
          </a:prstGeom>
          <a:noFill/>
          <a:extLst>
            <a:ext uri="{909E8E84-426E-40DD-AFC4-6F175D3DCCD1}">
              <a14:hiddenFill xmlns:a14="http://schemas.microsoft.com/office/drawing/2010/main" xmlns="">
                <a:solidFill>
                  <a:srgbClr val="FFFFFF"/>
                </a:solidFill>
              </a14:hiddenFill>
            </a:ext>
          </a:extLst>
        </p:spPr>
      </p:pic>
      <p:pic>
        <p:nvPicPr>
          <p:cNvPr id="4100" name="Picture 4" descr="C:\Users\ikg\Desktop\Camera Photos\127___02\IMG_0044.JP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069498" y="4148983"/>
            <a:ext cx="3545692" cy="24384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286876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p:cNvSpPr>
            <a:spLocks noGrp="1"/>
          </p:cNvSpPr>
          <p:nvPr>
            <p:ph idx="1"/>
          </p:nvPr>
        </p:nvSpPr>
        <p:spPr>
          <a:xfrm>
            <a:off x="190500" y="1638300"/>
            <a:ext cx="8610600" cy="3550645"/>
          </a:xfrm>
        </p:spPr>
        <p:txBody>
          <a:bodyPr/>
          <a:lstStyle/>
          <a:p>
            <a:r>
              <a:rPr lang="en-US" sz="2400" b="1" dirty="0" smtClean="0">
                <a:solidFill>
                  <a:srgbClr val="C00000"/>
                </a:solidFill>
              </a:rPr>
              <a:t>To ensure everyone involve in daily housekeeping</a:t>
            </a:r>
          </a:p>
          <a:p>
            <a:r>
              <a:rPr lang="en-US" sz="2400" b="1" dirty="0" smtClean="0">
                <a:solidFill>
                  <a:srgbClr val="C00000"/>
                </a:solidFill>
              </a:rPr>
              <a:t>To </a:t>
            </a:r>
            <a:r>
              <a:rPr lang="en-US" sz="2400" b="1" dirty="0">
                <a:solidFill>
                  <a:srgbClr val="C00000"/>
                </a:solidFill>
              </a:rPr>
              <a:t>achieve clean, neat and tidy </a:t>
            </a:r>
            <a:r>
              <a:rPr lang="en-US" sz="2400" b="1" dirty="0" smtClean="0">
                <a:solidFill>
                  <a:srgbClr val="C00000"/>
                </a:solidFill>
              </a:rPr>
              <a:t>workplace everyday</a:t>
            </a:r>
          </a:p>
          <a:p>
            <a:r>
              <a:rPr lang="en-US" sz="2400" b="1" dirty="0" smtClean="0">
                <a:solidFill>
                  <a:srgbClr val="C00000"/>
                </a:solidFill>
              </a:rPr>
              <a:t>To take photo on current status, IC’s will then take action on closure (stetting up standard)</a:t>
            </a:r>
          </a:p>
          <a:p>
            <a:r>
              <a:rPr lang="en-US" sz="2400" b="1" dirty="0" smtClean="0">
                <a:solidFill>
                  <a:srgbClr val="C00000"/>
                </a:solidFill>
              </a:rPr>
              <a:t>Hall IC’s to set standard for halls and submit own areas report</a:t>
            </a:r>
          </a:p>
          <a:p>
            <a:r>
              <a:rPr lang="en-US" sz="2400" b="1" dirty="0" smtClean="0">
                <a:solidFill>
                  <a:srgbClr val="C00000"/>
                </a:solidFill>
              </a:rPr>
              <a:t>Conduct weekly/monthly audit including surprise audit</a:t>
            </a:r>
          </a:p>
          <a:p>
            <a:r>
              <a:rPr lang="en-US" sz="2400" b="1" dirty="0" smtClean="0">
                <a:solidFill>
                  <a:srgbClr val="C00000"/>
                </a:solidFill>
              </a:rPr>
              <a:t>Submit audit results to see your actual scoring</a:t>
            </a:r>
          </a:p>
        </p:txBody>
      </p:sp>
      <p:sp>
        <p:nvSpPr>
          <p:cNvPr id="4" name="Title 4"/>
          <p:cNvSpPr txBox="1">
            <a:spLocks/>
          </p:cNvSpPr>
          <p:nvPr/>
        </p:nvSpPr>
        <p:spPr bwMode="auto">
          <a:xfrm>
            <a:off x="0" y="842963"/>
            <a:ext cx="9144000" cy="660400"/>
          </a:xfrm>
          <a:prstGeom prst="rect">
            <a:avLst/>
          </a:prstGeom>
          <a:solidFill>
            <a:srgbClr val="002060"/>
          </a:solidFill>
          <a:ln w="9525">
            <a:noFill/>
            <a:miter lim="800000"/>
            <a:headEnd/>
            <a:tailEnd/>
          </a:ln>
          <a:effectLst/>
        </p:spPr>
        <p:txBody>
          <a:bodyPr anchor="ctr"/>
          <a:lstStyle/>
          <a:p>
            <a:pPr>
              <a:defRPr/>
            </a:pPr>
            <a:r>
              <a:rPr lang="en-US" sz="2800" b="0" kern="0" dirty="0">
                <a:solidFill>
                  <a:schemeClr val="bg1"/>
                </a:solidFill>
                <a:latin typeface="Arial Black" pitchFamily="34" charset="0"/>
                <a:ea typeface="+mj-ea"/>
                <a:cs typeface="+mj-cs"/>
              </a:rPr>
              <a:t>5S Team Leader Assignment </a:t>
            </a:r>
          </a:p>
        </p:txBody>
      </p:sp>
    </p:spTree>
    <p:extLst>
      <p:ext uri="{BB962C8B-B14F-4D97-AF65-F5344CB8AC3E}">
        <p14:creationId xmlns:p14="http://schemas.microsoft.com/office/powerpoint/2010/main" xmlns="" val="22232187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2776" name="Object 8"/>
          <p:cNvGraphicFramePr>
            <a:graphicFrameLocks noChangeAspect="1"/>
          </p:cNvGraphicFramePr>
          <p:nvPr/>
        </p:nvGraphicFramePr>
        <p:xfrm>
          <a:off x="3357563" y="5000625"/>
          <a:ext cx="4276725" cy="1857375"/>
        </p:xfrm>
        <a:graphic>
          <a:graphicData uri="http://schemas.openxmlformats.org/presentationml/2006/ole">
            <p:oleObj spid="_x0000_s2095" name="Picture (32-bit)" r:id="rId3" imgW="4280040" imgH="1854360" progId="">
              <p:embed/>
            </p:oleObj>
          </a:graphicData>
        </a:graphic>
      </p:graphicFrame>
      <p:sp>
        <p:nvSpPr>
          <p:cNvPr id="32771" name="Rectangle 3"/>
          <p:cNvSpPr>
            <a:spLocks noGrp="1" noChangeArrowheads="1"/>
          </p:cNvSpPr>
          <p:nvPr>
            <p:ph type="body" idx="1"/>
          </p:nvPr>
        </p:nvSpPr>
        <p:spPr>
          <a:xfrm>
            <a:off x="758825" y="1798333"/>
            <a:ext cx="7772400" cy="3610950"/>
          </a:xfrm>
        </p:spPr>
        <p:txBody>
          <a:bodyPr/>
          <a:lstStyle/>
          <a:p>
            <a:pPr algn="ctr">
              <a:buFont typeface="Monotype Sorts" pitchFamily="2" charset="2"/>
              <a:buNone/>
            </a:pPr>
            <a:r>
              <a:rPr lang="en-US" sz="2400" b="1" dirty="0" smtClean="0">
                <a:solidFill>
                  <a:srgbClr val="FF0000"/>
                </a:solidFill>
                <a:latin typeface="Comic Sans MS" pitchFamily="66" charset="0"/>
              </a:rPr>
              <a:t>5S IS NO EASY</a:t>
            </a:r>
          </a:p>
          <a:p>
            <a:pPr>
              <a:buFont typeface="Monotype Sorts" pitchFamily="2" charset="2"/>
              <a:buNone/>
            </a:pPr>
            <a:r>
              <a:rPr lang="en-US" sz="2400" b="1" dirty="0" smtClean="0">
                <a:solidFill>
                  <a:srgbClr val="FF0000"/>
                </a:solidFill>
                <a:latin typeface="Comic Sans MS" pitchFamily="66" charset="0"/>
              </a:rPr>
              <a:t>“The 5S’s are not that difficult to understand.  However, they are very difficult to do well.  They require diligence and determination.  They require constant effort and require the ability to see what is important and to pay attention to details.</a:t>
            </a:r>
          </a:p>
          <a:p>
            <a:pPr>
              <a:buFont typeface="Monotype Sorts" pitchFamily="2" charset="2"/>
              <a:buNone/>
            </a:pPr>
            <a:r>
              <a:rPr lang="en-US" sz="2400" b="1" dirty="0" smtClean="0">
                <a:solidFill>
                  <a:srgbClr val="FF0000"/>
                </a:solidFill>
                <a:latin typeface="Comic Sans MS" pitchFamily="66" charset="0"/>
              </a:rPr>
              <a:t>	They may not show dramatic results, but they do show results.”</a:t>
            </a:r>
          </a:p>
        </p:txBody>
      </p:sp>
      <p:sp>
        <p:nvSpPr>
          <p:cNvPr id="51204" name="Text Box 4"/>
          <p:cNvSpPr txBox="1">
            <a:spLocks noChangeArrowheads="1"/>
          </p:cNvSpPr>
          <p:nvPr/>
        </p:nvSpPr>
        <p:spPr bwMode="auto">
          <a:xfrm>
            <a:off x="136525" y="6108700"/>
            <a:ext cx="622300" cy="5826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1422" tIns="45711" rIns="91422" bIns="45711">
            <a:spAutoFit/>
          </a:bodyPr>
          <a:lstStyle>
            <a:lvl1pPr>
              <a:defRPr sz="2000">
                <a:solidFill>
                  <a:schemeClr val="tx1"/>
                </a:solidFill>
                <a:latin typeface="News Gothic" pitchFamily="34" charset="0"/>
              </a:defRPr>
            </a:lvl1pPr>
            <a:lvl2pPr marL="742950" indent="-285750">
              <a:defRPr sz="2000">
                <a:solidFill>
                  <a:schemeClr val="tx1"/>
                </a:solidFill>
                <a:latin typeface="News Gothic" pitchFamily="34" charset="0"/>
              </a:defRPr>
            </a:lvl2pPr>
            <a:lvl3pPr marL="1143000" indent="-228600">
              <a:defRPr sz="2000">
                <a:solidFill>
                  <a:schemeClr val="tx1"/>
                </a:solidFill>
                <a:latin typeface="News Gothic" pitchFamily="34" charset="0"/>
              </a:defRPr>
            </a:lvl3pPr>
            <a:lvl4pPr marL="1600200" indent="-228600">
              <a:defRPr sz="2000">
                <a:solidFill>
                  <a:schemeClr val="tx1"/>
                </a:solidFill>
                <a:latin typeface="News Gothic" pitchFamily="34" charset="0"/>
              </a:defRPr>
            </a:lvl4pPr>
            <a:lvl5pPr marL="2057400" indent="-228600">
              <a:defRPr sz="2000">
                <a:solidFill>
                  <a:schemeClr val="tx1"/>
                </a:solidFill>
                <a:latin typeface="News Gothic" pitchFamily="34" charset="0"/>
              </a:defRPr>
            </a:lvl5pPr>
            <a:lvl6pPr marL="2514600" indent="-228600" algn="ctr" eaLnBrk="0" fontAlgn="base" hangingPunct="0">
              <a:spcBef>
                <a:spcPct val="0"/>
              </a:spcBef>
              <a:spcAft>
                <a:spcPct val="0"/>
              </a:spcAft>
              <a:defRPr sz="2000">
                <a:solidFill>
                  <a:schemeClr val="tx1"/>
                </a:solidFill>
                <a:latin typeface="News Gothic" pitchFamily="34" charset="0"/>
              </a:defRPr>
            </a:lvl6pPr>
            <a:lvl7pPr marL="2971800" indent="-228600" algn="ctr" eaLnBrk="0" fontAlgn="base" hangingPunct="0">
              <a:spcBef>
                <a:spcPct val="0"/>
              </a:spcBef>
              <a:spcAft>
                <a:spcPct val="0"/>
              </a:spcAft>
              <a:defRPr sz="2000">
                <a:solidFill>
                  <a:schemeClr val="tx1"/>
                </a:solidFill>
                <a:latin typeface="News Gothic" pitchFamily="34" charset="0"/>
              </a:defRPr>
            </a:lvl7pPr>
            <a:lvl8pPr marL="3429000" indent="-228600" algn="ctr" eaLnBrk="0" fontAlgn="base" hangingPunct="0">
              <a:spcBef>
                <a:spcPct val="0"/>
              </a:spcBef>
              <a:spcAft>
                <a:spcPct val="0"/>
              </a:spcAft>
              <a:defRPr sz="2000">
                <a:solidFill>
                  <a:schemeClr val="tx1"/>
                </a:solidFill>
                <a:latin typeface="News Gothic" pitchFamily="34" charset="0"/>
              </a:defRPr>
            </a:lvl8pPr>
            <a:lvl9pPr marL="3886200" indent="-228600" algn="ctr" eaLnBrk="0" fontAlgn="base" hangingPunct="0">
              <a:spcBef>
                <a:spcPct val="0"/>
              </a:spcBef>
              <a:spcAft>
                <a:spcPct val="0"/>
              </a:spcAft>
              <a:defRPr sz="2000">
                <a:solidFill>
                  <a:schemeClr val="tx1"/>
                </a:solidFill>
                <a:latin typeface="News Gothic" pitchFamily="34" charset="0"/>
              </a:defRPr>
            </a:lvl9pPr>
          </a:lstStyle>
          <a:p>
            <a:pPr algn="l"/>
            <a:r>
              <a:rPr lang="en-US" sz="3100" b="1">
                <a:latin typeface="Century Gothic" pitchFamily="34" charset="0"/>
              </a:rPr>
              <a:t>5S</a:t>
            </a:r>
          </a:p>
        </p:txBody>
      </p:sp>
      <p:sp>
        <p:nvSpPr>
          <p:cNvPr id="51205" name="WordArt 6"/>
          <p:cNvSpPr>
            <a:spLocks noChangeArrowheads="1" noChangeShapeType="1" noTextEdit="1"/>
          </p:cNvSpPr>
          <p:nvPr/>
        </p:nvSpPr>
        <p:spPr bwMode="auto">
          <a:xfrm>
            <a:off x="1563477" y="895008"/>
            <a:ext cx="6071212" cy="611360"/>
          </a:xfrm>
          <a:prstGeom prst="rect">
            <a:avLst/>
          </a:prstGeom>
          <a:extLst>
            <a:ext uri="{91240B29-F687-4F45-9708-019B960494DF}">
              <a14:hiddenLine xmlns:a14="http://schemas.microsoft.com/office/drawing/2010/main" xmlns="" w="9525">
                <a:solidFill>
                  <a:srgbClr val="000000"/>
                </a:solidFill>
                <a:round/>
                <a:headEnd/>
                <a:tailEnd/>
              </a14:hiddenLine>
            </a:ext>
          </a:extLst>
        </p:spPr>
        <p:txBody>
          <a:bodyPr wrap="none" fromWordArt="1">
            <a:prstTxWarp prst="textPlain">
              <a:avLst>
                <a:gd name="adj" fmla="val 50000"/>
              </a:avLst>
            </a:prstTxWarp>
          </a:bodyPr>
          <a:lstStyle/>
          <a:p>
            <a:r>
              <a:rPr lang="en-SG" sz="5400" kern="10" dirty="0">
                <a:gradFill rotWithShape="1">
                  <a:gsLst>
                    <a:gs pos="0">
                      <a:srgbClr val="FF8200"/>
                    </a:gs>
                    <a:gs pos="10001">
                      <a:srgbClr val="FF0000"/>
                    </a:gs>
                    <a:gs pos="35001">
                      <a:srgbClr val="BA0066"/>
                    </a:gs>
                    <a:gs pos="70000">
                      <a:srgbClr val="66008F"/>
                    </a:gs>
                    <a:gs pos="100000">
                      <a:srgbClr val="000082"/>
                    </a:gs>
                  </a:gsLst>
                  <a:lin ang="5400000" scaled="1"/>
                </a:gradFill>
                <a:effectLst>
                  <a:outerShdw dist="35921" dir="2700000" algn="ctr" rotWithShape="0">
                    <a:srgbClr val="C0C0C0"/>
                  </a:outerShdw>
                </a:effectLst>
                <a:latin typeface="Jester"/>
              </a:rPr>
              <a:t>CONCLUSION</a:t>
            </a:r>
          </a:p>
        </p:txBody>
      </p:sp>
      <p:pic>
        <p:nvPicPr>
          <p:cNvPr id="51207" name="Picture 2" descr="NSL-logo"/>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7839075" y="6600825"/>
            <a:ext cx="1304925" cy="257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839508349"/>
      </p:ext>
    </p:extLst>
  </p:cSld>
  <p:clrMapOvr>
    <a:masterClrMapping/>
  </p:clrMapOvr>
  <p:transition spd="slow">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p:cTn id="7" dur="500" fill="hold"/>
                                        <p:tgtEl>
                                          <p:spTgt spid="32771"/>
                                        </p:tgtEl>
                                        <p:attrNameLst>
                                          <p:attrName>ppt_w</p:attrName>
                                        </p:attrNameLst>
                                      </p:cBhvr>
                                      <p:tavLst>
                                        <p:tav tm="0">
                                          <p:val>
                                            <p:fltVal val="0"/>
                                          </p:val>
                                        </p:tav>
                                        <p:tav tm="100000">
                                          <p:val>
                                            <p:strVal val="#ppt_w"/>
                                          </p:val>
                                        </p:tav>
                                      </p:tavLst>
                                    </p:anim>
                                    <p:anim calcmode="lin" valueType="num">
                                      <p:cBhvr>
                                        <p:cTn id="8" dur="500" fill="hold"/>
                                        <p:tgtEl>
                                          <p:spTgt spid="3277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5" presetClass="entr" presetSubtype="0" fill="hold" nodeType="clickEffect">
                                  <p:stCondLst>
                                    <p:cond delay="0"/>
                                  </p:stCondLst>
                                  <p:childTnLst>
                                    <p:set>
                                      <p:cBhvr>
                                        <p:cTn id="12" dur="1" fill="hold">
                                          <p:stCondLst>
                                            <p:cond delay="0"/>
                                          </p:stCondLst>
                                        </p:cTn>
                                        <p:tgtEl>
                                          <p:spTgt spid="32776"/>
                                        </p:tgtEl>
                                        <p:attrNameLst>
                                          <p:attrName>style.visibility</p:attrName>
                                        </p:attrNameLst>
                                      </p:cBhvr>
                                      <p:to>
                                        <p:strVal val="visible"/>
                                      </p:to>
                                    </p:set>
                                    <p:anim calcmode="lin" valueType="num">
                                      <p:cBhvr>
                                        <p:cTn id="13" dur="1000" fill="hold"/>
                                        <p:tgtEl>
                                          <p:spTgt spid="32776"/>
                                        </p:tgtEl>
                                        <p:attrNameLst>
                                          <p:attrName>ppt_w</p:attrName>
                                        </p:attrNameLst>
                                      </p:cBhvr>
                                      <p:tavLst>
                                        <p:tav tm="0">
                                          <p:val>
                                            <p:fltVal val="0"/>
                                          </p:val>
                                        </p:tav>
                                        <p:tav tm="100000">
                                          <p:val>
                                            <p:strVal val="#ppt_w"/>
                                          </p:val>
                                        </p:tav>
                                      </p:tavLst>
                                    </p:anim>
                                    <p:anim calcmode="lin" valueType="num">
                                      <p:cBhvr>
                                        <p:cTn id="14" dur="1000" fill="hold"/>
                                        <p:tgtEl>
                                          <p:spTgt spid="32776"/>
                                        </p:tgtEl>
                                        <p:attrNameLst>
                                          <p:attrName>ppt_h</p:attrName>
                                        </p:attrNameLst>
                                      </p:cBhvr>
                                      <p:tavLst>
                                        <p:tav tm="0">
                                          <p:val>
                                            <p:fltVal val="0"/>
                                          </p:val>
                                        </p:tav>
                                        <p:tav tm="100000">
                                          <p:val>
                                            <p:strVal val="#ppt_h"/>
                                          </p:val>
                                        </p:tav>
                                      </p:tavLst>
                                    </p:anim>
                                    <p:anim calcmode="lin" valueType="num">
                                      <p:cBhvr>
                                        <p:cTn id="15" dur="1000" fill="hold"/>
                                        <p:tgtEl>
                                          <p:spTgt spid="32776"/>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3277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0" y="2130425"/>
            <a:ext cx="9144000" cy="1470025"/>
          </a:xfrm>
          <a:prstGeom prst="rect">
            <a:avLst/>
          </a:prstGeom>
          <a:solidFill>
            <a:srgbClr val="002060"/>
          </a:solid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GB" sz="3600" b="0" i="0" u="none" strike="noStrike" kern="0" cap="none" spc="0" normalizeH="0" baseline="0" noProof="0" dirty="0" smtClean="0">
                <a:ln>
                  <a:noFill/>
                </a:ln>
                <a:solidFill>
                  <a:schemeClr val="bg1"/>
                </a:solidFill>
                <a:effectLst/>
                <a:uLnTx/>
                <a:uFillTx/>
                <a:latin typeface="Arial Black" pitchFamily="34" charset="0"/>
                <a:ea typeface="+mj-ea"/>
                <a:cs typeface="+mj-cs"/>
              </a:rPr>
              <a:t>THANK YOU</a:t>
            </a:r>
            <a:endParaRPr kumimoji="0" lang="en-GB" sz="3600" b="0" i="0" u="none" strike="noStrike" kern="0" cap="none" spc="0" normalizeH="0" baseline="0" noProof="0" dirty="0">
              <a:ln>
                <a:noFill/>
              </a:ln>
              <a:solidFill>
                <a:schemeClr val="bg1"/>
              </a:solidFill>
              <a:effectLst/>
              <a:uLnTx/>
              <a:uFillTx/>
              <a:latin typeface="Arial Black" pitchFamily="34" charset="0"/>
              <a:ea typeface="+mj-ea"/>
              <a:cs typeface="+mj-cs"/>
            </a:endParaRPr>
          </a:p>
        </p:txBody>
      </p:sp>
      <p:pic>
        <p:nvPicPr>
          <p:cNvPr id="5122" name="Picture 2"/>
          <p:cNvPicPr>
            <a:picLocks noGrp="1" noChangeAspect="1" noChangeArrowheads="1"/>
          </p:cNvPicPr>
          <p:nvPr>
            <p:ph idx="1"/>
          </p:nvPr>
        </p:nvPicPr>
        <p:blipFill>
          <a:blip r:embed="rId3" cstate="print"/>
          <a:srcRect/>
          <a:stretch>
            <a:fillRect/>
          </a:stretch>
        </p:blipFill>
        <p:spPr bwMode="auto">
          <a:xfrm>
            <a:off x="7422079" y="2101932"/>
            <a:ext cx="1721922" cy="1505636"/>
          </a:xfrm>
          <a:prstGeom prst="rect">
            <a:avLst/>
          </a:prstGeom>
          <a:noFill/>
          <a:ln w="9525">
            <a:noFill/>
            <a:miter lim="800000"/>
            <a:headEnd/>
            <a:tailEnd/>
          </a:ln>
        </p:spPr>
      </p:pic>
      <p:sp>
        <p:nvSpPr>
          <p:cNvPr id="4" name="Text Box 7"/>
          <p:cNvSpPr txBox="1">
            <a:spLocks noChangeArrowheads="1"/>
          </p:cNvSpPr>
          <p:nvPr/>
        </p:nvSpPr>
        <p:spPr bwMode="auto">
          <a:xfrm>
            <a:off x="7677150" y="5943600"/>
            <a:ext cx="1466850" cy="4429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lIns="91422" tIns="45711" rIns="91422" bIns="45711">
            <a:spAutoFit/>
          </a:bodyPr>
          <a:lstStyle>
            <a:lvl1pPr>
              <a:defRPr sz="2000">
                <a:solidFill>
                  <a:schemeClr val="tx1"/>
                </a:solidFill>
                <a:latin typeface="News Gothic" pitchFamily="34" charset="0"/>
              </a:defRPr>
            </a:lvl1pPr>
            <a:lvl2pPr marL="742950" indent="-285750">
              <a:defRPr sz="2000">
                <a:solidFill>
                  <a:schemeClr val="tx1"/>
                </a:solidFill>
                <a:latin typeface="News Gothic" pitchFamily="34" charset="0"/>
              </a:defRPr>
            </a:lvl2pPr>
            <a:lvl3pPr marL="1143000" indent="-228600">
              <a:defRPr sz="2000">
                <a:solidFill>
                  <a:schemeClr val="tx1"/>
                </a:solidFill>
                <a:latin typeface="News Gothic" pitchFamily="34" charset="0"/>
              </a:defRPr>
            </a:lvl3pPr>
            <a:lvl4pPr marL="1600200" indent="-228600">
              <a:defRPr sz="2000">
                <a:solidFill>
                  <a:schemeClr val="tx1"/>
                </a:solidFill>
                <a:latin typeface="News Gothic" pitchFamily="34" charset="0"/>
              </a:defRPr>
            </a:lvl4pPr>
            <a:lvl5pPr marL="2057400" indent="-228600">
              <a:defRPr sz="2000">
                <a:solidFill>
                  <a:schemeClr val="tx1"/>
                </a:solidFill>
                <a:latin typeface="News Gothic" pitchFamily="34" charset="0"/>
              </a:defRPr>
            </a:lvl5pPr>
            <a:lvl6pPr marL="2514600" indent="-228600" algn="ctr" eaLnBrk="0" fontAlgn="base" hangingPunct="0">
              <a:spcBef>
                <a:spcPct val="0"/>
              </a:spcBef>
              <a:spcAft>
                <a:spcPct val="0"/>
              </a:spcAft>
              <a:defRPr sz="2000">
                <a:solidFill>
                  <a:schemeClr val="tx1"/>
                </a:solidFill>
                <a:latin typeface="News Gothic" pitchFamily="34" charset="0"/>
              </a:defRPr>
            </a:lvl6pPr>
            <a:lvl7pPr marL="2971800" indent="-228600" algn="ctr" eaLnBrk="0" fontAlgn="base" hangingPunct="0">
              <a:spcBef>
                <a:spcPct val="0"/>
              </a:spcBef>
              <a:spcAft>
                <a:spcPct val="0"/>
              </a:spcAft>
              <a:defRPr sz="2000">
                <a:solidFill>
                  <a:schemeClr val="tx1"/>
                </a:solidFill>
                <a:latin typeface="News Gothic" pitchFamily="34" charset="0"/>
              </a:defRPr>
            </a:lvl7pPr>
            <a:lvl8pPr marL="3429000" indent="-228600" algn="ctr" eaLnBrk="0" fontAlgn="base" hangingPunct="0">
              <a:spcBef>
                <a:spcPct val="0"/>
              </a:spcBef>
              <a:spcAft>
                <a:spcPct val="0"/>
              </a:spcAft>
              <a:defRPr sz="2000">
                <a:solidFill>
                  <a:schemeClr val="tx1"/>
                </a:solidFill>
                <a:latin typeface="News Gothic" pitchFamily="34" charset="0"/>
              </a:defRPr>
            </a:lvl8pPr>
            <a:lvl9pPr marL="3886200" indent="-228600" algn="ctr" eaLnBrk="0" fontAlgn="base" hangingPunct="0">
              <a:spcBef>
                <a:spcPct val="0"/>
              </a:spcBef>
              <a:spcAft>
                <a:spcPct val="0"/>
              </a:spcAft>
              <a:defRPr sz="2000">
                <a:solidFill>
                  <a:schemeClr val="tx1"/>
                </a:solidFill>
                <a:latin typeface="News Gothic" pitchFamily="34" charset="0"/>
              </a:defRPr>
            </a:lvl9pPr>
          </a:lstStyle>
          <a:p>
            <a:r>
              <a:rPr lang="en-US" sz="2300" b="1" dirty="0">
                <a:solidFill>
                  <a:srgbClr val="660066"/>
                </a:solidFill>
                <a:latin typeface="Hobo" pitchFamily="34" charset="0"/>
              </a:rPr>
              <a:t>THE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0" fill="hold"/>
                                        <p:tgtEl>
                                          <p:spTgt spid="4"/>
                                        </p:tgtEl>
                                        <p:attrNameLst>
                                          <p:attrName>ppt_w</p:attrName>
                                        </p:attrNameLst>
                                      </p:cBhvr>
                                      <p:tavLst>
                                        <p:tav tm="0" fmla="#ppt_w*sin(2.5*pi*$)">
                                          <p:val>
                                            <p:fltVal val="0"/>
                                          </p:val>
                                        </p:tav>
                                        <p:tav tm="100000">
                                          <p:val>
                                            <p:fltVal val="1"/>
                                          </p:val>
                                        </p:tav>
                                      </p:tavLst>
                                    </p:anim>
                                    <p:anim calcmode="lin" valueType="num">
                                      <p:cBhvr>
                                        <p:cTn id="8" dur="5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1747</TotalTime>
  <Words>731</Words>
  <Application>Microsoft Office PowerPoint</Application>
  <PresentationFormat>On-screen Show (4:3)</PresentationFormat>
  <Paragraphs>207</Paragraphs>
  <Slides>30</Slides>
  <Notes>20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Default Design</vt:lpstr>
      <vt:lpstr>Picture (32-bit)</vt:lpstr>
      <vt:lpstr>5S Refresher Course</vt:lpstr>
      <vt:lpstr>Agenda</vt:lpstr>
      <vt:lpstr>Slide 3</vt:lpstr>
      <vt:lpstr>Slide 4</vt:lpstr>
      <vt:lpstr>What is 5S?</vt:lpstr>
      <vt:lpstr>Meaning of 5S</vt:lpstr>
      <vt:lpstr>Slide 7</vt:lpstr>
      <vt:lpstr>Slide 8</vt:lpstr>
      <vt:lpstr>Slide 9</vt:lpstr>
      <vt:lpstr>Slide 10</vt:lpstr>
      <vt:lpstr>Slide 11</vt:lpstr>
      <vt:lpstr>Benefits of 5S</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Ho&amp;Hoe Design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Victor</dc:creator>
  <cp:lastModifiedBy>muthu</cp:lastModifiedBy>
  <cp:revision>98</cp:revision>
  <cp:lastPrinted>2015-04-28T04:19:29Z</cp:lastPrinted>
  <dcterms:created xsi:type="dcterms:W3CDTF">2008-08-27T07:45:25Z</dcterms:created>
  <dcterms:modified xsi:type="dcterms:W3CDTF">2017-10-20T03:58:14Z</dcterms:modified>
</cp:coreProperties>
</file>