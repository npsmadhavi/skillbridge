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19"/>
  </p:notesMasterIdLst>
  <p:handoutMasterIdLst>
    <p:handoutMasterId r:id="rId20"/>
  </p:handoutMasterIdLst>
  <p:sldIdLst>
    <p:sldId id="343" r:id="rId2"/>
    <p:sldId id="347" r:id="rId3"/>
    <p:sldId id="363" r:id="rId4"/>
    <p:sldId id="361" r:id="rId5"/>
    <p:sldId id="364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7" r:id="rId14"/>
    <p:sldId id="358" r:id="rId15"/>
    <p:sldId id="365" r:id="rId16"/>
    <p:sldId id="366" r:id="rId17"/>
    <p:sldId id="360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900">
          <p15:clr>
            <a:srgbClr val="A4A3A4"/>
          </p15:clr>
        </p15:guide>
        <p15:guide id="2" orient="horz" pos="4163">
          <p15:clr>
            <a:srgbClr val="A4A3A4"/>
          </p15:clr>
        </p15:guide>
        <p15:guide id="3" orient="horz" pos="358">
          <p15:clr>
            <a:srgbClr val="A4A3A4"/>
          </p15:clr>
        </p15:guide>
        <p15:guide id="4" orient="horz" pos="567">
          <p15:clr>
            <a:srgbClr val="A4A3A4"/>
          </p15:clr>
        </p15:guide>
        <p15:guide id="5" orient="horz" pos="824">
          <p15:clr>
            <a:srgbClr val="A4A3A4"/>
          </p15:clr>
        </p15:guide>
        <p15:guide id="6" orient="horz" pos="1281">
          <p15:clr>
            <a:srgbClr val="A4A3A4"/>
          </p15:clr>
        </p15:guide>
        <p15:guide id="7" pos="264">
          <p15:clr>
            <a:srgbClr val="A4A3A4"/>
          </p15:clr>
        </p15:guide>
        <p15:guide id="8" pos="5501">
          <p15:clr>
            <a:srgbClr val="A4A3A4"/>
          </p15:clr>
        </p15:guide>
        <p15:guide id="9" pos="448">
          <p15:clr>
            <a:srgbClr val="A4A3A4"/>
          </p15:clr>
        </p15:guide>
        <p15:guide id="10" pos="2879">
          <p15:clr>
            <a:srgbClr val="A4A3A4"/>
          </p15:clr>
        </p15:guide>
        <p15:guide id="11" pos="381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3965"/>
    <a:srgbClr val="13A0C1"/>
    <a:srgbClr val="0083A9"/>
    <a:srgbClr val="A0B6DF"/>
    <a:srgbClr val="FFDCAA"/>
    <a:srgbClr val="FDB134"/>
    <a:srgbClr val="FF9900"/>
    <a:srgbClr val="7596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1" autoAdjust="0"/>
    <p:restoredTop sz="94632" autoAdjust="0"/>
  </p:normalViewPr>
  <p:slideViewPr>
    <p:cSldViewPr snapToGrid="0">
      <p:cViewPr varScale="1">
        <p:scale>
          <a:sx n="106" d="100"/>
          <a:sy n="106" d="100"/>
        </p:scale>
        <p:origin x="198" y="114"/>
      </p:cViewPr>
      <p:guideLst>
        <p:guide orient="horz" pos="3900"/>
        <p:guide orient="horz" pos="4163"/>
        <p:guide orient="horz" pos="358"/>
        <p:guide orient="horz" pos="567"/>
        <p:guide orient="horz" pos="824"/>
        <p:guide orient="horz" pos="1281"/>
        <p:guide pos="264"/>
        <p:guide pos="5501"/>
        <p:guide pos="448"/>
        <p:guide pos="2879"/>
        <p:guide pos="38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38B4F4AB-09BF-447F-A66E-345015A79E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1623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42D95AA1-6DD2-4ED5-B777-C36235F690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0645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BCCD98-87C3-45B5-86F7-AE9F52FE7FB6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207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96666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C:\Users\zjl\Desktop\Horizon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763" cy="220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5" descr="C:\Users\zjl\Documents\NatSteel logo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5063" y="158750"/>
            <a:ext cx="276225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08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15925" y="2871788"/>
            <a:ext cx="8332788" cy="530225"/>
          </a:xfrm>
        </p:spPr>
        <p:txBody>
          <a:bodyPr/>
          <a:lstStyle>
            <a:lvl1pPr>
              <a:defRPr sz="3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08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23863" y="2535238"/>
            <a:ext cx="8332787" cy="315912"/>
          </a:xfrm>
        </p:spPr>
        <p:txBody>
          <a:bodyPr anchor="b"/>
          <a:lstStyle>
            <a:lvl1pPr marL="0" indent="0">
              <a:buFontTx/>
              <a:buNone/>
              <a:defRPr sz="1900" baseline="0">
                <a:solidFill>
                  <a:srgbClr val="003965"/>
                </a:solidFill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197725" y="6475413"/>
            <a:ext cx="487363" cy="122237"/>
          </a:xfrm>
        </p:spPr>
        <p:txBody>
          <a:bodyPr wrap="none"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5934075" y="6475413"/>
            <a:ext cx="328613" cy="122237"/>
          </a:xfrm>
        </p:spPr>
        <p:txBody>
          <a:bodyPr wrap="none"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20125" y="6475413"/>
            <a:ext cx="123825" cy="1222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2A178-158C-4BC3-B275-94AF0F7111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F4387B-6D41-44AA-9142-1A3F04F7BF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759999-722F-46EB-A0A2-59F47DBA24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9100" y="1308100"/>
            <a:ext cx="4079875" cy="4883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308100"/>
            <a:ext cx="4081463" cy="4883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85DA65-91F9-421D-B90F-4978AD45F5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24DCE-72FE-4761-AD81-6B477E7C9F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3CDB14-ECE8-46E0-B83A-ECB863D937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4C669E-ECBF-4598-B118-4DFF3DC8FC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9386F-7AFB-4B28-BE9A-15FADD55BB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06819A-84F5-47D6-BF1C-46DC99D613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753CB2-E865-4D2F-AF6A-53A1A2C019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0038" y="298450"/>
            <a:ext cx="2082800" cy="5892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1638" y="298450"/>
            <a:ext cx="6096000" cy="5892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1D440-DF42-4DF4-A4B2-E1B96917DC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638" y="298450"/>
            <a:ext cx="7618412" cy="3508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19100" y="1308100"/>
            <a:ext cx="8313738" cy="4883150"/>
          </a:xfrm>
        </p:spPr>
        <p:txBody>
          <a:bodyPr/>
          <a:lstStyle/>
          <a:p>
            <a:pPr lvl="0"/>
            <a:endParaRPr lang="en-SG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CAFD43-A69D-4BEC-92CB-A0B2E4E3CF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675" y="134938"/>
            <a:ext cx="7059613" cy="9667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9863" y="1162050"/>
            <a:ext cx="4310062" cy="2141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169863" y="3455988"/>
            <a:ext cx="4310062" cy="2143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3"/>
          </p:nvPr>
        </p:nvSpPr>
        <p:spPr>
          <a:xfrm>
            <a:off x="4632325" y="1162050"/>
            <a:ext cx="4311650" cy="44370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1638" y="298450"/>
            <a:ext cx="7618412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9100" y="1308100"/>
            <a:ext cx="8313738" cy="48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</p:txBody>
      </p:sp>
      <p:sp>
        <p:nvSpPr>
          <p:cNvPr id="1198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69175" y="6475413"/>
            <a:ext cx="1058863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 sz="800" b="0"/>
            </a:lvl1pPr>
          </a:lstStyle>
          <a:p>
            <a:pPr>
              <a:defRPr/>
            </a:pPr>
            <a:r>
              <a:rPr lang="en-GB"/>
              <a:t>00 Month 2010</a:t>
            </a:r>
          </a:p>
        </p:txBody>
      </p:sp>
      <p:sp>
        <p:nvSpPr>
          <p:cNvPr id="1198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013325" y="6475413"/>
            <a:ext cx="2176463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 sz="800" b="0"/>
            </a:lvl1pPr>
          </a:lstStyle>
          <a:p>
            <a:pPr>
              <a:defRPr/>
            </a:pPr>
            <a:r>
              <a:rPr lang="en-GB"/>
              <a:t>Change footer via View menu/Header &amp; Footer</a:t>
            </a:r>
          </a:p>
        </p:txBody>
      </p:sp>
      <p:sp>
        <p:nvSpPr>
          <p:cNvPr id="1198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013" y="6475413"/>
            <a:ext cx="123825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800" b="0"/>
            </a:lvl1pPr>
          </a:lstStyle>
          <a:p>
            <a:pPr>
              <a:defRPr/>
            </a:pPr>
            <a:fld id="{77D68982-8362-4D84-80A7-421DFC62C1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pic>
        <p:nvPicPr>
          <p:cNvPr id="2055" name="Picture 15" descr="C:\Users\zjl\Documents\NatSteel logo.jpg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47663" y="6303963"/>
            <a:ext cx="1430337" cy="51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21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965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288925" indent="-288925" algn="l" rtl="0" eaLnBrk="0" fontAlgn="base" hangingPunct="0">
        <a:spcBef>
          <a:spcPct val="0"/>
        </a:spcBef>
        <a:spcAft>
          <a:spcPct val="6000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80988" algn="l" rtl="0" eaLnBrk="0" fontAlgn="base" hangingPunct="0">
        <a:spcBef>
          <a:spcPct val="0"/>
        </a:spcBef>
        <a:spcAft>
          <a:spcPct val="30000"/>
        </a:spcAft>
        <a:buFont typeface="Arial" charset="0"/>
        <a:buChar char="•"/>
        <a:defRPr>
          <a:solidFill>
            <a:schemeClr val="tx1"/>
          </a:solidFill>
          <a:latin typeface="+mn-lt"/>
          <a:cs typeface="+mn-cs"/>
        </a:defRPr>
      </a:lvl2pPr>
      <a:lvl3pPr marL="838200" indent="-265113" algn="l" rtl="0" eaLnBrk="0" fontAlgn="base" hangingPunct="0">
        <a:spcBef>
          <a:spcPct val="0"/>
        </a:spcBef>
        <a:spcAft>
          <a:spcPct val="30000"/>
        </a:spcAft>
        <a:buSzPct val="90000"/>
        <a:buFont typeface="Arial" charset="0"/>
        <a:buChar char="─"/>
        <a:defRPr sz="1600">
          <a:solidFill>
            <a:schemeClr val="tx1"/>
          </a:solidFill>
          <a:latin typeface="+mn-lt"/>
          <a:cs typeface="+mn-cs"/>
        </a:defRPr>
      </a:lvl3pPr>
      <a:lvl4pPr marL="1020763" indent="-180975" algn="l" rtl="0" eaLnBrk="0" fontAlgn="base" hangingPunct="0">
        <a:spcBef>
          <a:spcPct val="0"/>
        </a:spcBef>
        <a:spcAft>
          <a:spcPct val="30000"/>
        </a:spcAft>
        <a:buSzPct val="90000"/>
        <a:buFont typeface="Arial" charset="0"/>
        <a:buChar char="•"/>
        <a:defRPr sz="1400">
          <a:solidFill>
            <a:schemeClr val="tx1"/>
          </a:solidFill>
          <a:latin typeface="+mn-lt"/>
          <a:cs typeface="+mn-cs"/>
        </a:defRPr>
      </a:lvl4pPr>
      <a:lvl5pPr marL="1327150" indent="-249238" algn="l" rtl="0" eaLnBrk="0" fontAlgn="base" hangingPunct="0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5pPr>
      <a:lvl6pPr marL="17843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6pPr>
      <a:lvl7pPr marL="22415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7pPr>
      <a:lvl8pPr marL="26987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8pPr>
      <a:lvl9pPr marL="3155950" indent="-249238" algn="l" rtl="0" fontAlgn="base">
        <a:spcBef>
          <a:spcPct val="0"/>
        </a:spcBef>
        <a:spcAft>
          <a:spcPct val="65000"/>
        </a:spcAft>
        <a:buChar char="»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notesSlide" Target="../notesSlides/notesSlide1.xml"/><Relationship Id="rId7" Type="http://schemas.openxmlformats.org/officeDocument/2006/relationships/hyperlink" Target="http://www.online-sign.com/build_sign.php?pic=116" TargetMode="Externa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10" Type="http://schemas.openxmlformats.org/officeDocument/2006/relationships/image" Target="../media/image9.gif"/><Relationship Id="rId4" Type="http://schemas.openxmlformats.org/officeDocument/2006/relationships/image" Target="../media/image4.pn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36.png"/><Relationship Id="rId4" Type="http://schemas.openxmlformats.org/officeDocument/2006/relationships/image" Target="../media/image3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 smtClean="0">
                <a:latin typeface="Arial" pitchFamily="34" charset="0"/>
                <a:cs typeface="Arial" pitchFamily="34" charset="0"/>
              </a:rPr>
              <a:t>NatSteel Visitor Safety Briefing</a:t>
            </a:r>
            <a:endParaRPr lang="en-SG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0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433786" cy="6325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Content Placeholder 2"/>
          <p:cNvSpPr>
            <a:spLocks noGrp="1"/>
          </p:cNvSpPr>
          <p:nvPr>
            <p:ph idx="1"/>
          </p:nvPr>
        </p:nvSpPr>
        <p:spPr>
          <a:xfrm>
            <a:off x="0" y="908720"/>
            <a:ext cx="8774113" cy="4437063"/>
          </a:xfrm>
        </p:spPr>
        <p:txBody>
          <a:bodyPr anchor="ctr" anchorCtr="1"/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sz="2600" b="1" dirty="0" smtClean="0"/>
              <a:t>For your own safety: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sz="2600" b="1" dirty="0">
                <a:solidFill>
                  <a:schemeClr val="accent2"/>
                </a:solidFill>
              </a:rPr>
              <a:t>P</a:t>
            </a:r>
            <a:r>
              <a:rPr lang="en-US" sz="2600" b="1" dirty="0" smtClean="0">
                <a:solidFill>
                  <a:schemeClr val="accent2"/>
                </a:solidFill>
              </a:rPr>
              <a:t>lease ensure that you are being escorted by our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sz="2600" b="1" dirty="0" smtClean="0">
                <a:solidFill>
                  <a:schemeClr val="accent2"/>
                </a:solidFill>
              </a:rPr>
              <a:t>employees throughout the duration of your visit.</a:t>
            </a:r>
          </a:p>
        </p:txBody>
      </p:sp>
    </p:spTree>
    <p:extLst>
      <p:ext uri="{BB962C8B-B14F-4D97-AF65-F5344CB8AC3E}">
        <p14:creationId xmlns:p14="http://schemas.microsoft.com/office/powerpoint/2010/main" val="354506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186" name="Picture 2">
            <a:hlinkClick r:id="" action="ppaction://media"/>
          </p:cNvPr>
          <p:cNvPicPr>
            <a:picLocks noRot="1" noChangeAspect="1" noChangeArrowheads="1"/>
          </p:cNvPicPr>
          <p:nvPr>
            <a:wavAudioFile r:embed="rId1" name="MSSN00492A0000[1].wav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6019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19" name="Picture 3" descr="image003"/>
          <p:cNvPicPr>
            <a:picLocks noChangeAspect="1" noChangeArrowheads="1"/>
          </p:cNvPicPr>
          <p:nvPr/>
        </p:nvPicPr>
        <p:blipFill>
          <a:blip r:embed="rId5" cstate="print"/>
          <a:srcRect l="25539" t="14964" r="9776" b="18988"/>
          <a:stretch>
            <a:fillRect/>
          </a:stretch>
        </p:blipFill>
        <p:spPr bwMode="auto">
          <a:xfrm>
            <a:off x="457200" y="979492"/>
            <a:ext cx="7416000" cy="5560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0" name="Picture 4" descr="nsllogo3.gif (5782 bytes)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828800" y="304800"/>
            <a:ext cx="5181600" cy="126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7467600" y="304800"/>
            <a:ext cx="1143000" cy="1143000"/>
            <a:chOff x="4512" y="2784"/>
            <a:chExt cx="912" cy="912"/>
          </a:xfrm>
        </p:grpSpPr>
        <p:pic>
          <p:nvPicPr>
            <p:cNvPr id="60425" name="Picture 6" descr="sign keywords :  1st aid aider ambulance assistance doctors drugs first firstaid green health hospital oxygen tablets white workplace">
              <a:hlinkClick r:id="rId7"/>
            </p:cNvPr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4512" y="2784"/>
              <a:ext cx="912" cy="9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0426" name="AutoShape 7"/>
            <p:cNvSpPr>
              <a:spLocks noChangeArrowheads="1"/>
            </p:cNvSpPr>
            <p:nvPr/>
          </p:nvSpPr>
          <p:spPr bwMode="auto">
            <a:xfrm>
              <a:off x="4512" y="3072"/>
              <a:ext cx="912" cy="336"/>
            </a:xfrm>
            <a:prstGeom prst="flowChartAlternateProcess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1000"/>
                <a:t>SAFETY FIRST</a:t>
              </a:r>
            </a:p>
          </p:txBody>
        </p:sp>
      </p:grpSp>
      <p:pic>
        <p:nvPicPr>
          <p:cNvPr id="60422" name="Picture 8" descr="image004"/>
          <p:cNvPicPr>
            <a:picLocks noChangeAspect="1" noChangeArrowheads="1"/>
          </p:cNvPicPr>
          <p:nvPr/>
        </p:nvPicPr>
        <p:blipFill>
          <a:blip r:embed="rId9" cstate="print"/>
          <a:srcRect l="19991" t="63660" r="44482" b="11580"/>
          <a:stretch>
            <a:fillRect/>
          </a:stretch>
        </p:blipFill>
        <p:spPr bwMode="auto">
          <a:xfrm>
            <a:off x="4648200" y="3352800"/>
            <a:ext cx="3429000" cy="308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3" name="Text Box 9"/>
          <p:cNvSpPr txBox="1">
            <a:spLocks noChangeArrowheads="1"/>
          </p:cNvSpPr>
          <p:nvPr/>
        </p:nvSpPr>
        <p:spPr bwMode="auto">
          <a:xfrm>
            <a:off x="1447800" y="6338888"/>
            <a:ext cx="5715000" cy="3968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/>
              <a:t>Respective Center Assembly Point</a:t>
            </a:r>
          </a:p>
        </p:txBody>
      </p:sp>
      <p:pic>
        <p:nvPicPr>
          <p:cNvPr id="60424" name="Picture 10" descr="MMj03097930000[1]"/>
          <p:cNvPicPr>
            <a:picLocks noChangeAspect="1" noChangeArrowheads="1" noCrop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001000" y="5715000"/>
            <a:ext cx="90487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ounded Rectangular Callout 10"/>
          <p:cNvSpPr/>
          <p:nvPr/>
        </p:nvSpPr>
        <p:spPr bwMode="auto">
          <a:xfrm flipH="1">
            <a:off x="0" y="4343400"/>
            <a:ext cx="1524000" cy="428897"/>
          </a:xfrm>
          <a:prstGeom prst="wedgeRoundRectCallout">
            <a:avLst>
              <a:gd name="adj1" fmla="val -96016"/>
              <a:gd name="adj2" fmla="val 158152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You are here</a:t>
            </a:r>
            <a:endParaRPr kumimoji="0" lang="en-SG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28" fill="hold"/>
                                        <p:tgtEl>
                                          <p:spTgt spid="8611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6118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304800" y="208230"/>
            <a:ext cx="8515672" cy="45267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l"/>
            <a:r>
              <a:rPr lang="en-US" altLang="en-US" sz="2400" dirty="0" smtClean="0">
                <a:solidFill>
                  <a:schemeClr val="bg1"/>
                </a:solidFill>
                <a:latin typeface="Calibri" pitchFamily="34" charset="0"/>
              </a:rPr>
              <a:t>Hazards and Control Measures</a:t>
            </a:r>
            <a:endParaRPr lang="en-SG" altLang="en-US" sz="2400" dirty="0" smtClean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E75D95-6F96-4A7A-89DA-F6B665E9F878}" type="slidenum">
              <a:rPr lang="en-GB" smtClean="0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en-GB">
              <a:solidFill>
                <a:srgbClr val="00000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312144" y="697116"/>
          <a:ext cx="8468298" cy="5631254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199702"/>
                <a:gridCol w="2335576"/>
                <a:gridCol w="3933020"/>
              </a:tblGrid>
              <a:tr h="374050">
                <a:tc>
                  <a:txBody>
                    <a:bodyPr/>
                    <a:lstStyle/>
                    <a:p>
                      <a:r>
                        <a:rPr lang="en-US" dirty="0" smtClean="0"/>
                        <a:t>Hazard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Risk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Control Measures</a:t>
                      </a:r>
                      <a:endParaRPr lang="en-SG" dirty="0"/>
                    </a:p>
                  </a:txBody>
                  <a:tcPr/>
                </a:tc>
              </a:tr>
              <a:tr h="1014548">
                <a:tc>
                  <a:txBody>
                    <a:bodyPr/>
                    <a:lstStyle/>
                    <a:p>
                      <a:r>
                        <a:rPr lang="en-US" dirty="0" smtClean="0"/>
                        <a:t>Lifting Operation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Hit by Falling Object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itchFamily="2" charset="2"/>
                        <a:buChar char="ü"/>
                      </a:pPr>
                      <a:r>
                        <a:rPr lang="en-US" sz="1200" dirty="0" smtClean="0"/>
                        <a:t>Implementation of Lifting Plan</a:t>
                      </a:r>
                    </a:p>
                    <a:p>
                      <a:pPr marL="171450" indent="-171450">
                        <a:buFont typeface="Wingdings" pitchFamily="2" charset="2"/>
                        <a:buChar char="ü"/>
                      </a:pPr>
                      <a:r>
                        <a:rPr lang="en-US" sz="1200" dirty="0" smtClean="0"/>
                        <a:t>Designated Walkways</a:t>
                      </a:r>
                    </a:p>
                    <a:p>
                      <a:pPr marL="171450" indent="-171450">
                        <a:buFont typeface="Wingdings" pitchFamily="2" charset="2"/>
                        <a:buChar char="ü"/>
                      </a:pPr>
                      <a:r>
                        <a:rPr lang="en-US" sz="1200" dirty="0" smtClean="0"/>
                        <a:t>Crane safety Devices</a:t>
                      </a:r>
                    </a:p>
                    <a:p>
                      <a:pPr marL="171450" indent="-171450">
                        <a:buFont typeface="Wingdings" pitchFamily="2" charset="2"/>
                        <a:buChar char="ü"/>
                      </a:pPr>
                      <a:r>
                        <a:rPr lang="en-US" sz="1200" dirty="0" smtClean="0"/>
                        <a:t>Mandatory &amp; Routine Inspections</a:t>
                      </a:r>
                    </a:p>
                    <a:p>
                      <a:pPr marL="171450" indent="-171450">
                        <a:buFont typeface="Wingdings" pitchFamily="2" charset="2"/>
                        <a:buChar char="ü"/>
                      </a:pPr>
                      <a:r>
                        <a:rPr lang="en-US" sz="1200" dirty="0" smtClean="0"/>
                        <a:t>Operator</a:t>
                      </a:r>
                      <a:r>
                        <a:rPr lang="en-US" sz="1200" baseline="0" dirty="0" smtClean="0"/>
                        <a:t> Training</a:t>
                      </a:r>
                      <a:endParaRPr lang="en-SG" sz="1200" dirty="0"/>
                    </a:p>
                  </a:txBody>
                  <a:tcPr/>
                </a:tc>
              </a:tr>
              <a:tr h="1014548">
                <a:tc>
                  <a:txBody>
                    <a:bodyPr/>
                    <a:lstStyle/>
                    <a:p>
                      <a:r>
                        <a:rPr lang="en-US" smtClean="0"/>
                        <a:t>Forklift Operation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Hit by Moving Object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en-US" sz="1200" dirty="0" smtClean="0"/>
                        <a:t>Designated / Elevated Walkways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en-US" sz="1200" dirty="0" smtClean="0"/>
                        <a:t>Demarcated work area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en-US" sz="1200" dirty="0" smtClean="0"/>
                        <a:t>Routine Inspection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en-US" sz="1200" baseline="0" dirty="0" smtClean="0"/>
                        <a:t>Competent Operators</a:t>
                      </a:r>
                      <a:endParaRPr lang="en-US" sz="1200" dirty="0" smtClean="0"/>
                    </a:p>
                    <a:p>
                      <a:pPr marL="171450" indent="-171450">
                        <a:buFont typeface="Wingdings" pitchFamily="2" charset="2"/>
                        <a:buChar char="ü"/>
                      </a:pPr>
                      <a:r>
                        <a:rPr lang="en-US" sz="1200" dirty="0" smtClean="0"/>
                        <a:t>Regular retraining</a:t>
                      </a:r>
                      <a:endParaRPr lang="en-SG" sz="1200" dirty="0"/>
                    </a:p>
                  </a:txBody>
                  <a:tcPr/>
                </a:tc>
              </a:tr>
              <a:tr h="1014548">
                <a:tc>
                  <a:txBody>
                    <a:bodyPr/>
                    <a:lstStyle/>
                    <a:p>
                      <a:r>
                        <a:rPr lang="en-US" dirty="0" smtClean="0"/>
                        <a:t>Heavy Vehicle movement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Hit by Moving Object</a:t>
                      </a:r>
                      <a:endParaRPr lang="en-SG" sz="1400" dirty="0" smtClean="0"/>
                    </a:p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en-US" sz="1200" dirty="0" smtClean="0"/>
                        <a:t>Designated / Elevated Walkways</a:t>
                      </a:r>
                    </a:p>
                    <a:p>
                      <a:pPr marL="171450" indent="-171450">
                        <a:buFont typeface="Wingdings" pitchFamily="2" charset="2"/>
                        <a:buChar char="ü"/>
                      </a:pPr>
                      <a:r>
                        <a:rPr lang="en-US" sz="1200" dirty="0" smtClean="0"/>
                        <a:t>Mandatory &amp; Routine Inspections</a:t>
                      </a:r>
                    </a:p>
                    <a:p>
                      <a:pPr marL="171450" indent="-171450">
                        <a:buFont typeface="Wingdings" pitchFamily="2" charset="2"/>
                        <a:buChar char="ü"/>
                      </a:pPr>
                      <a:r>
                        <a:rPr lang="en-US" sz="1200" dirty="0" smtClean="0"/>
                        <a:t>Competent Class 4&amp;5 drivers</a:t>
                      </a:r>
                    </a:p>
                    <a:p>
                      <a:pPr marL="171450" indent="-171450">
                        <a:buFont typeface="Wingdings" pitchFamily="2" charset="2"/>
                        <a:buChar char="ü"/>
                      </a:pPr>
                      <a:r>
                        <a:rPr lang="en-US" sz="1200" dirty="0" smtClean="0"/>
                        <a:t>Driver Safety Training &amp; Communication</a:t>
                      </a:r>
                    </a:p>
                    <a:p>
                      <a:pPr marL="171450" indent="-171450">
                        <a:buFont typeface="Wingdings" pitchFamily="2" charset="2"/>
                        <a:buChar char="ü"/>
                      </a:pPr>
                      <a:r>
                        <a:rPr lang="en-US" sz="1200" dirty="0" smtClean="0"/>
                        <a:t>Transport Safety Forum (Traffic Police)</a:t>
                      </a:r>
                    </a:p>
                  </a:txBody>
                  <a:tcPr/>
                </a:tc>
              </a:tr>
              <a:tr h="1014548">
                <a:tc>
                  <a:txBody>
                    <a:bodyPr/>
                    <a:lstStyle/>
                    <a:p>
                      <a:r>
                        <a:rPr lang="en-US" dirty="0" smtClean="0"/>
                        <a:t>Furnace Operation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Fire and Explosion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Font typeface="Wingdings" pitchFamily="2" charset="2"/>
                        <a:buChar char="ü"/>
                      </a:pPr>
                      <a:r>
                        <a:rPr lang="en-US" sz="1200" dirty="0" smtClean="0"/>
                        <a:t>Routine Inspections</a:t>
                      </a:r>
                    </a:p>
                    <a:p>
                      <a:pPr marL="228600" indent="-228600">
                        <a:buFont typeface="Wingdings" pitchFamily="2" charset="2"/>
                        <a:buChar char="ü"/>
                      </a:pPr>
                      <a:r>
                        <a:rPr lang="en-US" sz="1200" dirty="0" smtClean="0"/>
                        <a:t>Provision of Fire Fighting Equipment</a:t>
                      </a:r>
                    </a:p>
                    <a:p>
                      <a:pPr marL="228600" indent="-228600">
                        <a:buFont typeface="Wingdings" pitchFamily="2" charset="2"/>
                        <a:buChar char="ü"/>
                      </a:pPr>
                      <a:r>
                        <a:rPr lang="en-US" sz="1200" dirty="0" smtClean="0"/>
                        <a:t>Competent Company</a:t>
                      </a:r>
                      <a:r>
                        <a:rPr lang="en-US" sz="1200" baseline="0" dirty="0" smtClean="0"/>
                        <a:t> Emergency Response Team</a:t>
                      </a:r>
                    </a:p>
                    <a:p>
                      <a:pPr marL="228600" indent="-228600">
                        <a:buFont typeface="Wingdings" pitchFamily="2" charset="2"/>
                        <a:buChar char="ü"/>
                      </a:pPr>
                      <a:r>
                        <a:rPr lang="en-US" sz="1200" baseline="0" dirty="0" smtClean="0"/>
                        <a:t>Installation of Process critical Safety Devices</a:t>
                      </a:r>
                    </a:p>
                    <a:p>
                      <a:pPr marL="228600" indent="-228600">
                        <a:buFont typeface="Wingdings" pitchFamily="2" charset="2"/>
                        <a:buChar char="ü"/>
                      </a:pPr>
                      <a:r>
                        <a:rPr lang="en-US" sz="1200" baseline="0" dirty="0" smtClean="0"/>
                        <a:t>Defining Restricted Work Zone</a:t>
                      </a:r>
                    </a:p>
                  </a:txBody>
                  <a:tcPr/>
                </a:tc>
              </a:tr>
              <a:tr h="1199012">
                <a:tc>
                  <a:txBody>
                    <a:bodyPr/>
                    <a:lstStyle/>
                    <a:p>
                      <a:r>
                        <a:rPr lang="en-US" dirty="0" smtClean="0"/>
                        <a:t>Material Handling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smtClean="0"/>
                        <a:t>Working at Height</a:t>
                      </a:r>
                      <a:endParaRPr lang="en-SG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itchFamily="2" charset="2"/>
                        <a:buChar char="ü"/>
                      </a:pPr>
                      <a:r>
                        <a:rPr lang="en-US" sz="1200" dirty="0" smtClean="0"/>
                        <a:t>Provision of Lifeline and Anchor Points</a:t>
                      </a:r>
                    </a:p>
                    <a:p>
                      <a:pPr marL="171450" indent="-171450">
                        <a:buFont typeface="Wingdings" pitchFamily="2" charset="2"/>
                        <a:buChar char="ü"/>
                      </a:pPr>
                      <a:r>
                        <a:rPr lang="en-US" sz="1200" dirty="0" smtClean="0"/>
                        <a:t>Mandatory Training on Work</a:t>
                      </a:r>
                      <a:r>
                        <a:rPr lang="en-US" sz="1200" baseline="0" dirty="0" smtClean="0"/>
                        <a:t> at Height</a:t>
                      </a:r>
                    </a:p>
                    <a:p>
                      <a:pPr marL="171450" indent="-171450">
                        <a:buFont typeface="Wingdings" pitchFamily="2" charset="2"/>
                        <a:buChar char="ü"/>
                      </a:pPr>
                      <a:r>
                        <a:rPr lang="en-US" sz="1200" baseline="0" dirty="0" smtClean="0"/>
                        <a:t>Provision of Work at Height Personal Protective Equipments</a:t>
                      </a:r>
                    </a:p>
                    <a:p>
                      <a:pPr marL="171450" indent="-171450">
                        <a:buFont typeface="Wingdings" pitchFamily="2" charset="2"/>
                        <a:buChar char="ü"/>
                      </a:pPr>
                      <a:r>
                        <a:rPr lang="en-US" sz="1200" baseline="0" dirty="0" smtClean="0"/>
                        <a:t>Provision and Usage of Movable step Platforms</a:t>
                      </a:r>
                    </a:p>
                    <a:p>
                      <a:pPr marL="171450" indent="-171450">
                        <a:buFont typeface="Wingdings" pitchFamily="2" charset="2"/>
                        <a:buChar char="ü"/>
                      </a:pPr>
                      <a:r>
                        <a:rPr lang="en-US" sz="1200" baseline="0" dirty="0" smtClean="0"/>
                        <a:t>Usage of Boom lifts/Scissors lifts</a:t>
                      </a:r>
                      <a:endParaRPr lang="en-US" sz="1200" dirty="0" smtClean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6673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2" name="Picture 4" descr="P1070437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910430" y="4384713"/>
            <a:ext cx="5687616" cy="221008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  <p:sp>
        <p:nvSpPr>
          <p:cNvPr id="32773" name="Rectangle 5"/>
          <p:cNvSpPr>
            <a:spLocks noGrp="1" noChangeArrowheads="1"/>
          </p:cNvSpPr>
          <p:nvPr>
            <p:ph type="title"/>
          </p:nvPr>
        </p:nvSpPr>
        <p:spPr>
          <a:xfrm>
            <a:off x="1187624" y="192633"/>
            <a:ext cx="6480720" cy="500063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Use Safe Walkways &amp; Pedestrian Crossings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152400" y="1052736"/>
            <a:ext cx="2895600" cy="3189550"/>
            <a:chOff x="152400" y="1600200"/>
            <a:chExt cx="2743200" cy="2734587"/>
          </a:xfrm>
        </p:grpSpPr>
        <p:grpSp>
          <p:nvGrpSpPr>
            <p:cNvPr id="3" name="Group 15"/>
            <p:cNvGrpSpPr>
              <a:grpSpLocks/>
            </p:cNvGrpSpPr>
            <p:nvPr/>
          </p:nvGrpSpPr>
          <p:grpSpPr bwMode="auto">
            <a:xfrm>
              <a:off x="152400" y="1600200"/>
              <a:ext cx="2743200" cy="2286000"/>
              <a:chOff x="6248400" y="2286000"/>
              <a:chExt cx="2667000" cy="2018270"/>
            </a:xfrm>
          </p:grpSpPr>
          <p:pic>
            <p:nvPicPr>
              <p:cNvPr id="23" name="Picture 9"/>
              <p:cNvPicPr>
                <a:picLocks noChangeAspect="1" noChangeArrowheads="1"/>
              </p:cNvPicPr>
              <p:nvPr/>
            </p:nvPicPr>
            <p:blipFill>
              <a:blip r:embed="rId3" cstate="email">
                <a:lum contrast="10000"/>
              </a:blip>
              <a:srcRect/>
              <a:stretch>
                <a:fillRect/>
              </a:stretch>
            </p:blipFill>
            <p:spPr bwMode="auto">
              <a:xfrm>
                <a:off x="6248400" y="2286000"/>
                <a:ext cx="2667000" cy="201827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</p:pic>
          <p:pic>
            <p:nvPicPr>
              <p:cNvPr id="24" name="Picture 11" descr="cid:image001.png@01CD5864.EE12DD40"/>
              <p:cNvPicPr>
                <a:picLocks noChangeAspect="1" noChangeArrowheads="1"/>
              </p:cNvPicPr>
              <p:nvPr/>
            </p:nvPicPr>
            <p:blipFill>
              <a:blip r:embed="rId4" cstate="email">
                <a:lum contrast="10000"/>
              </a:blip>
              <a:srcRect/>
              <a:stretch>
                <a:fillRect/>
              </a:stretch>
            </p:blipFill>
            <p:spPr bwMode="auto">
              <a:xfrm>
                <a:off x="7581900" y="2362200"/>
                <a:ext cx="1257300" cy="476250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</p:spPr>
          </p:pic>
        </p:grpSp>
        <p:sp>
          <p:nvSpPr>
            <p:cNvPr id="22" name="TextBox 21"/>
            <p:cNvSpPr txBox="1"/>
            <p:nvPr/>
          </p:nvSpPr>
          <p:spPr>
            <a:xfrm>
              <a:off x="152400" y="3886200"/>
              <a:ext cx="2743200" cy="44858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dirty="0">
                  <a:solidFill>
                    <a:schemeClr val="tx2">
                      <a:lumMod val="75000"/>
                    </a:schemeClr>
                  </a:solidFill>
                  <a:latin typeface="+mj-lt"/>
                  <a:cs typeface="Arial" charset="0"/>
                </a:rPr>
                <a:t>To be used by visitors</a:t>
              </a:r>
            </a:p>
            <a:p>
              <a:pPr algn="ctr">
                <a:defRPr/>
              </a:pPr>
              <a:endParaRPr lang="en-US" sz="1400" dirty="0">
                <a:ln>
                  <a:solidFill>
                    <a:sysClr val="windowText" lastClr="000000"/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  <a:cs typeface="Arial" charset="0"/>
              </a:endParaRPr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3048000" y="1052736"/>
            <a:ext cx="2895600" cy="3189550"/>
            <a:chOff x="3124200" y="1600200"/>
            <a:chExt cx="2743200" cy="2919300"/>
          </a:xfrm>
        </p:grpSpPr>
        <p:grpSp>
          <p:nvGrpSpPr>
            <p:cNvPr id="5" name="Group 16"/>
            <p:cNvGrpSpPr>
              <a:grpSpLocks/>
            </p:cNvGrpSpPr>
            <p:nvPr/>
          </p:nvGrpSpPr>
          <p:grpSpPr bwMode="auto">
            <a:xfrm>
              <a:off x="3124200" y="1600200"/>
              <a:ext cx="2743200" cy="2286000"/>
              <a:chOff x="3247611" y="2286000"/>
              <a:chExt cx="2695989" cy="2000250"/>
            </a:xfrm>
          </p:grpSpPr>
          <p:pic>
            <p:nvPicPr>
              <p:cNvPr id="28" name="Picture 132" descr="image004"/>
              <p:cNvPicPr>
                <a:picLocks noChangeAspect="1" noChangeArrowheads="1"/>
              </p:cNvPicPr>
              <p:nvPr/>
            </p:nvPicPr>
            <p:blipFill>
              <a:blip r:embed="rId5" cstate="email">
                <a:lum contrast="10000"/>
              </a:blip>
              <a:srcRect/>
              <a:stretch>
                <a:fillRect/>
              </a:stretch>
            </p:blipFill>
            <p:spPr bwMode="auto">
              <a:xfrm>
                <a:off x="3247611" y="2286000"/>
                <a:ext cx="2695989" cy="20002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</p:pic>
          <p:pic>
            <p:nvPicPr>
              <p:cNvPr id="29" name="Picture 12" descr="cid:image003.jpg@01CD586A.5F5B5090"/>
              <p:cNvPicPr>
                <a:picLocks noChangeAspect="1" noChangeArrowheads="1"/>
              </p:cNvPicPr>
              <p:nvPr/>
            </p:nvPicPr>
            <p:blipFill>
              <a:blip r:embed="rId6" cstate="email">
                <a:lum contrast="10000"/>
              </a:blip>
              <a:srcRect/>
              <a:stretch>
                <a:fillRect/>
              </a:stretch>
            </p:blipFill>
            <p:spPr bwMode="auto">
              <a:xfrm>
                <a:off x="4648200" y="2362200"/>
                <a:ext cx="1228725" cy="457200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</p:spPr>
          </p:pic>
        </p:grpSp>
        <p:sp>
          <p:nvSpPr>
            <p:cNvPr id="27" name="TextBox 26"/>
            <p:cNvSpPr txBox="1"/>
            <p:nvPr/>
          </p:nvSpPr>
          <p:spPr>
            <a:xfrm>
              <a:off x="3124200" y="3886200"/>
              <a:ext cx="2743200" cy="6333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dirty="0">
                  <a:solidFill>
                    <a:schemeClr val="tx2">
                      <a:lumMod val="75000"/>
                    </a:schemeClr>
                  </a:solidFill>
                  <a:latin typeface="+mj-lt"/>
                  <a:cs typeface="Arial" charset="0"/>
                </a:rPr>
                <a:t>For use by operators/internal staff</a:t>
              </a:r>
            </a:p>
            <a:p>
              <a:pPr algn="ctr">
                <a:defRPr/>
              </a:pPr>
              <a:endParaRPr lang="en-US" sz="1400" dirty="0">
                <a:ln>
                  <a:solidFill>
                    <a:sysClr val="windowText" lastClr="000000"/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  <a:cs typeface="Arial" charset="0"/>
              </a:endParaRPr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6012160" y="1052736"/>
            <a:ext cx="3055937" cy="3189550"/>
            <a:chOff x="6096000" y="1600200"/>
            <a:chExt cx="2895600" cy="2734587"/>
          </a:xfrm>
        </p:grpSpPr>
        <p:grpSp>
          <p:nvGrpSpPr>
            <p:cNvPr id="7" name="Group 17"/>
            <p:cNvGrpSpPr>
              <a:grpSpLocks/>
            </p:cNvGrpSpPr>
            <p:nvPr/>
          </p:nvGrpSpPr>
          <p:grpSpPr bwMode="auto">
            <a:xfrm>
              <a:off x="6096000" y="1600200"/>
              <a:ext cx="2895600" cy="2286000"/>
              <a:chOff x="152400" y="1905000"/>
              <a:chExt cx="2683925" cy="2012944"/>
            </a:xfrm>
          </p:grpSpPr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7" cstate="email">
                <a:lum contrast="20000"/>
              </a:blip>
              <a:stretch>
                <a:fillRect/>
              </a:stretch>
            </p:blipFill>
            <p:spPr>
              <a:xfrm>
                <a:off x="152400" y="1905000"/>
                <a:ext cx="2683925" cy="201345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9525" cap="sq">
                <a:solidFill>
                  <a:schemeClr val="tx1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</p:spPr>
          </p:pic>
          <p:pic>
            <p:nvPicPr>
              <p:cNvPr id="34" name="Picture 13" descr="cid:image007.jpg@01CD586A.5F5B5090"/>
              <p:cNvPicPr>
                <a:picLocks noChangeAspect="1" noChangeArrowheads="1"/>
              </p:cNvPicPr>
              <p:nvPr/>
            </p:nvPicPr>
            <p:blipFill>
              <a:blip r:embed="rId8" cstate="email"/>
              <a:srcRect/>
              <a:stretch>
                <a:fillRect/>
              </a:stretch>
            </p:blipFill>
            <p:spPr bwMode="auto">
              <a:xfrm>
                <a:off x="1524000" y="1981200"/>
                <a:ext cx="1209675" cy="533400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</p:spPr>
          </p:pic>
        </p:grpSp>
        <p:sp>
          <p:nvSpPr>
            <p:cNvPr id="32" name="TextBox 31"/>
            <p:cNvSpPr txBox="1"/>
            <p:nvPr/>
          </p:nvSpPr>
          <p:spPr>
            <a:xfrm>
              <a:off x="6096000" y="3886200"/>
              <a:ext cx="2895600" cy="44858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dirty="0">
                  <a:solidFill>
                    <a:schemeClr val="tx2">
                      <a:lumMod val="75000"/>
                    </a:schemeClr>
                  </a:solidFill>
                  <a:latin typeface="+mj-lt"/>
                  <a:cs typeface="Arial" charset="0"/>
                </a:rPr>
                <a:t>For locations where vehicle pathways intersect with walkways</a:t>
              </a:r>
              <a:endParaRPr lang="en-US" sz="1400" dirty="0">
                <a:ln>
                  <a:solidFill>
                    <a:sysClr val="windowText" lastClr="000000"/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  <a:cs typeface="Arial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8774113" cy="1861851"/>
          </a:xfrm>
        </p:spPr>
        <p:txBody>
          <a:bodyPr anchor="ctr" anchorCtr="1"/>
          <a:lstStyle/>
          <a:p>
            <a:pPr>
              <a:buFont typeface="Wingdings" pitchFamily="2" charset="2"/>
              <a:buNone/>
            </a:pPr>
            <a:r>
              <a:rPr lang="en-US" sz="2600" b="1" dirty="0" smtClean="0"/>
              <a:t>Important Reminder: </a:t>
            </a:r>
          </a:p>
          <a:p>
            <a:pPr>
              <a:buFont typeface="Wingdings" pitchFamily="2" charset="2"/>
              <a:buNone/>
            </a:pPr>
            <a:r>
              <a:rPr lang="en-US" sz="2600" b="1" dirty="0" smtClean="0"/>
              <a:t>ALL</a:t>
            </a:r>
            <a:r>
              <a:rPr lang="en-US" sz="2600" b="1" dirty="0" smtClean="0">
                <a:solidFill>
                  <a:srgbClr val="CCFF33"/>
                </a:solidFill>
              </a:rPr>
              <a:t> </a:t>
            </a:r>
            <a:r>
              <a:rPr lang="en-US" sz="2600" b="1" dirty="0" smtClean="0">
                <a:solidFill>
                  <a:schemeClr val="accent2"/>
                </a:solidFill>
              </a:rPr>
              <a:t>Visitors are required to hold onto hand-rails while using stairs</a:t>
            </a:r>
            <a:endParaRPr lang="en-US" sz="2600" dirty="0" smtClean="0">
              <a:solidFill>
                <a:schemeClr val="accent2"/>
              </a:solidFill>
            </a:endParaRPr>
          </a:p>
        </p:txBody>
      </p:sp>
      <p:pic>
        <p:nvPicPr>
          <p:cNvPr id="22530" name="Picture 6"/>
          <p:cNvPicPr>
            <a:picLocks noChangeAspect="1" noChangeArrowheads="1"/>
          </p:cNvPicPr>
          <p:nvPr/>
        </p:nvPicPr>
        <p:blipFill>
          <a:blip r:embed="rId2" cstate="email"/>
          <a:srcRect l="12833" r="14125"/>
          <a:stretch>
            <a:fillRect/>
          </a:stretch>
        </p:blipFill>
        <p:spPr bwMode="auto">
          <a:xfrm>
            <a:off x="2662409" y="1972019"/>
            <a:ext cx="3485002" cy="4505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639" y="110170"/>
            <a:ext cx="8774113" cy="178473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/>
          <a:p>
            <a:pPr>
              <a:buFont typeface="Wingdings" pitchFamily="2" charset="2"/>
              <a:buNone/>
            </a:pPr>
            <a:endParaRPr lang="en-US" sz="2600" b="1" dirty="0" smtClean="0"/>
          </a:p>
          <a:p>
            <a:pPr>
              <a:buFont typeface="Wingdings" pitchFamily="2" charset="2"/>
              <a:buNone/>
            </a:pPr>
            <a:r>
              <a:rPr lang="en-US" sz="2600" b="1" dirty="0" smtClean="0"/>
              <a:t>Important </a:t>
            </a:r>
            <a:r>
              <a:rPr lang="en-US" sz="2600" b="1" dirty="0"/>
              <a:t>Reminder: </a:t>
            </a:r>
          </a:p>
          <a:p>
            <a:pPr>
              <a:buFont typeface="Wingdings" pitchFamily="2" charset="2"/>
              <a:buNone/>
            </a:pPr>
            <a:r>
              <a:rPr lang="en-US" sz="2600" b="1" dirty="0"/>
              <a:t>ALL </a:t>
            </a:r>
            <a:r>
              <a:rPr lang="en-US" sz="2600" b="1" dirty="0">
                <a:solidFill>
                  <a:schemeClr val="accent2"/>
                </a:solidFill>
              </a:rPr>
              <a:t>Visitors are </a:t>
            </a:r>
            <a:r>
              <a:rPr lang="en-US" sz="2600" b="1" dirty="0" smtClean="0">
                <a:solidFill>
                  <a:schemeClr val="accent2"/>
                </a:solidFill>
              </a:rPr>
              <a:t>advised not to use mobile phones during the plant visit, designated mobile stations are available in the Factory </a:t>
            </a:r>
            <a:endParaRPr lang="en-US" sz="2600" b="1" dirty="0"/>
          </a:p>
          <a:p>
            <a:pPr>
              <a:buFont typeface="Wingdings" pitchFamily="2" charset="2"/>
              <a:buNone/>
            </a:pPr>
            <a:endParaRPr lang="en-US" sz="2600" b="1" dirty="0"/>
          </a:p>
        </p:txBody>
      </p:sp>
      <p:pic>
        <p:nvPicPr>
          <p:cNvPr id="21506" name="Picture 12" descr="sign keywords :  anti call calls camera cell contact flashing not phone phones photograph private prohibited red telephone telephones vide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66324" y="2184878"/>
            <a:ext cx="3962534" cy="3962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8774113" cy="1947920"/>
          </a:xfrm>
        </p:spPr>
        <p:txBody>
          <a:bodyPr anchor="ctr" anchorCtr="1"/>
          <a:lstStyle/>
          <a:p>
            <a:pPr>
              <a:buFont typeface="Wingdings" pitchFamily="2" charset="2"/>
              <a:buNone/>
            </a:pPr>
            <a:r>
              <a:rPr lang="en-US" sz="2600" b="1" dirty="0" smtClean="0"/>
              <a:t>No Camera Please: </a:t>
            </a:r>
          </a:p>
          <a:p>
            <a:pPr>
              <a:buFont typeface="Wingdings" pitchFamily="2" charset="2"/>
              <a:buNone/>
            </a:pPr>
            <a:r>
              <a:rPr lang="en-US" sz="2600" b="1" dirty="0" smtClean="0">
                <a:solidFill>
                  <a:schemeClr val="accent2"/>
                </a:solidFill>
              </a:rPr>
              <a:t>Visitors are </a:t>
            </a:r>
            <a:r>
              <a:rPr lang="en-US" sz="2600" b="1" dirty="0" smtClean="0"/>
              <a:t>not allowed </a:t>
            </a:r>
            <a:r>
              <a:rPr lang="en-US" sz="2600" b="1" dirty="0" smtClean="0">
                <a:solidFill>
                  <a:schemeClr val="accent2"/>
                </a:solidFill>
              </a:rPr>
              <a:t>to take photos during the</a:t>
            </a:r>
          </a:p>
          <a:p>
            <a:pPr>
              <a:buFont typeface="Wingdings" pitchFamily="2" charset="2"/>
              <a:buNone/>
            </a:pPr>
            <a:r>
              <a:rPr lang="en-US" sz="2600" b="1" dirty="0" smtClean="0">
                <a:solidFill>
                  <a:schemeClr val="accent2"/>
                </a:solidFill>
              </a:rPr>
              <a:t>plant tour</a:t>
            </a:r>
          </a:p>
        </p:txBody>
      </p:sp>
      <p:pic>
        <p:nvPicPr>
          <p:cNvPr id="23554" name="Picture 12" descr="sign keywords :  anti army camera not photograph photography private red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2244344" y="1920340"/>
            <a:ext cx="4277642" cy="4277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8943975" cy="1976016"/>
          </a:xfrm>
        </p:spPr>
        <p:txBody>
          <a:bodyPr anchor="ctr" anchorCtr="1"/>
          <a:lstStyle/>
          <a:p>
            <a:pPr>
              <a:buFont typeface="Wingdings" pitchFamily="2" charset="2"/>
              <a:buNone/>
            </a:pPr>
            <a:r>
              <a:rPr lang="en-US" sz="2600" b="1" dirty="0" smtClean="0"/>
              <a:t>No smoking: </a:t>
            </a:r>
          </a:p>
          <a:p>
            <a:pPr>
              <a:buFont typeface="Wingdings" pitchFamily="2" charset="2"/>
              <a:buNone/>
            </a:pPr>
            <a:r>
              <a:rPr lang="en-US" sz="2600" b="1" dirty="0" smtClean="0"/>
              <a:t>Smoking is strictly prohibited </a:t>
            </a:r>
            <a:r>
              <a:rPr lang="en-US" sz="2600" b="1" dirty="0">
                <a:solidFill>
                  <a:schemeClr val="accent2"/>
                </a:solidFill>
              </a:rPr>
              <a:t>at the </a:t>
            </a:r>
            <a:r>
              <a:rPr lang="en-US" sz="2600" b="1" dirty="0" smtClean="0">
                <a:solidFill>
                  <a:schemeClr val="accent2"/>
                </a:solidFill>
              </a:rPr>
              <a:t>workplace</a:t>
            </a:r>
          </a:p>
          <a:p>
            <a:pPr>
              <a:buFont typeface="Wingdings" pitchFamily="2" charset="2"/>
              <a:buNone/>
            </a:pPr>
            <a:r>
              <a:rPr lang="en-US" sz="2600" b="1" dirty="0" smtClean="0">
                <a:solidFill>
                  <a:schemeClr val="accent2"/>
                </a:solidFill>
              </a:rPr>
              <a:t>Smoke</a:t>
            </a:r>
            <a:r>
              <a:rPr lang="en-US" sz="2600" b="1" dirty="0" smtClean="0"/>
              <a:t> only </a:t>
            </a:r>
            <a:r>
              <a:rPr lang="en-US" sz="2600" b="1" dirty="0" smtClean="0">
                <a:solidFill>
                  <a:schemeClr val="accent2"/>
                </a:solidFill>
              </a:rPr>
              <a:t>at designated locations</a:t>
            </a:r>
          </a:p>
        </p:txBody>
      </p:sp>
      <p:pic>
        <p:nvPicPr>
          <p:cNvPr id="24578" name="Picture 5"/>
          <p:cNvPicPr>
            <a:picLocks noChangeAspect="1" noChangeArrowheads="1"/>
          </p:cNvPicPr>
          <p:nvPr/>
        </p:nvPicPr>
        <p:blipFill rotWithShape="1">
          <a:blip r:embed="rId2" cstate="email"/>
          <a:srcRect t="3128" r="3444" b="3345"/>
          <a:stretch/>
        </p:blipFill>
        <p:spPr bwMode="auto">
          <a:xfrm>
            <a:off x="2363807" y="2093205"/>
            <a:ext cx="4532752" cy="4387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209320"/>
            <a:ext cx="8891588" cy="1285875"/>
          </a:xfrm>
        </p:spPr>
        <p:txBody>
          <a:bodyPr anchorCtr="1"/>
          <a:lstStyle/>
          <a:p>
            <a:pPr marL="0" indent="0">
              <a:buFont typeface="Wingdings" pitchFamily="2" charset="2"/>
              <a:buNone/>
            </a:pPr>
            <a:r>
              <a:rPr lang="en-US" sz="2600" b="1" dirty="0" smtClean="0">
                <a:solidFill>
                  <a:schemeClr val="accent2"/>
                </a:solidFill>
              </a:rPr>
              <a:t>Please comply with our  </a:t>
            </a:r>
            <a:r>
              <a:rPr lang="en-US" sz="2600" b="1" dirty="0" smtClean="0"/>
              <a:t>Personal Protective Equipment </a:t>
            </a:r>
            <a:r>
              <a:rPr lang="en-US" sz="2600" b="1" dirty="0" smtClean="0">
                <a:solidFill>
                  <a:schemeClr val="accent2"/>
                </a:solidFill>
              </a:rPr>
              <a:t>(PPE) Requirement</a:t>
            </a:r>
          </a:p>
        </p:txBody>
      </p:sp>
      <p:pic>
        <p:nvPicPr>
          <p:cNvPr id="25602" name="Picture 13" descr="free printable hard hat area  sign 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878757" y="1471422"/>
            <a:ext cx="12382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3" name="Picture 15" descr="free printable eye protection must be worn  sign 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4641007" y="1511109"/>
            <a:ext cx="12382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4" name="Picture 17" descr="free printable protective footwear must be worn  sign 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6079282" y="1511109"/>
            <a:ext cx="12382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5" name="Picture 21" descr="free printable wear ear protectors  sign "/>
          <p:cNvPicPr>
            <a:picLocks noChangeAspect="1" noChangeArrowheads="1"/>
          </p:cNvPicPr>
          <p:nvPr/>
        </p:nvPicPr>
        <p:blipFill>
          <a:blip r:embed="rId5" cstate="email"/>
          <a:srcRect/>
          <a:stretch>
            <a:fillRect/>
          </a:stretch>
        </p:blipFill>
        <p:spPr bwMode="auto">
          <a:xfrm>
            <a:off x="3231307" y="1484122"/>
            <a:ext cx="12382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6" name="Picture 23" descr="free printable safety gloves must be worn  sign "/>
          <p:cNvPicPr>
            <a:picLocks noChangeAspect="1" noChangeArrowheads="1"/>
          </p:cNvPicPr>
          <p:nvPr/>
        </p:nvPicPr>
        <p:blipFill>
          <a:blip r:embed="rId6" cstate="email"/>
          <a:srcRect/>
          <a:stretch>
            <a:fillRect/>
          </a:stretch>
        </p:blipFill>
        <p:spPr bwMode="auto">
          <a:xfrm>
            <a:off x="2663825" y="4443413"/>
            <a:ext cx="12382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7" name="Picture 25" descr="free printable safety harness must be worn  sign "/>
          <p:cNvPicPr>
            <a:picLocks noChangeAspect="1" noChangeArrowheads="1"/>
          </p:cNvPicPr>
          <p:nvPr/>
        </p:nvPicPr>
        <p:blipFill>
          <a:blip r:embed="rId7" cstate="email"/>
          <a:srcRect/>
          <a:stretch>
            <a:fillRect/>
          </a:stretch>
        </p:blipFill>
        <p:spPr bwMode="auto">
          <a:xfrm>
            <a:off x="4051300" y="4443413"/>
            <a:ext cx="12382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8" name="Picture 27" descr="free printable high visability jacket must be worn   sign "/>
          <p:cNvPicPr>
            <a:picLocks noChangeAspect="1" noChangeArrowheads="1"/>
          </p:cNvPicPr>
          <p:nvPr/>
        </p:nvPicPr>
        <p:blipFill>
          <a:blip r:embed="rId8" cstate="email"/>
          <a:srcRect/>
          <a:stretch>
            <a:fillRect/>
          </a:stretch>
        </p:blipFill>
        <p:spPr bwMode="auto">
          <a:xfrm>
            <a:off x="6802438" y="4443413"/>
            <a:ext cx="12382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9" name="Picture 29" descr="free printable respirators must be worn  sign "/>
          <p:cNvPicPr>
            <a:picLocks noChangeAspect="1" noChangeArrowheads="1"/>
          </p:cNvPicPr>
          <p:nvPr/>
        </p:nvPicPr>
        <p:blipFill>
          <a:blip r:embed="rId9" cstate="email"/>
          <a:srcRect/>
          <a:stretch>
            <a:fillRect/>
          </a:stretch>
        </p:blipFill>
        <p:spPr bwMode="auto">
          <a:xfrm>
            <a:off x="5426075" y="4443413"/>
            <a:ext cx="12382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10" name="Picture 31" descr="free printable wear face mask  sign "/>
          <p:cNvPicPr>
            <a:picLocks noChangeAspect="1" noChangeArrowheads="1"/>
          </p:cNvPicPr>
          <p:nvPr/>
        </p:nvPicPr>
        <p:blipFill>
          <a:blip r:embed="rId10" cstate="email"/>
          <a:srcRect/>
          <a:stretch>
            <a:fillRect/>
          </a:stretch>
        </p:blipFill>
        <p:spPr bwMode="auto">
          <a:xfrm>
            <a:off x="1259632" y="4443413"/>
            <a:ext cx="12382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2549784" y="1104308"/>
            <a:ext cx="4275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Basic Personal Protective Equipment</a:t>
            </a:r>
            <a:endParaRPr lang="en-SG" dirty="0"/>
          </a:p>
        </p:txBody>
      </p:sp>
      <p:sp>
        <p:nvSpPr>
          <p:cNvPr id="15" name="TextBox 14"/>
          <p:cNvSpPr txBox="1"/>
          <p:nvPr/>
        </p:nvSpPr>
        <p:spPr>
          <a:xfrm>
            <a:off x="1913535" y="3834655"/>
            <a:ext cx="550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Work Related Personal Protective Equipment</a:t>
            </a:r>
            <a:endParaRPr lang="en-S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Personal Protective Equipment (PP</a:t>
            </a:r>
            <a:r>
              <a:rPr lang="en-US" altLang="zh-CN" dirty="0" smtClean="0">
                <a:solidFill>
                  <a:schemeClr val="bg1"/>
                </a:solidFill>
              </a:rPr>
              <a:t>E</a:t>
            </a:r>
            <a:r>
              <a:rPr lang="zh-CN" altLang="en-US" dirty="0" smtClean="0">
                <a:solidFill>
                  <a:schemeClr val="bg1"/>
                </a:solidFill>
              </a:rPr>
              <a:t>）</a:t>
            </a:r>
            <a:r>
              <a:rPr lang="en-US" altLang="zh-CN" dirty="0" smtClean="0">
                <a:solidFill>
                  <a:schemeClr val="bg1"/>
                </a:solidFill>
              </a:rPr>
              <a:t/>
            </a:r>
            <a:br>
              <a:rPr lang="en-US" altLang="zh-CN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endParaRPr lang="en-US" dirty="0" smtClean="0">
              <a:solidFill>
                <a:schemeClr val="bg1"/>
              </a:solidFill>
            </a:endParaRPr>
          </a:p>
        </p:txBody>
      </p:sp>
      <p:pic>
        <p:nvPicPr>
          <p:cNvPr id="26626" name="Picture 6" descr="SafetyBriefing1 001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34289" y="298929"/>
            <a:ext cx="9052559" cy="5353050"/>
          </a:xfrm>
          <a:prstGeom prst="rect">
            <a:avLst/>
          </a:prstGeom>
          <a:noFill/>
          <a:ln w="25400">
            <a:solidFill>
              <a:srgbClr val="FFCC00"/>
            </a:solidFill>
            <a:miter lim="800000"/>
            <a:headEnd/>
            <a:tailEnd/>
          </a:ln>
        </p:spPr>
      </p:pic>
      <p:sp>
        <p:nvSpPr>
          <p:cNvPr id="26627" name="Rectangle 7"/>
          <p:cNvSpPr>
            <a:spLocks noChangeArrowheads="1"/>
          </p:cNvSpPr>
          <p:nvPr/>
        </p:nvSpPr>
        <p:spPr bwMode="auto">
          <a:xfrm>
            <a:off x="4572000" y="319655"/>
            <a:ext cx="441198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chemeClr val="bg1"/>
                </a:solidFill>
                <a:ea typeface="MS PGothic" pitchFamily="34" charset="-128"/>
              </a:rPr>
              <a:t>Please wear </a:t>
            </a:r>
            <a:r>
              <a:rPr lang="zh-CN" altLang="en-US" sz="2400" b="0" dirty="0">
                <a:solidFill>
                  <a:schemeClr val="bg1"/>
                </a:solidFill>
                <a:ea typeface="MS PGothic" pitchFamily="34" charset="-128"/>
              </a:rPr>
              <a:t> </a:t>
            </a:r>
            <a:endParaRPr lang="en-US" altLang="zh-CN" sz="2400" b="0" dirty="0">
              <a:solidFill>
                <a:schemeClr val="bg1"/>
              </a:solidFill>
              <a:ea typeface="MS PGothic" pitchFamily="34" charset="-128"/>
            </a:endParaRPr>
          </a:p>
          <a:p>
            <a:r>
              <a:rPr lang="en-US" sz="2400" b="0" dirty="0">
                <a:solidFill>
                  <a:schemeClr val="bg1"/>
                </a:solidFill>
                <a:ea typeface="MS PGothic" pitchFamily="34" charset="-128"/>
              </a:rPr>
              <a:t>1) </a:t>
            </a:r>
            <a:r>
              <a:rPr lang="en-US" sz="2400" i="1" dirty="0">
                <a:solidFill>
                  <a:schemeClr val="bg1"/>
                </a:solidFill>
                <a:ea typeface="MS PGothic" pitchFamily="34" charset="-128"/>
              </a:rPr>
              <a:t>Safety </a:t>
            </a:r>
            <a:r>
              <a:rPr lang="en-US" sz="2400" i="1" dirty="0" smtClean="0">
                <a:solidFill>
                  <a:schemeClr val="bg1"/>
                </a:solidFill>
                <a:ea typeface="MS PGothic" pitchFamily="34" charset="-128"/>
              </a:rPr>
              <a:t>Helmet</a:t>
            </a:r>
            <a:r>
              <a:rPr lang="zh-CN" altLang="en-US" sz="2400" b="0" dirty="0" smtClean="0">
                <a:solidFill>
                  <a:schemeClr val="bg1"/>
                </a:solidFill>
                <a:ea typeface="MS PGothic" pitchFamily="34" charset="-128"/>
              </a:rPr>
              <a:t> </a:t>
            </a:r>
            <a:endParaRPr lang="en-US" sz="2400" b="0" dirty="0">
              <a:solidFill>
                <a:schemeClr val="bg1"/>
              </a:solidFill>
              <a:ea typeface="MS PGothic" pitchFamily="34" charset="-128"/>
            </a:endParaRPr>
          </a:p>
          <a:p>
            <a:r>
              <a:rPr lang="en-US" sz="2400" b="0" dirty="0">
                <a:solidFill>
                  <a:schemeClr val="bg1"/>
                </a:solidFill>
                <a:ea typeface="MS PGothic" pitchFamily="34" charset="-128"/>
              </a:rPr>
              <a:t>2) </a:t>
            </a:r>
            <a:r>
              <a:rPr lang="en-US" sz="2400" i="1" dirty="0">
                <a:solidFill>
                  <a:schemeClr val="bg1"/>
                </a:solidFill>
                <a:ea typeface="MS PGothic" pitchFamily="34" charset="-128"/>
              </a:rPr>
              <a:t>Safety </a:t>
            </a:r>
            <a:r>
              <a:rPr lang="en-US" sz="2400" i="1" dirty="0" smtClean="0">
                <a:solidFill>
                  <a:schemeClr val="bg1"/>
                </a:solidFill>
                <a:ea typeface="MS PGothic" pitchFamily="34" charset="-128"/>
              </a:rPr>
              <a:t>Glasses</a:t>
            </a:r>
            <a:endParaRPr lang="en-US" sz="2400" b="0" dirty="0">
              <a:solidFill>
                <a:schemeClr val="bg1"/>
              </a:solidFill>
              <a:ea typeface="MS PGothic" pitchFamily="34" charset="-128"/>
            </a:endParaRPr>
          </a:p>
          <a:p>
            <a:r>
              <a:rPr lang="en-US" sz="2400" b="0" dirty="0">
                <a:solidFill>
                  <a:schemeClr val="bg1"/>
                </a:solidFill>
                <a:ea typeface="MS PGothic" pitchFamily="34" charset="-128"/>
              </a:rPr>
              <a:t>3) </a:t>
            </a:r>
            <a:r>
              <a:rPr lang="en-US" sz="2400" i="1" dirty="0">
                <a:solidFill>
                  <a:schemeClr val="bg1"/>
                </a:solidFill>
                <a:ea typeface="MS PGothic" pitchFamily="34" charset="-128"/>
              </a:rPr>
              <a:t>Safety </a:t>
            </a:r>
            <a:r>
              <a:rPr lang="en-US" sz="2400" i="1" dirty="0" smtClean="0">
                <a:solidFill>
                  <a:schemeClr val="bg1"/>
                </a:solidFill>
                <a:ea typeface="MS PGothic" pitchFamily="34" charset="-128"/>
              </a:rPr>
              <a:t>Shoes</a:t>
            </a:r>
            <a:endParaRPr lang="en-US" sz="2400" dirty="0">
              <a:solidFill>
                <a:schemeClr val="bg1"/>
              </a:solidFill>
              <a:ea typeface="MS PGothic" pitchFamily="34" charset="-128"/>
            </a:endParaRPr>
          </a:p>
          <a:p>
            <a:r>
              <a:rPr lang="en-US" sz="2400" b="0" dirty="0">
                <a:solidFill>
                  <a:schemeClr val="bg1"/>
                </a:solidFill>
                <a:ea typeface="MS PGothic" pitchFamily="34" charset="-128"/>
              </a:rPr>
              <a:t>4) </a:t>
            </a:r>
            <a:r>
              <a:rPr lang="en-US" sz="2400" i="1" dirty="0">
                <a:solidFill>
                  <a:schemeClr val="bg1"/>
                </a:solidFill>
                <a:ea typeface="MS PGothic" pitchFamily="34" charset="-128"/>
              </a:rPr>
              <a:t>Ear plugs</a:t>
            </a:r>
            <a:endParaRPr lang="en-US" sz="2400" dirty="0">
              <a:solidFill>
                <a:schemeClr val="bg1"/>
              </a:solidFill>
              <a:ea typeface="MS PGothic" pitchFamily="34" charset="-128"/>
            </a:endParaRPr>
          </a:p>
          <a:p>
            <a:r>
              <a:rPr lang="en-US" sz="2400" b="0" dirty="0">
                <a:solidFill>
                  <a:schemeClr val="bg1"/>
                </a:solidFill>
                <a:ea typeface="MS PGothic" pitchFamily="34" charset="-128"/>
              </a:rPr>
              <a:t>Once you </a:t>
            </a:r>
            <a:r>
              <a:rPr lang="en-US" sz="2400" b="0" dirty="0" smtClean="0">
                <a:solidFill>
                  <a:schemeClr val="bg1"/>
                </a:solidFill>
                <a:ea typeface="MS PGothic" pitchFamily="34" charset="-128"/>
              </a:rPr>
              <a:t>want to cross </a:t>
            </a:r>
            <a:r>
              <a:rPr lang="en-US" sz="2400" b="0" dirty="0">
                <a:solidFill>
                  <a:schemeClr val="bg1"/>
                </a:solidFill>
                <a:ea typeface="MS PGothic" pitchFamily="34" charset="-128"/>
              </a:rPr>
              <a:t>the </a:t>
            </a:r>
            <a:r>
              <a:rPr lang="en-US" sz="2400" dirty="0">
                <a:solidFill>
                  <a:srgbClr val="0033CC"/>
                </a:solidFill>
                <a:ea typeface="MS PGothic" pitchFamily="34" charset="-128"/>
              </a:rPr>
              <a:t>blue</a:t>
            </a:r>
            <a:r>
              <a:rPr lang="en-US" sz="2400" b="0" dirty="0">
                <a:solidFill>
                  <a:schemeClr val="bg1"/>
                </a:solidFill>
                <a:ea typeface="MS PGothic" pitchFamily="34" charset="-128"/>
              </a:rPr>
              <a:t> </a:t>
            </a:r>
            <a:r>
              <a:rPr lang="en-US" sz="2400" b="0" dirty="0" smtClean="0">
                <a:solidFill>
                  <a:schemeClr val="bg1"/>
                </a:solidFill>
                <a:ea typeface="MS PGothic" pitchFamily="34" charset="-128"/>
              </a:rPr>
              <a:t>boundary line</a:t>
            </a:r>
            <a:endParaRPr lang="en-US" sz="2400" b="0" dirty="0">
              <a:solidFill>
                <a:schemeClr val="bg1"/>
              </a:solidFill>
              <a:ea typeface="MS PGothic" pitchFamily="34" charset="-128"/>
            </a:endParaRPr>
          </a:p>
        </p:txBody>
      </p:sp>
      <p:sp>
        <p:nvSpPr>
          <p:cNvPr id="26628" name="Rectangle 8"/>
          <p:cNvSpPr>
            <a:spLocks noChangeArrowheads="1"/>
          </p:cNvSpPr>
          <p:nvPr/>
        </p:nvSpPr>
        <p:spPr bwMode="auto">
          <a:xfrm>
            <a:off x="1370482" y="4530566"/>
            <a:ext cx="3201517" cy="52322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 dirty="0">
                <a:solidFill>
                  <a:srgbClr val="FF0000"/>
                </a:solidFill>
                <a:ea typeface="MS PGothic" pitchFamily="34" charset="-128"/>
              </a:rPr>
              <a:t>Demarcation </a:t>
            </a:r>
            <a:r>
              <a:rPr lang="en-US" sz="2800" dirty="0" smtClean="0">
                <a:solidFill>
                  <a:srgbClr val="FF0000"/>
                </a:solidFill>
                <a:ea typeface="MS PGothic" pitchFamily="34" charset="-128"/>
              </a:rPr>
              <a:t>Line</a:t>
            </a:r>
            <a:endParaRPr lang="en-US" sz="2800" dirty="0">
              <a:solidFill>
                <a:srgbClr val="FF0000"/>
              </a:solidFill>
              <a:ea typeface="MS PGothic" pitchFamily="34" charset="-128"/>
            </a:endParaRPr>
          </a:p>
        </p:txBody>
      </p:sp>
      <p:sp>
        <p:nvSpPr>
          <p:cNvPr id="26629" name="Line 9"/>
          <p:cNvSpPr>
            <a:spLocks noChangeShapeType="1"/>
          </p:cNvSpPr>
          <p:nvPr/>
        </p:nvSpPr>
        <p:spPr bwMode="auto">
          <a:xfrm flipV="1">
            <a:off x="3063874" y="3234690"/>
            <a:ext cx="1508125" cy="1284923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30" name="Line 10"/>
          <p:cNvSpPr>
            <a:spLocks noChangeShapeType="1"/>
          </p:cNvSpPr>
          <p:nvPr/>
        </p:nvSpPr>
        <p:spPr bwMode="auto">
          <a:xfrm flipV="1">
            <a:off x="4572001" y="4160520"/>
            <a:ext cx="2080260" cy="631656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28447"/>
            <a:ext cx="8313738" cy="1256076"/>
          </a:xfrm>
        </p:spPr>
        <p:txBody>
          <a:bodyPr/>
          <a:lstStyle/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en-US" sz="26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Do Not </a:t>
            </a:r>
            <a:r>
              <a:rPr lang="en-US" sz="26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ENTER </a:t>
            </a:r>
            <a:r>
              <a:rPr lang="en-US" sz="2600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into these Zones</a:t>
            </a:r>
          </a:p>
          <a:p>
            <a:pPr algn="ctr">
              <a:buNone/>
              <a:defRPr/>
            </a:pPr>
            <a:r>
              <a:rPr lang="en-US" sz="2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BARRICADED Area DANGER Signs</a:t>
            </a:r>
            <a:endParaRPr lang="en-US" sz="2600" dirty="0" smtClean="0">
              <a:solidFill>
                <a:schemeClr val="accent2"/>
              </a:solidFill>
              <a:ea typeface="宋体" pitchFamily="2" charset="-122"/>
            </a:endParaRPr>
          </a:p>
        </p:txBody>
      </p:sp>
      <p:pic>
        <p:nvPicPr>
          <p:cNvPr id="28674" name="Picture 8" descr="AG00270_"/>
          <p:cNvPicPr>
            <a:picLocks noChangeAspect="1" noChangeArrowheads="1" noCrop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381000" y="3794393"/>
            <a:ext cx="8305800" cy="235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5" name="Picture 9" descr="j0189244"/>
          <p:cNvPicPr>
            <a:picLocks noChangeAspect="1" noChangeArrowheads="1" noCrop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2819400" y="1484523"/>
            <a:ext cx="2819400" cy="222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349633"/>
            <a:ext cx="8313738" cy="652902"/>
          </a:xfrm>
        </p:spPr>
        <p:txBody>
          <a:bodyPr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Please Look out for </a:t>
            </a:r>
            <a:r>
              <a:rPr lang="en-US" sz="2800" b="1" dirty="0"/>
              <a:t>ALL</a:t>
            </a:r>
            <a:r>
              <a:rPr lang="en-US" sz="2800" b="1" dirty="0" smtClean="0">
                <a:solidFill>
                  <a:srgbClr val="0000FF"/>
                </a:solidFill>
              </a:rPr>
              <a:t> </a:t>
            </a:r>
            <a:r>
              <a:rPr lang="en-US" sz="2800" b="1" dirty="0" smtClean="0"/>
              <a:t>WARNING</a:t>
            </a:r>
            <a:r>
              <a:rPr lang="en-US" sz="2800" b="1" dirty="0" smtClean="0">
                <a:solidFill>
                  <a:srgbClr val="0000FF"/>
                </a:solidFill>
              </a:rPr>
              <a:t> </a:t>
            </a:r>
            <a:r>
              <a:rPr lang="en-US" sz="2800" b="1" dirty="0" smtClean="0">
                <a:solidFill>
                  <a:schemeClr val="accent2"/>
                </a:solidFill>
              </a:rPr>
              <a:t>Signs</a:t>
            </a:r>
          </a:p>
          <a:p>
            <a:pPr algn="ctr">
              <a:buFont typeface="Wingdings" pitchFamily="2" charset="2"/>
              <a:buNone/>
            </a:pPr>
            <a:endParaRPr lang="en-US" sz="2800" dirty="0" smtClean="0">
              <a:solidFill>
                <a:schemeClr val="accent2"/>
              </a:solidFill>
            </a:endParaRPr>
          </a:p>
        </p:txBody>
      </p:sp>
      <p:pic>
        <p:nvPicPr>
          <p:cNvPr id="29698" name="Picture 7" descr="MVC-003S"/>
          <p:cNvPicPr>
            <a:picLocks noChangeAspect="1" noChangeArrowheads="1"/>
          </p:cNvPicPr>
          <p:nvPr/>
        </p:nvPicPr>
        <p:blipFill>
          <a:blip r:embed="rId2" cstate="email">
            <a:lum bright="12000" contrast="18000"/>
          </a:blip>
          <a:srcRect/>
          <a:stretch>
            <a:fillRect/>
          </a:stretch>
        </p:blipFill>
        <p:spPr bwMode="auto">
          <a:xfrm>
            <a:off x="845841" y="3332571"/>
            <a:ext cx="2794000" cy="2284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699" name="Picture 10" descr="k-1015m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3400385" y="1110559"/>
            <a:ext cx="2504025" cy="171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0" name="Picture 11" descr="untitled"/>
          <p:cNvPicPr preferRelativeResize="0">
            <a:picLocks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4519874" y="3332571"/>
            <a:ext cx="2559127" cy="2284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1" name="Picture 12" descr="S-2244Gt"/>
          <p:cNvPicPr>
            <a:picLocks noChangeAspect="1" noChangeArrowheads="1"/>
          </p:cNvPicPr>
          <p:nvPr/>
        </p:nvPicPr>
        <p:blipFill>
          <a:blip r:embed="rId5" cstate="email"/>
          <a:srcRect/>
          <a:stretch>
            <a:fillRect/>
          </a:stretch>
        </p:blipFill>
        <p:spPr bwMode="auto">
          <a:xfrm>
            <a:off x="381000" y="1110561"/>
            <a:ext cx="2463800" cy="171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2" name="Picture 13" descr="flammable"/>
          <p:cNvPicPr>
            <a:picLocks noChangeAspect="1" noChangeArrowheads="1"/>
          </p:cNvPicPr>
          <p:nvPr/>
        </p:nvPicPr>
        <p:blipFill>
          <a:blip r:embed="rId6" cstate="email"/>
          <a:srcRect/>
          <a:stretch>
            <a:fillRect/>
          </a:stretch>
        </p:blipFill>
        <p:spPr bwMode="auto">
          <a:xfrm>
            <a:off x="6209211" y="1110561"/>
            <a:ext cx="2210889" cy="164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n di Diapositiv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3235752"/>
            <a:ext cx="3097579" cy="3097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Safe Management Measures – COVID-19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Safe distancing (SD) – at least 1m apart at all times when practicable</a:t>
            </a:r>
          </a:p>
          <a:p>
            <a:r>
              <a:rPr lang="en-SG" dirty="0"/>
              <a:t>Check in and out of workplace for </a:t>
            </a:r>
            <a:r>
              <a:rPr lang="en-SG" dirty="0" err="1"/>
              <a:t>SafeEntry</a:t>
            </a:r>
            <a:r>
              <a:rPr lang="en-SG" dirty="0"/>
              <a:t> QR and Natsteel declaration</a:t>
            </a:r>
          </a:p>
          <a:p>
            <a:r>
              <a:rPr lang="en-SG" dirty="0"/>
              <a:t>Masks to be worn at all times </a:t>
            </a:r>
            <a:br>
              <a:rPr lang="en-SG" dirty="0"/>
            </a:br>
            <a:r>
              <a:rPr lang="en-SG" sz="1200" dirty="0" smtClean="0"/>
              <a:t>(N95 mask for MSP &amp; MBM production areas, surgical/ cloth mask for control rooms/ rest rooms/ other places)</a:t>
            </a:r>
            <a:endParaRPr lang="en-SG" sz="1200" dirty="0" smtClean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F4387B-6D41-44AA-9142-1A3F04F7BF76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621" y="3586922"/>
            <a:ext cx="2066695" cy="27464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86847" y="5372099"/>
            <a:ext cx="18069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dirty="0" smtClean="0"/>
              <a:t>NATSTEEL HOLDINGS P/L</a:t>
            </a:r>
            <a:endParaRPr lang="en-SG" sz="1000" dirty="0"/>
          </a:p>
        </p:txBody>
      </p:sp>
      <p:pic>
        <p:nvPicPr>
          <p:cNvPr id="1030" name="Picture 6" descr="Reusable 3M 8210 Face Mask, Varies, Rs 250 /number Surya Surgical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769" y="3897177"/>
            <a:ext cx="2125898" cy="2125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261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Safe Management Measures – COVID-19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Use sanitisers generously if unable to find wash basin</a:t>
            </a:r>
          </a:p>
          <a:p>
            <a:r>
              <a:rPr lang="en-SG" dirty="0"/>
              <a:t>Remind co-workers if they are not following</a:t>
            </a:r>
          </a:p>
          <a:p>
            <a:r>
              <a:rPr lang="en-SG" dirty="0"/>
              <a:t>Adhere to maximum room </a:t>
            </a:r>
            <a:r>
              <a:rPr lang="en-SG" dirty="0" smtClean="0"/>
              <a:t>capacity</a:t>
            </a:r>
          </a:p>
          <a:p>
            <a:r>
              <a:rPr lang="en-SG" dirty="0"/>
              <a:t>Ensure personal hygiene at all times – minimise touching face or eyes</a:t>
            </a:r>
          </a:p>
          <a:p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F4387B-6D41-44AA-9142-1A3F04F7BF76}" type="slidenum">
              <a:rPr lang="en-GB" smtClean="0"/>
              <a:pPr>
                <a:defRPr/>
              </a:pPr>
              <a:t>16</a:t>
            </a:fld>
            <a:endParaRPr lang="en-GB"/>
          </a:p>
        </p:txBody>
      </p:sp>
      <p:pic>
        <p:nvPicPr>
          <p:cNvPr id="2050" name="Picture 2" descr="Flat design person using hand sanitizer | Free Vecto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823" y="573873"/>
            <a:ext cx="1925748" cy="1925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mazon.com: MAXIMUM ROOM CAPACITY ____ PERSONS 10x14 Heavy Duty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485" y="3590859"/>
            <a:ext cx="2741534" cy="2077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oronavirus prevention tips: How to stop touching your face | Fox New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7404" y="3755381"/>
            <a:ext cx="3656143" cy="2057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130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anchor="ctr" anchorCtr="1"/>
          <a:lstStyle/>
          <a:p>
            <a:pPr algn="ctr">
              <a:buFont typeface="Wingdings" pitchFamily="2" charset="2"/>
              <a:buNone/>
              <a:defRPr/>
            </a:pPr>
            <a:endParaRPr lang="en-US" sz="3400" dirty="0" smtClean="0">
              <a:solidFill>
                <a:schemeClr val="accent2"/>
              </a:solidFill>
              <a:ea typeface="宋体" pitchFamily="2" charset="-122"/>
            </a:endParaRPr>
          </a:p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en-US" sz="34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Thank you for your kind attention.</a:t>
            </a:r>
          </a:p>
          <a:p>
            <a:pPr algn="ctr">
              <a:buNone/>
              <a:defRPr/>
            </a:pPr>
            <a:r>
              <a:rPr lang="en-US" sz="3400" b="1" i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Have a </a:t>
            </a:r>
            <a:r>
              <a:rPr lang="en-US" sz="34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safe </a:t>
            </a:r>
            <a:r>
              <a:rPr lang="en-US" sz="3400" b="1" i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day ahead</a:t>
            </a:r>
          </a:p>
          <a:p>
            <a:pPr algn="ctr">
              <a:spcBef>
                <a:spcPct val="0"/>
              </a:spcBef>
              <a:buClrTx/>
              <a:buFontTx/>
              <a:buNone/>
              <a:defRPr/>
            </a:pPr>
            <a:endParaRPr lang="en-US" sz="3400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ata_Steel_template">
  <a:themeElements>
    <a:clrScheme name="Tata_Steel_template 2">
      <a:dk1>
        <a:srgbClr val="000000"/>
      </a:dk1>
      <a:lt1>
        <a:srgbClr val="FFFFFF"/>
      </a:lt1>
      <a:dk2>
        <a:srgbClr val="3D7EDB"/>
      </a:dk2>
      <a:lt2>
        <a:srgbClr val="999999"/>
      </a:lt2>
      <a:accent1>
        <a:srgbClr val="002B45"/>
      </a:accent1>
      <a:accent2>
        <a:srgbClr val="0083A9"/>
      </a:accent2>
      <a:accent3>
        <a:srgbClr val="FFFFFF"/>
      </a:accent3>
      <a:accent4>
        <a:srgbClr val="000000"/>
      </a:accent4>
      <a:accent5>
        <a:srgbClr val="AAACB0"/>
      </a:accent5>
      <a:accent6>
        <a:srgbClr val="007699"/>
      </a:accent6>
      <a:hlink>
        <a:srgbClr val="009900"/>
      </a:hlink>
      <a:folHlink>
        <a:srgbClr val="FF0000"/>
      </a:folHlink>
    </a:clrScheme>
    <a:fontScheme name="Tata_Steel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ata_Steel_template 1">
        <a:dk1>
          <a:srgbClr val="000000"/>
        </a:dk1>
        <a:lt1>
          <a:srgbClr val="FFFFFF"/>
        </a:lt1>
        <a:dk2>
          <a:srgbClr val="4C83C3"/>
        </a:dk2>
        <a:lt2>
          <a:srgbClr val="999999"/>
        </a:lt2>
        <a:accent1>
          <a:srgbClr val="002B45"/>
        </a:accent1>
        <a:accent2>
          <a:srgbClr val="0083A9"/>
        </a:accent2>
        <a:accent3>
          <a:srgbClr val="FFFFFF"/>
        </a:accent3>
        <a:accent4>
          <a:srgbClr val="000000"/>
        </a:accent4>
        <a:accent5>
          <a:srgbClr val="AAACB0"/>
        </a:accent5>
        <a:accent6>
          <a:srgbClr val="007699"/>
        </a:accent6>
        <a:hlink>
          <a:srgbClr val="0099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ta_Steel_template 2">
        <a:dk1>
          <a:srgbClr val="000000"/>
        </a:dk1>
        <a:lt1>
          <a:srgbClr val="FFFFFF"/>
        </a:lt1>
        <a:dk2>
          <a:srgbClr val="3D7EDB"/>
        </a:dk2>
        <a:lt2>
          <a:srgbClr val="999999"/>
        </a:lt2>
        <a:accent1>
          <a:srgbClr val="002B45"/>
        </a:accent1>
        <a:accent2>
          <a:srgbClr val="0083A9"/>
        </a:accent2>
        <a:accent3>
          <a:srgbClr val="FFFFFF"/>
        </a:accent3>
        <a:accent4>
          <a:srgbClr val="000000"/>
        </a:accent4>
        <a:accent5>
          <a:srgbClr val="AAACB0"/>
        </a:accent5>
        <a:accent6>
          <a:srgbClr val="007699"/>
        </a:accent6>
        <a:hlink>
          <a:srgbClr val="0099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Settings\b009764\Application Data\Microsoft\Templates\Tata_Steel_template.pot</Template>
  <TotalTime>1709</TotalTime>
  <Words>439</Words>
  <Application>Microsoft Office PowerPoint</Application>
  <PresentationFormat>On-screen Show (4:3)</PresentationFormat>
  <Paragraphs>92</Paragraphs>
  <Slides>17</Slides>
  <Notes>1</Notes>
  <HiddenSlides>1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MS PGothic</vt:lpstr>
      <vt:lpstr>SimSun</vt:lpstr>
      <vt:lpstr>Arial</vt:lpstr>
      <vt:lpstr>Calibri</vt:lpstr>
      <vt:lpstr>Wingdings</vt:lpstr>
      <vt:lpstr>Tata_Steel_template</vt:lpstr>
      <vt:lpstr>NatSteel Visitor Safety Briefing</vt:lpstr>
      <vt:lpstr>PowerPoint Presentation</vt:lpstr>
      <vt:lpstr>PowerPoint Presentation</vt:lpstr>
      <vt:lpstr>PowerPoint Presentation</vt:lpstr>
      <vt:lpstr>Hazards and Control Measures</vt:lpstr>
      <vt:lpstr>Use Safe Walkways &amp; Pedestrian Crossings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Personal Protective Equipment (PPE）  </vt:lpstr>
      <vt:lpstr>PowerPoint Presentation</vt:lpstr>
      <vt:lpstr>PowerPoint Presentation</vt:lpstr>
      <vt:lpstr>Safe Management Measures – COVID-19</vt:lpstr>
      <vt:lpstr>Safe Management Measures – COVID-19</vt:lpstr>
      <vt:lpstr>PowerPoint Presentation</vt:lpstr>
    </vt:vector>
  </TitlesOfParts>
  <Company>NatSteel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NatSteel PPT Template with Guidance</dc:title>
  <dc:creator>Zhou Junlin (NatSteel)</dc:creator>
  <dc:description>Version 1.1.  Issued 23/11/10.</dc:description>
  <cp:lastModifiedBy>Jia Yi Tan (NatSteel)</cp:lastModifiedBy>
  <cp:revision>108</cp:revision>
  <dcterms:created xsi:type="dcterms:W3CDTF">2010-08-10T09:50:16Z</dcterms:created>
  <dcterms:modified xsi:type="dcterms:W3CDTF">2020-07-24T05:48:48Z</dcterms:modified>
</cp:coreProperties>
</file>